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4"/>
  </p:notesMasterIdLst>
  <p:handoutMasterIdLst>
    <p:handoutMasterId r:id="rId95"/>
  </p:handoutMasterIdLst>
  <p:sldIdLst>
    <p:sldId id="431" r:id="rId2"/>
    <p:sldId id="508" r:id="rId3"/>
    <p:sldId id="515" r:id="rId4"/>
    <p:sldId id="532" r:id="rId5"/>
    <p:sldId id="516" r:id="rId6"/>
    <p:sldId id="517" r:id="rId7"/>
    <p:sldId id="530" r:id="rId8"/>
    <p:sldId id="531" r:id="rId9"/>
    <p:sldId id="533" r:id="rId10"/>
    <p:sldId id="518" r:id="rId11"/>
    <p:sldId id="520" r:id="rId12"/>
    <p:sldId id="521" r:id="rId13"/>
    <p:sldId id="522" r:id="rId14"/>
    <p:sldId id="523" r:id="rId15"/>
    <p:sldId id="524" r:id="rId16"/>
    <p:sldId id="525" r:id="rId17"/>
    <p:sldId id="526" r:id="rId18"/>
    <p:sldId id="527" r:id="rId19"/>
    <p:sldId id="528" r:id="rId20"/>
    <p:sldId id="529" r:id="rId21"/>
    <p:sldId id="509" r:id="rId22"/>
    <p:sldId id="510" r:id="rId23"/>
    <p:sldId id="511" r:id="rId24"/>
    <p:sldId id="512" r:id="rId25"/>
    <p:sldId id="458" r:id="rId26"/>
    <p:sldId id="471" r:id="rId27"/>
    <p:sldId id="472" r:id="rId28"/>
    <p:sldId id="457" r:id="rId29"/>
    <p:sldId id="473" r:id="rId30"/>
    <p:sldId id="459" r:id="rId31"/>
    <p:sldId id="494" r:id="rId32"/>
    <p:sldId id="495" r:id="rId33"/>
    <p:sldId id="497" r:id="rId34"/>
    <p:sldId id="464" r:id="rId35"/>
    <p:sldId id="403" r:id="rId36"/>
    <p:sldId id="317" r:id="rId37"/>
    <p:sldId id="441" r:id="rId38"/>
    <p:sldId id="440" r:id="rId39"/>
    <p:sldId id="442" r:id="rId40"/>
    <p:sldId id="439" r:id="rId41"/>
    <p:sldId id="319" r:id="rId42"/>
    <p:sldId id="445" r:id="rId43"/>
    <p:sldId id="444" r:id="rId44"/>
    <p:sldId id="501" r:id="rId45"/>
    <p:sldId id="320" r:id="rId46"/>
    <p:sldId id="321" r:id="rId47"/>
    <p:sldId id="505" r:id="rId48"/>
    <p:sldId id="322" r:id="rId49"/>
    <p:sldId id="453" r:id="rId50"/>
    <p:sldId id="452" r:id="rId51"/>
    <p:sldId id="328" r:id="rId52"/>
    <p:sldId id="329" r:id="rId53"/>
    <p:sldId id="405" r:id="rId54"/>
    <p:sldId id="417" r:id="rId55"/>
    <p:sldId id="406" r:id="rId56"/>
    <p:sldId id="407" r:id="rId57"/>
    <p:sldId id="408" r:id="rId58"/>
    <p:sldId id="365" r:id="rId59"/>
    <p:sldId id="373" r:id="rId60"/>
    <p:sldId id="372" r:id="rId61"/>
    <p:sldId id="344" r:id="rId62"/>
    <p:sldId id="454" r:id="rId63"/>
    <p:sldId id="349" r:id="rId64"/>
    <p:sldId id="350" r:id="rId65"/>
    <p:sldId id="351" r:id="rId66"/>
    <p:sldId id="352" r:id="rId67"/>
    <p:sldId id="353" r:id="rId68"/>
    <p:sldId id="513" r:id="rId69"/>
    <p:sldId id="514" r:id="rId70"/>
    <p:sldId id="357" r:id="rId71"/>
    <p:sldId id="363" r:id="rId72"/>
    <p:sldId id="428" r:id="rId73"/>
    <p:sldId id="409" r:id="rId74"/>
    <p:sldId id="427" r:id="rId75"/>
    <p:sldId id="374" r:id="rId76"/>
    <p:sldId id="418" r:id="rId77"/>
    <p:sldId id="419" r:id="rId78"/>
    <p:sldId id="420" r:id="rId79"/>
    <p:sldId id="421" r:id="rId80"/>
    <p:sldId id="422" r:id="rId81"/>
    <p:sldId id="423" r:id="rId82"/>
    <p:sldId id="424" r:id="rId83"/>
    <p:sldId id="425" r:id="rId84"/>
    <p:sldId id="426" r:id="rId85"/>
    <p:sldId id="488" r:id="rId86"/>
    <p:sldId id="489" r:id="rId87"/>
    <p:sldId id="490" r:id="rId88"/>
    <p:sldId id="491" r:id="rId89"/>
    <p:sldId id="492" r:id="rId90"/>
    <p:sldId id="493" r:id="rId91"/>
    <p:sldId id="503" r:id="rId92"/>
    <p:sldId id="502" r:id="rId93"/>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CC"/>
    <a:srgbClr val="CCFFFF"/>
    <a:srgbClr val="FF0000"/>
    <a:srgbClr val="0000FF"/>
    <a:srgbClr val="66CCFF"/>
    <a:srgbClr val="3333FF"/>
    <a:srgbClr val="FFFFCC"/>
    <a:srgbClr val="FFFF66"/>
    <a:srgbClr val="FF99FF"/>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280"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handoutMaster" Target="handoutMasters/handout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image" Target="../media/image38.wmf"/><Relationship Id="rId7" Type="http://schemas.openxmlformats.org/officeDocument/2006/relationships/image" Target="../media/image42.wmf"/><Relationship Id="rId2" Type="http://schemas.openxmlformats.org/officeDocument/2006/relationships/image" Target="../media/image37.wmf"/><Relationship Id="rId1" Type="http://schemas.openxmlformats.org/officeDocument/2006/relationships/image" Target="../media/image36.wmf"/><Relationship Id="rId6" Type="http://schemas.openxmlformats.org/officeDocument/2006/relationships/image" Target="../media/image41.wmf"/><Relationship Id="rId5" Type="http://schemas.openxmlformats.org/officeDocument/2006/relationships/image" Target="../media/image40.wmf"/><Relationship Id="rId4" Type="http://schemas.openxmlformats.org/officeDocument/2006/relationships/image" Target="../media/image39.wmf"/><Relationship Id="rId9" Type="http://schemas.openxmlformats.org/officeDocument/2006/relationships/image" Target="../media/image4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8.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8.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8.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pitchFamily="18" charset="0"/>
              </a:defRPr>
            </a:lvl1pPr>
          </a:lstStyle>
          <a:p>
            <a:pPr>
              <a:defRPr/>
            </a:pPr>
            <a:endParaRPr lang="en-US"/>
          </a:p>
        </p:txBody>
      </p:sp>
      <p:sp>
        <p:nvSpPr>
          <p:cNvPr id="6963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itchFamily="18" charset="0"/>
              </a:defRPr>
            </a:lvl1pPr>
          </a:lstStyle>
          <a:p>
            <a:pPr>
              <a:defRPr/>
            </a:pPr>
            <a:fld id="{D5C32D59-A3C0-4790-BA47-29F06CD2AFC0}" type="datetimeFigureOut">
              <a:rPr lang="en-US"/>
              <a:pPr>
                <a:defRPr/>
              </a:pPr>
              <a:t>2/14/2021</a:t>
            </a:fld>
            <a:endParaRPr lang="en-US"/>
          </a:p>
        </p:txBody>
      </p:sp>
      <p:sp>
        <p:nvSpPr>
          <p:cNvPr id="6963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pitchFamily="18" charset="0"/>
              </a:defRPr>
            </a:lvl1pPr>
          </a:lstStyle>
          <a:p>
            <a:pPr>
              <a:defRPr/>
            </a:pPr>
            <a:endParaRPr lang="en-US"/>
          </a:p>
        </p:txBody>
      </p:sp>
      <p:sp>
        <p:nvSpPr>
          <p:cNvPr id="6963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New Roman" pitchFamily="18" charset="0"/>
              </a:defRPr>
            </a:lvl1pPr>
          </a:lstStyle>
          <a:p>
            <a:pPr>
              <a:defRPr/>
            </a:pPr>
            <a:fld id="{5F2CCC6D-DEFC-4A86-B15E-9C182CB5807C}" type="slidenum">
              <a:rPr lang="en-US"/>
              <a:pPr>
                <a:defRPr/>
              </a:pPr>
              <a:t>‹#›</a:t>
            </a:fld>
            <a:endParaRPr lang="en-US"/>
          </a:p>
        </p:txBody>
      </p:sp>
    </p:spTree>
    <p:extLst>
      <p:ext uri="{BB962C8B-B14F-4D97-AF65-F5344CB8AC3E}">
        <p14:creationId xmlns:p14="http://schemas.microsoft.com/office/powerpoint/2010/main" val="24770669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6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pitchFamily="18" charset="0"/>
              </a:defRPr>
            </a:lvl1pPr>
          </a:lstStyle>
          <a:p>
            <a:pPr>
              <a:defRPr/>
            </a:pPr>
            <a:endParaRPr lang="en-US"/>
          </a:p>
        </p:txBody>
      </p:sp>
      <p:sp>
        <p:nvSpPr>
          <p:cNvPr id="7168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itchFamily="18" charset="0"/>
              </a:defRPr>
            </a:lvl1pPr>
          </a:lstStyle>
          <a:p>
            <a:pPr>
              <a:defRPr/>
            </a:pPr>
            <a:endParaRPr lang="en-US"/>
          </a:p>
        </p:txBody>
      </p:sp>
      <p:sp>
        <p:nvSpPr>
          <p:cNvPr id="788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7168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168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pitchFamily="18" charset="0"/>
              </a:defRPr>
            </a:lvl1pPr>
          </a:lstStyle>
          <a:p>
            <a:pPr>
              <a:defRPr/>
            </a:pPr>
            <a:endParaRPr lang="en-US"/>
          </a:p>
        </p:txBody>
      </p:sp>
      <p:sp>
        <p:nvSpPr>
          <p:cNvPr id="7168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New Roman" pitchFamily="18" charset="0"/>
              </a:defRPr>
            </a:lvl1pPr>
          </a:lstStyle>
          <a:p>
            <a:pPr>
              <a:defRPr/>
            </a:pPr>
            <a:fld id="{C8293F09-F824-4078-BEB8-D145F68EB592}" type="slidenum">
              <a:rPr lang="en-US"/>
              <a:pPr>
                <a:defRPr/>
              </a:pPr>
              <a:t>‹#›</a:t>
            </a:fld>
            <a:endParaRPr lang="en-US"/>
          </a:p>
        </p:txBody>
      </p:sp>
    </p:spTree>
    <p:extLst>
      <p:ext uri="{BB962C8B-B14F-4D97-AF65-F5344CB8AC3E}">
        <p14:creationId xmlns:p14="http://schemas.microsoft.com/office/powerpoint/2010/main" val="134690568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矩形 7"/>
          <p:cNvSpPr>
            <a:spLocks noGrp="1" noChangeArrowheads="1"/>
          </p:cNvSpPr>
          <p:nvPr>
            <p:ph type="sldNum" sz="quarter" idx="5"/>
          </p:nvPr>
        </p:nvSpPr>
        <p:spPr>
          <a:noFill/>
        </p:spPr>
        <p:txBody>
          <a:bodyPr/>
          <a:lstStyle/>
          <a:p>
            <a:fld id="{4C2A0790-7B14-4022-9681-42343891E124}" type="slidenum">
              <a:rPr lang="en-US" altLang="zh-CN" smtClean="0"/>
              <a:pPr/>
              <a:t>38</a:t>
            </a:fld>
            <a:endParaRPr lang="en-US" altLang="zh-CN"/>
          </a:p>
        </p:txBody>
      </p:sp>
      <p:sp>
        <p:nvSpPr>
          <p:cNvPr id="79875" name="矩形 2"/>
          <p:cNvSpPr>
            <a:spLocks noGrp="1" noRot="1" noChangeAspect="1" noChangeArrowheads="1" noTextEdit="1"/>
          </p:cNvSpPr>
          <p:nvPr>
            <p:ph type="sldImg"/>
          </p:nvPr>
        </p:nvSpPr>
        <p:spPr>
          <a:ln/>
        </p:spPr>
      </p:sp>
      <p:sp>
        <p:nvSpPr>
          <p:cNvPr id="79876" name="矩形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35448856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矩形 7"/>
          <p:cNvSpPr>
            <a:spLocks noGrp="1" noChangeArrowheads="1"/>
          </p:cNvSpPr>
          <p:nvPr>
            <p:ph type="sldNum" sz="quarter" idx="5"/>
          </p:nvPr>
        </p:nvSpPr>
        <p:spPr>
          <a:noFill/>
        </p:spPr>
        <p:txBody>
          <a:bodyPr/>
          <a:lstStyle/>
          <a:p>
            <a:fld id="{2FD17BFA-850B-4B5A-909E-C8A7BA75192D}" type="slidenum">
              <a:rPr lang="en-US" altLang="zh-CN" smtClean="0"/>
              <a:pPr/>
              <a:t>40</a:t>
            </a:fld>
            <a:endParaRPr lang="en-US" altLang="zh-CN"/>
          </a:p>
        </p:txBody>
      </p:sp>
      <p:sp>
        <p:nvSpPr>
          <p:cNvPr id="80899" name="矩形 2"/>
          <p:cNvSpPr>
            <a:spLocks noGrp="1" noRot="1" noChangeAspect="1" noChangeArrowheads="1" noTextEdit="1"/>
          </p:cNvSpPr>
          <p:nvPr>
            <p:ph type="sldImg"/>
          </p:nvPr>
        </p:nvSpPr>
        <p:spPr>
          <a:ln/>
        </p:spPr>
      </p:sp>
      <p:sp>
        <p:nvSpPr>
          <p:cNvPr id="80900" name="矩形 3"/>
          <p:cNvSpPr>
            <a:spLocks noGrp="1" noChangeArrowheads="1"/>
          </p:cNvSpPr>
          <p:nvPr>
            <p:ph type="body" idx="1"/>
          </p:nvPr>
        </p:nvSpPr>
        <p:spPr>
          <a:noFill/>
          <a:ln/>
        </p:spPr>
        <p:txBody>
          <a:bodyPr/>
          <a:lstStyle/>
          <a:p>
            <a:endParaRPr lang="zh-TW" altLang="en-US"/>
          </a:p>
        </p:txBody>
      </p:sp>
    </p:spTree>
    <p:extLst>
      <p:ext uri="{BB962C8B-B14F-4D97-AF65-F5344CB8AC3E}">
        <p14:creationId xmlns:p14="http://schemas.microsoft.com/office/powerpoint/2010/main" val="589074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1923" name="Notes Placeholder 2"/>
          <p:cNvSpPr>
            <a:spLocks noGrp="1"/>
          </p:cNvSpPr>
          <p:nvPr>
            <p:ph type="body" idx="1"/>
          </p:nvPr>
        </p:nvSpPr>
        <p:spPr>
          <a:noFill/>
          <a:ln/>
        </p:spPr>
        <p:txBody>
          <a:bodyPr/>
          <a:lstStyle/>
          <a:p>
            <a:endParaRPr lang="en-GB"/>
          </a:p>
        </p:txBody>
      </p:sp>
      <p:sp>
        <p:nvSpPr>
          <p:cNvPr id="81924" name="Slide Number Placeholder 3"/>
          <p:cNvSpPr>
            <a:spLocks noGrp="1"/>
          </p:cNvSpPr>
          <p:nvPr>
            <p:ph type="sldNum" sz="quarter" idx="5"/>
          </p:nvPr>
        </p:nvSpPr>
        <p:spPr>
          <a:noFill/>
        </p:spPr>
        <p:txBody>
          <a:bodyPr/>
          <a:lstStyle/>
          <a:p>
            <a:fld id="{BCC2E23C-2083-4BE1-AC7B-1EDDA210A094}" type="slidenum">
              <a:rPr lang="en-US" smtClean="0"/>
              <a:pPr/>
              <a:t>90</a:t>
            </a:fld>
            <a:endParaRPr lang="en-US"/>
          </a:p>
        </p:txBody>
      </p:sp>
    </p:spTree>
    <p:extLst>
      <p:ext uri="{BB962C8B-B14F-4D97-AF65-F5344CB8AC3E}">
        <p14:creationId xmlns:p14="http://schemas.microsoft.com/office/powerpoint/2010/main" val="4279786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1BC4839-21C7-4A0B-A36A-AD4EBE08D28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086AF07-4F95-4468-B1E8-CF5B7833C30F}"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FE2900C-B402-4301-8183-16676F7B506C}"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9D39B3A-56A6-43B6-B5C6-E2C3D6DFFEF9}"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F3CB640E-548D-44B1-B56B-D6EAF622C5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515077C-03D1-4F9E-A74D-23175CF59A7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36A760B8-AFAB-4F52-B04A-B3195A18F2DB}"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A912E18-6DA1-4FBD-AA22-960B2F440A01}"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2DD6377-799B-4BEC-847D-43B4F8CC0E17}"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884ED22-C513-43A4-B64C-9C17E63FEA57}"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F302D82-D225-4B48-9A2A-13A11812FFF6}"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8889644D-C9F4-45D8-9436-F15691B06083}"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C2D1CEED-4BE9-4C2D-AB80-5D0385C8FBBA}"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9219"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New Roman" pitchFamily="18" charset="0"/>
              </a:defRPr>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New Roman" pitchFamily="18"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pitchFamily="18" charset="0"/>
              </a:defRPr>
            </a:lvl1pPr>
          </a:lstStyle>
          <a:p>
            <a:pPr>
              <a:defRPr/>
            </a:pPr>
            <a:fld id="{89CAEB6E-D221-4004-BC6A-13287EFC6B5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979" r:id="rId1"/>
    <p:sldLayoutId id="2147483980" r:id="rId2"/>
    <p:sldLayoutId id="2147483981" r:id="rId3"/>
    <p:sldLayoutId id="2147483982" r:id="rId4"/>
    <p:sldLayoutId id="2147483983" r:id="rId5"/>
    <p:sldLayoutId id="2147483984" r:id="rId6"/>
    <p:sldLayoutId id="2147483985" r:id="rId7"/>
    <p:sldLayoutId id="2147483986" r:id="rId8"/>
    <p:sldLayoutId id="2147483987" r:id="rId9"/>
    <p:sldLayoutId id="2147483988" r:id="rId10"/>
    <p:sldLayoutId id="2147483989" r:id="rId11"/>
    <p:sldLayoutId id="2147483990" r:id="rId12"/>
    <p:sldLayoutId id="2147483991" r:id="rId13"/>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http://upload.wikimedia.org/wikipedia/en/0/0a/JU-logo.png"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oleObject" Target="../embeddings/oleObject9.bin"/><Relationship Id="rId18" Type="http://schemas.openxmlformats.org/officeDocument/2006/relationships/image" Target="../media/image43.wmf"/><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image" Target="../media/image40.wmf"/><Relationship Id="rId17" Type="http://schemas.openxmlformats.org/officeDocument/2006/relationships/oleObject" Target="../embeddings/oleObject11.bin"/><Relationship Id="rId2" Type="http://schemas.openxmlformats.org/officeDocument/2006/relationships/slideLayout" Target="../slideLayouts/slideLayout13.xml"/><Relationship Id="rId16" Type="http://schemas.openxmlformats.org/officeDocument/2006/relationships/image" Target="../media/image42.wmf"/><Relationship Id="rId20" Type="http://schemas.openxmlformats.org/officeDocument/2006/relationships/image" Target="../media/image44.wmf"/><Relationship Id="rId1" Type="http://schemas.openxmlformats.org/officeDocument/2006/relationships/vmlDrawing" Target="../drawings/vmlDrawing3.vml"/><Relationship Id="rId6" Type="http://schemas.openxmlformats.org/officeDocument/2006/relationships/image" Target="../media/image37.wmf"/><Relationship Id="rId11" Type="http://schemas.openxmlformats.org/officeDocument/2006/relationships/oleObject" Target="../embeddings/oleObject8.bin"/><Relationship Id="rId5" Type="http://schemas.openxmlformats.org/officeDocument/2006/relationships/oleObject" Target="../embeddings/oleObject5.bin"/><Relationship Id="rId15" Type="http://schemas.openxmlformats.org/officeDocument/2006/relationships/oleObject" Target="../embeddings/oleObject10.bin"/><Relationship Id="rId10" Type="http://schemas.openxmlformats.org/officeDocument/2006/relationships/image" Target="../media/image39.wmf"/><Relationship Id="rId19" Type="http://schemas.openxmlformats.org/officeDocument/2006/relationships/oleObject" Target="../embeddings/oleObject12.bin"/><Relationship Id="rId4" Type="http://schemas.openxmlformats.org/officeDocument/2006/relationships/image" Target="../media/image36.wmf"/><Relationship Id="rId9" Type="http://schemas.openxmlformats.org/officeDocument/2006/relationships/oleObject" Target="../embeddings/oleObject7.bin"/><Relationship Id="rId14" Type="http://schemas.openxmlformats.org/officeDocument/2006/relationships/image" Target="../media/image41.wm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2.xml"/><Relationship Id="rId1" Type="http://schemas.openxmlformats.org/officeDocument/2006/relationships/vmlDrawing" Target="../drawings/vmlDrawing4.vml"/><Relationship Id="rId4" Type="http://schemas.openxmlformats.org/officeDocument/2006/relationships/image" Target="../media/image48.png"/></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2.xml"/><Relationship Id="rId1" Type="http://schemas.openxmlformats.org/officeDocument/2006/relationships/vmlDrawing" Target="../drawings/vmlDrawing5.vml"/><Relationship Id="rId4" Type="http://schemas.openxmlformats.org/officeDocument/2006/relationships/image" Target="../media/image48.png"/></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2.xml"/><Relationship Id="rId1" Type="http://schemas.openxmlformats.org/officeDocument/2006/relationships/vmlDrawing" Target="../drawings/vmlDrawing6.vml"/><Relationship Id="rId4" Type="http://schemas.openxmlformats.org/officeDocument/2006/relationships/image" Target="../media/image48.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p:cNvSpPr txBox="1">
            <a:spLocks noGrp="1"/>
          </p:cNvSpPr>
          <p:nvPr/>
        </p:nvSpPr>
        <p:spPr bwMode="auto">
          <a:xfrm>
            <a:off x="6553200" y="6245225"/>
            <a:ext cx="2133600" cy="476250"/>
          </a:xfrm>
          <a:prstGeom prst="rect">
            <a:avLst/>
          </a:prstGeom>
          <a:noFill/>
          <a:ln w="9525">
            <a:noFill/>
            <a:miter lim="800000"/>
            <a:headEnd/>
            <a:tailEnd/>
          </a:ln>
        </p:spPr>
        <p:txBody>
          <a:bodyPr/>
          <a:lstStyle/>
          <a:p>
            <a:pPr algn="r"/>
            <a:fld id="{03FF44EB-AEBC-4387-A6B8-1C44C9AF0409}" type="slidenum">
              <a:rPr lang="en-US" sz="1400">
                <a:latin typeface="Arial" charset="0"/>
                <a:cs typeface="Arial" charset="0"/>
              </a:rPr>
              <a:pPr algn="r"/>
              <a:t>1</a:t>
            </a:fld>
            <a:endParaRPr lang="en-US" sz="1400">
              <a:latin typeface="Arial" charset="0"/>
              <a:cs typeface="Arial" charset="0"/>
            </a:endParaRPr>
          </a:p>
        </p:txBody>
      </p:sp>
      <p:sp>
        <p:nvSpPr>
          <p:cNvPr id="11267" name="Text Box 4"/>
          <p:cNvSpPr txBox="1">
            <a:spLocks noChangeArrowheads="1"/>
          </p:cNvSpPr>
          <p:nvPr/>
        </p:nvSpPr>
        <p:spPr bwMode="auto">
          <a:xfrm>
            <a:off x="533400" y="3886200"/>
            <a:ext cx="7924800" cy="1570038"/>
          </a:xfrm>
          <a:prstGeom prst="rect">
            <a:avLst/>
          </a:prstGeom>
          <a:solidFill>
            <a:srgbClr val="FFCCCC"/>
          </a:solidFill>
          <a:ln w="9525">
            <a:noFill/>
            <a:miter lim="800000"/>
            <a:headEnd/>
            <a:tailEnd/>
          </a:ln>
        </p:spPr>
        <p:txBody>
          <a:bodyPr>
            <a:spAutoFit/>
          </a:bodyPr>
          <a:lstStyle/>
          <a:p>
            <a:r>
              <a:rPr lang="en-US" b="1" dirty="0">
                <a:solidFill>
                  <a:schemeClr val="accent2"/>
                </a:solidFill>
                <a:cs typeface="Arial" charset="0"/>
              </a:rPr>
              <a:t>Dr.  Md. </a:t>
            </a:r>
            <a:r>
              <a:rPr lang="en-US" b="1" dirty="0" err="1">
                <a:solidFill>
                  <a:schemeClr val="accent2"/>
                </a:solidFill>
                <a:cs typeface="Arial" charset="0"/>
              </a:rPr>
              <a:t>Imdadul</a:t>
            </a:r>
            <a:r>
              <a:rPr lang="en-US" b="1" dirty="0">
                <a:solidFill>
                  <a:schemeClr val="accent2"/>
                </a:solidFill>
                <a:cs typeface="Arial" charset="0"/>
              </a:rPr>
              <a:t> Islam</a:t>
            </a:r>
            <a:endParaRPr lang="en-US" dirty="0">
              <a:solidFill>
                <a:schemeClr val="accent2"/>
              </a:solidFill>
              <a:cs typeface="Arial" charset="0"/>
            </a:endParaRPr>
          </a:p>
          <a:p>
            <a:r>
              <a:rPr lang="en-US" dirty="0">
                <a:cs typeface="Arial" charset="0"/>
              </a:rPr>
              <a:t>Professor, Department of Computer Science and Engineering</a:t>
            </a:r>
          </a:p>
          <a:p>
            <a:r>
              <a:rPr lang="en-US" dirty="0" err="1">
                <a:cs typeface="Arial" charset="0"/>
              </a:rPr>
              <a:t>Jahangirnagar</a:t>
            </a:r>
            <a:r>
              <a:rPr lang="en-US" dirty="0">
                <a:cs typeface="Arial" charset="0"/>
              </a:rPr>
              <a:t> University </a:t>
            </a:r>
          </a:p>
          <a:p>
            <a:r>
              <a:rPr lang="en-US" i="1" dirty="0">
                <a:cs typeface="Arial" charset="0"/>
              </a:rPr>
              <a:t>www. juniv.edu</a:t>
            </a:r>
          </a:p>
        </p:txBody>
      </p:sp>
      <p:sp>
        <p:nvSpPr>
          <p:cNvPr id="11268" name="TextBox 3"/>
          <p:cNvSpPr txBox="1">
            <a:spLocks noChangeArrowheads="1"/>
          </p:cNvSpPr>
          <p:nvPr/>
        </p:nvSpPr>
        <p:spPr bwMode="auto">
          <a:xfrm>
            <a:off x="1398998" y="1922047"/>
            <a:ext cx="6248400" cy="1569660"/>
          </a:xfrm>
          <a:prstGeom prst="rect">
            <a:avLst/>
          </a:prstGeom>
          <a:noFill/>
          <a:ln w="9525">
            <a:noFill/>
            <a:miter lim="800000"/>
            <a:headEnd/>
            <a:tailEnd/>
          </a:ln>
        </p:spPr>
        <p:txBody>
          <a:bodyPr wrap="square">
            <a:spAutoFit/>
          </a:bodyPr>
          <a:lstStyle/>
          <a:p>
            <a:pPr algn="ctr"/>
            <a:r>
              <a:rPr lang="en-US" sz="4800" b="1" dirty="0">
                <a:solidFill>
                  <a:srgbClr val="FF0000"/>
                </a:solidFill>
              </a:rPr>
              <a:t>Wireless Networks</a:t>
            </a:r>
          </a:p>
          <a:p>
            <a:pPr algn="ctr"/>
            <a:r>
              <a:rPr lang="en-US" sz="4800" b="1" dirty="0">
                <a:solidFill>
                  <a:srgbClr val="FF0000"/>
                </a:solidFill>
              </a:rPr>
              <a:t>CSE 453</a:t>
            </a:r>
          </a:p>
        </p:txBody>
      </p:sp>
      <p:pic>
        <p:nvPicPr>
          <p:cNvPr id="11269" name="il_fi" descr="http://upload.wikimedia.org/wikipedia/en/0/0a/JU-logo.png"/>
          <p:cNvPicPr>
            <a:picLocks noChangeAspect="1" noChangeArrowheads="1"/>
          </p:cNvPicPr>
          <p:nvPr/>
        </p:nvPicPr>
        <p:blipFill>
          <a:blip r:embed="rId2" r:link="rId3"/>
          <a:srcRect/>
          <a:stretch>
            <a:fillRect/>
          </a:stretch>
        </p:blipFill>
        <p:spPr bwMode="auto">
          <a:xfrm>
            <a:off x="0" y="0"/>
            <a:ext cx="1100516" cy="1295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B7DE22C2-FCDD-433B-B609-B3DFB9E9948D}" type="slidenum">
              <a:rPr lang="en-US" smtClean="0"/>
              <a:pPr>
                <a:defRPr/>
              </a:pPr>
              <a:t>2</a:t>
            </a:fld>
            <a:endParaRPr lang="en-US"/>
          </a:p>
        </p:txBody>
      </p:sp>
      <p:sp>
        <p:nvSpPr>
          <p:cNvPr id="5" name="TextBox 4"/>
          <p:cNvSpPr txBox="1"/>
          <p:nvPr/>
        </p:nvSpPr>
        <p:spPr>
          <a:xfrm>
            <a:off x="457200" y="1219200"/>
            <a:ext cx="8153400" cy="3416320"/>
          </a:xfrm>
          <a:prstGeom prst="rect">
            <a:avLst/>
          </a:prstGeom>
          <a:solidFill>
            <a:srgbClr val="CCFFFF"/>
          </a:solidFill>
        </p:spPr>
        <p:txBody>
          <a:bodyPr wrap="square" rtlCol="0">
            <a:spAutoFit/>
          </a:bodyPr>
          <a:lstStyle/>
          <a:p>
            <a:r>
              <a:rPr lang="en-US" sz="3600" b="1" dirty="0" smtClean="0"/>
              <a:t>Books</a:t>
            </a:r>
          </a:p>
          <a:p>
            <a:r>
              <a:rPr lang="en-US" sz="1800" dirty="0" smtClean="0"/>
              <a:t>5G Wireless Systems: Simulation and Evaluation Techniques (Wireless Networks), </a:t>
            </a:r>
          </a:p>
          <a:p>
            <a:r>
              <a:rPr lang="en-US" sz="1800" dirty="0" smtClean="0"/>
              <a:t>Yang </a:t>
            </a:r>
            <a:r>
              <a:rPr lang="en-US" sz="1800" dirty="0" err="1" smtClean="0"/>
              <a:t>yang</a:t>
            </a:r>
            <a:r>
              <a:rPr lang="en-US" sz="1800" dirty="0" smtClean="0"/>
              <a:t>, Jing </a:t>
            </a:r>
            <a:r>
              <a:rPr lang="en-US" sz="1800" dirty="0" err="1" smtClean="0"/>
              <a:t>Xu</a:t>
            </a:r>
            <a:r>
              <a:rPr lang="en-US" sz="1800" dirty="0" smtClean="0"/>
              <a:t>, </a:t>
            </a:r>
            <a:r>
              <a:rPr lang="en-US" sz="1800" dirty="0" err="1" smtClean="0"/>
              <a:t>Guang</a:t>
            </a:r>
            <a:r>
              <a:rPr lang="en-US" sz="1800" dirty="0" smtClean="0"/>
              <a:t> </a:t>
            </a:r>
            <a:r>
              <a:rPr lang="en-US" sz="1800" dirty="0" err="1" smtClean="0"/>
              <a:t>Dhi</a:t>
            </a:r>
            <a:r>
              <a:rPr lang="en-US" sz="1800" dirty="0" smtClean="0"/>
              <a:t>, Cheng-Xiang Wang, Springer</a:t>
            </a:r>
          </a:p>
          <a:p>
            <a:endParaRPr lang="en-US" sz="1800" dirty="0" smtClean="0"/>
          </a:p>
          <a:p>
            <a:r>
              <a:rPr lang="en-US" sz="1800" dirty="0" smtClean="0"/>
              <a:t>Fundamentals of </a:t>
            </a:r>
            <a:r>
              <a:rPr lang="en-US" sz="1800" dirty="0" err="1" smtClean="0"/>
              <a:t>WiMAX</a:t>
            </a:r>
            <a:r>
              <a:rPr lang="en-US" sz="1800" dirty="0" smtClean="0"/>
              <a:t>: Understanding Broadband Wireless Networking</a:t>
            </a:r>
          </a:p>
          <a:p>
            <a:r>
              <a:rPr lang="en-US" sz="1800" dirty="0" smtClean="0"/>
              <a:t>Jeffrey G. Andrews, </a:t>
            </a:r>
            <a:r>
              <a:rPr lang="en-US" sz="1800" dirty="0" err="1" smtClean="0"/>
              <a:t>Arunabha</a:t>
            </a:r>
            <a:r>
              <a:rPr lang="en-US" sz="1800" dirty="0" smtClean="0"/>
              <a:t>  </a:t>
            </a:r>
            <a:r>
              <a:rPr lang="en-US" sz="1800" dirty="0" err="1" smtClean="0"/>
              <a:t>Ghosh</a:t>
            </a:r>
            <a:r>
              <a:rPr lang="en-US" sz="1800" dirty="0" smtClean="0"/>
              <a:t>, </a:t>
            </a:r>
            <a:r>
              <a:rPr lang="en-US" sz="1800" dirty="0" err="1" smtClean="0"/>
              <a:t>Rias</a:t>
            </a:r>
            <a:r>
              <a:rPr lang="en-US" sz="1800" dirty="0" smtClean="0"/>
              <a:t> </a:t>
            </a:r>
            <a:r>
              <a:rPr lang="en-US" sz="1800" dirty="0" err="1" smtClean="0"/>
              <a:t>Muhamed</a:t>
            </a:r>
            <a:r>
              <a:rPr lang="en-US" sz="1800" dirty="0" smtClean="0"/>
              <a:t>. Pearson Education</a:t>
            </a:r>
          </a:p>
          <a:p>
            <a:endParaRPr lang="en-US" sz="1800" dirty="0" smtClean="0"/>
          </a:p>
          <a:p>
            <a:r>
              <a:rPr lang="en-US" sz="1800" dirty="0" smtClean="0"/>
              <a:t>An Introduction to LTE: LTE, LTE‐Advanced, SAE and 4G Mobile Communications, Christopher Cox, John Wiley &amp; Sons, Ltd</a:t>
            </a:r>
          </a:p>
          <a:p>
            <a:endParaRPr lang="en-US" sz="1800" dirty="0" smtClean="0"/>
          </a:p>
          <a:p>
            <a:r>
              <a:rPr lang="en-US" sz="1800" dirty="0" smtClean="0"/>
              <a:t>Computer and Communication Networks, Nader F. Mir, Pearson Education</a:t>
            </a:r>
            <a:endParaRPr lang="en-US" sz="1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3</a:t>
            </a:fld>
            <a:endParaRPr lang="en-US"/>
          </a:p>
        </p:txBody>
      </p:sp>
      <p:sp>
        <p:nvSpPr>
          <p:cNvPr id="5" name="TextBox 4"/>
          <p:cNvSpPr txBox="1"/>
          <p:nvPr/>
        </p:nvSpPr>
        <p:spPr>
          <a:xfrm>
            <a:off x="228600" y="1143000"/>
            <a:ext cx="8763000" cy="4524315"/>
          </a:xfrm>
          <a:prstGeom prst="rect">
            <a:avLst/>
          </a:prstGeom>
          <a:solidFill>
            <a:srgbClr val="CCFFFF"/>
          </a:solidFill>
        </p:spPr>
        <p:txBody>
          <a:bodyPr wrap="square" rtlCol="0">
            <a:spAutoFit/>
          </a:bodyPr>
          <a:lstStyle/>
          <a:p>
            <a:r>
              <a:rPr lang="en-US" sz="3200" dirty="0"/>
              <a:t>Traffic  Parameters of a network:</a:t>
            </a:r>
          </a:p>
          <a:p>
            <a:endParaRPr lang="en-US" sz="3200" dirty="0"/>
          </a:p>
          <a:p>
            <a:pPr>
              <a:buFont typeface="Wingdings" pitchFamily="2" charset="2"/>
              <a:buChar char="ü"/>
            </a:pPr>
            <a:r>
              <a:rPr lang="en-US" sz="3200" dirty="0"/>
              <a:t>Average call or packet arrival rate (</a:t>
            </a:r>
            <a:r>
              <a:rPr lang="el-GR" sz="3200" i="1" dirty="0"/>
              <a:t>λ</a:t>
            </a:r>
            <a:r>
              <a:rPr lang="en-US" sz="3200" dirty="0"/>
              <a:t> calls/min)</a:t>
            </a:r>
          </a:p>
          <a:p>
            <a:pPr>
              <a:buFont typeface="Wingdings" pitchFamily="2" charset="2"/>
              <a:buChar char="ü"/>
            </a:pPr>
            <a:r>
              <a:rPr lang="en-US" sz="3200" dirty="0"/>
              <a:t>Average call or packet duration (</a:t>
            </a:r>
            <a:r>
              <a:rPr lang="en-US" sz="3200" i="1" dirty="0" err="1"/>
              <a:t>t</a:t>
            </a:r>
            <a:r>
              <a:rPr lang="en-US" sz="3200" i="1" baseline="-25000" dirty="0" err="1"/>
              <a:t>h</a:t>
            </a:r>
            <a:r>
              <a:rPr lang="en-US" sz="3200" dirty="0"/>
              <a:t> </a:t>
            </a:r>
            <a:r>
              <a:rPr lang="en-US" sz="3200" dirty="0" err="1"/>
              <a:t>mim</a:t>
            </a:r>
            <a:r>
              <a:rPr lang="en-US" sz="3200" dirty="0"/>
              <a:t>)</a:t>
            </a:r>
          </a:p>
          <a:p>
            <a:pPr>
              <a:buFont typeface="Wingdings" pitchFamily="2" charset="2"/>
              <a:buChar char="ü"/>
            </a:pPr>
            <a:r>
              <a:rPr lang="en-US" sz="3200" dirty="0"/>
              <a:t>Offered traffic </a:t>
            </a:r>
            <a:r>
              <a:rPr lang="en-US" sz="3200" dirty="0" smtClean="0"/>
              <a:t>or traffic intensity (</a:t>
            </a:r>
            <a:r>
              <a:rPr lang="en-US" sz="3200" i="1" dirty="0" smtClean="0"/>
              <a:t>A</a:t>
            </a:r>
            <a:r>
              <a:rPr lang="en-US" sz="3200" dirty="0"/>
              <a:t>=</a:t>
            </a:r>
            <a:r>
              <a:rPr lang="el-GR" sz="3200" i="1" dirty="0"/>
              <a:t> λ</a:t>
            </a:r>
            <a:r>
              <a:rPr lang="en-US" sz="3200" i="1" dirty="0" err="1"/>
              <a:t>t</a:t>
            </a:r>
            <a:r>
              <a:rPr lang="en-US" sz="3200" i="1" baseline="-25000" dirty="0" err="1"/>
              <a:t>h</a:t>
            </a:r>
            <a:r>
              <a:rPr lang="en-US" sz="3200" i="1" dirty="0"/>
              <a:t> </a:t>
            </a:r>
            <a:r>
              <a:rPr lang="en-US" sz="3200" dirty="0" err="1"/>
              <a:t>Erlangs</a:t>
            </a:r>
            <a:r>
              <a:rPr lang="en-US" sz="3200" dirty="0"/>
              <a:t>)</a:t>
            </a:r>
          </a:p>
          <a:p>
            <a:pPr>
              <a:buFont typeface="Wingdings" pitchFamily="2" charset="2"/>
              <a:buChar char="ü"/>
            </a:pPr>
            <a:r>
              <a:rPr lang="en-US" sz="3200" dirty="0"/>
              <a:t>Number of channels (</a:t>
            </a:r>
            <a:r>
              <a:rPr lang="en-US" sz="3200" i="1" dirty="0"/>
              <a:t>n</a:t>
            </a:r>
            <a:r>
              <a:rPr lang="en-US" sz="3200" dirty="0"/>
              <a:t>)</a:t>
            </a:r>
          </a:p>
          <a:p>
            <a:pPr>
              <a:buFont typeface="Wingdings" pitchFamily="2" charset="2"/>
              <a:buChar char="ü"/>
            </a:pPr>
            <a:r>
              <a:rPr lang="en-US" sz="3200" dirty="0"/>
              <a:t>Blocking probability or </a:t>
            </a:r>
            <a:r>
              <a:rPr lang="en-US" sz="3200" dirty="0" err="1"/>
              <a:t>QoS</a:t>
            </a:r>
            <a:r>
              <a:rPr lang="en-US" sz="3200" dirty="0"/>
              <a:t> (</a:t>
            </a:r>
            <a:r>
              <a:rPr lang="en-US" sz="3200" i="1" dirty="0"/>
              <a:t>B</a:t>
            </a:r>
            <a:r>
              <a:rPr lang="en-US" sz="3200" dirty="0" smtClean="0"/>
              <a:t>) or </a:t>
            </a:r>
            <a:r>
              <a:rPr lang="en-US" sz="3200" dirty="0" err="1" smtClean="0"/>
              <a:t>GoS</a:t>
            </a:r>
            <a:r>
              <a:rPr lang="en-US" sz="3200" dirty="0" smtClean="0"/>
              <a:t> (</a:t>
            </a:r>
            <a:r>
              <a:rPr lang="en-US" sz="3200" i="1" dirty="0" smtClean="0"/>
              <a:t>B</a:t>
            </a:r>
            <a:r>
              <a:rPr lang="en-US" sz="3200" dirty="0" smtClean="0"/>
              <a:t>)</a:t>
            </a:r>
            <a:endParaRPr lang="en-US" sz="3200" dirty="0"/>
          </a:p>
          <a:p>
            <a:pPr>
              <a:buFont typeface="Wingdings" pitchFamily="2" charset="2"/>
              <a:buChar char="ü"/>
            </a:pPr>
            <a:r>
              <a:rPr lang="en-US" sz="3200" dirty="0"/>
              <a:t>Length of queue</a:t>
            </a:r>
          </a:p>
          <a:p>
            <a:pPr>
              <a:buFont typeface="Wingdings" pitchFamily="2" charset="2"/>
              <a:buChar char="ü"/>
            </a:pPr>
            <a:r>
              <a:rPr lang="en-US" sz="3200" dirty="0"/>
              <a:t>Mean delay</a:t>
            </a:r>
          </a:p>
        </p:txBody>
      </p:sp>
      <p:sp>
        <p:nvSpPr>
          <p:cNvPr id="6" name="TextBox 5"/>
          <p:cNvSpPr txBox="1"/>
          <p:nvPr/>
        </p:nvSpPr>
        <p:spPr>
          <a:xfrm>
            <a:off x="1905000" y="0"/>
            <a:ext cx="5029200" cy="923330"/>
          </a:xfrm>
          <a:prstGeom prst="rect">
            <a:avLst/>
          </a:prstGeom>
          <a:solidFill>
            <a:srgbClr val="FFCCCC"/>
          </a:solidFill>
        </p:spPr>
        <p:txBody>
          <a:bodyPr wrap="square" rtlCol="0">
            <a:spAutoFit/>
          </a:bodyPr>
          <a:lstStyle/>
          <a:p>
            <a:pPr algn="ctr"/>
            <a:r>
              <a:rPr lang="en-US" sz="5400" dirty="0"/>
              <a:t>Network Traffic</a:t>
            </a:r>
          </a:p>
        </p:txBody>
      </p:sp>
    </p:spTree>
    <p:extLst>
      <p:ext uri="{BB962C8B-B14F-4D97-AF65-F5344CB8AC3E}">
        <p14:creationId xmlns:p14="http://schemas.microsoft.com/office/powerpoint/2010/main" val="5007183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4</a:t>
            </a:fld>
            <a:endParaRPr lang="en-US"/>
          </a:p>
        </p:txBody>
      </p:sp>
      <p:graphicFrame>
        <p:nvGraphicFramePr>
          <p:cNvPr id="5" name="Object 4"/>
          <p:cNvGraphicFramePr>
            <a:graphicFrameLocks noChangeAspect="1"/>
          </p:cNvGraphicFramePr>
          <p:nvPr>
            <p:extLst/>
          </p:nvPr>
        </p:nvGraphicFramePr>
        <p:xfrm>
          <a:off x="816244" y="1427208"/>
          <a:ext cx="2590800" cy="2091655"/>
        </p:xfrm>
        <a:graphic>
          <a:graphicData uri="http://schemas.openxmlformats.org/presentationml/2006/ole">
            <mc:AlternateContent xmlns:mc="http://schemas.openxmlformats.org/markup-compatibility/2006">
              <mc:Choice xmlns:v="urn:schemas-microsoft-com:vml" Requires="v">
                <p:oleObj spid="_x0000_s11296" name="Equation" r:id="rId3" imgW="1041400" imgH="838200" progId="Equation.3">
                  <p:embed/>
                </p:oleObj>
              </mc:Choice>
              <mc:Fallback>
                <p:oleObj name="Equation" r:id="rId3" imgW="1041400" imgH="838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6244" y="1427208"/>
                        <a:ext cx="2590800" cy="2091655"/>
                      </a:xfrm>
                      <a:prstGeom prst="rect">
                        <a:avLst/>
                      </a:prstGeom>
                      <a:noFill/>
                    </p:spPr>
                  </p:pic>
                </p:oleObj>
              </mc:Fallback>
            </mc:AlternateContent>
          </a:graphicData>
        </a:graphic>
      </p:graphicFrame>
      <p:graphicFrame>
        <p:nvGraphicFramePr>
          <p:cNvPr id="6" name="Object 5"/>
          <p:cNvGraphicFramePr>
            <a:graphicFrameLocks noChangeAspect="1"/>
          </p:cNvGraphicFramePr>
          <p:nvPr>
            <p:extLst/>
          </p:nvPr>
        </p:nvGraphicFramePr>
        <p:xfrm>
          <a:off x="1676400" y="3518863"/>
          <a:ext cx="5535706" cy="1905000"/>
        </p:xfrm>
        <a:graphic>
          <a:graphicData uri="http://schemas.openxmlformats.org/presentationml/2006/ole">
            <mc:AlternateContent xmlns:mc="http://schemas.openxmlformats.org/markup-compatibility/2006">
              <mc:Choice xmlns:v="urn:schemas-microsoft-com:vml" Requires="v">
                <p:oleObj spid="_x0000_s11297" name="Equation" r:id="rId5" imgW="2349500" imgH="812800" progId="Equation.3">
                  <p:embed/>
                </p:oleObj>
              </mc:Choice>
              <mc:Fallback>
                <p:oleObj name="Equation" r:id="rId5" imgW="2349500" imgH="812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3518863"/>
                        <a:ext cx="5535706" cy="1905000"/>
                      </a:xfrm>
                      <a:prstGeom prst="rect">
                        <a:avLst/>
                      </a:prstGeom>
                      <a:noFill/>
                    </p:spPr>
                  </p:pic>
                </p:oleObj>
              </mc:Fallback>
            </mc:AlternateContent>
          </a:graphicData>
        </a:graphic>
      </p:graphicFrame>
      <p:sp>
        <p:nvSpPr>
          <p:cNvPr id="9" name="Rectangle 8"/>
          <p:cNvSpPr/>
          <p:nvPr/>
        </p:nvSpPr>
        <p:spPr>
          <a:xfrm>
            <a:off x="315319" y="405825"/>
            <a:ext cx="3668568" cy="584775"/>
          </a:xfrm>
          <a:prstGeom prst="rect">
            <a:avLst/>
          </a:prstGeom>
          <a:solidFill>
            <a:srgbClr val="CCFFFF"/>
          </a:solidFill>
        </p:spPr>
        <p:txBody>
          <a:bodyPr wrap="none">
            <a:spAutoFit/>
          </a:bodyPr>
          <a:lstStyle/>
          <a:p>
            <a:r>
              <a:rPr lang="en-US" sz="3200" dirty="0"/>
              <a:t>Blocking probability,</a:t>
            </a:r>
          </a:p>
        </p:txBody>
      </p:sp>
      <p:sp>
        <p:nvSpPr>
          <p:cNvPr id="10" name="Rectangle 9"/>
          <p:cNvSpPr/>
          <p:nvPr/>
        </p:nvSpPr>
        <p:spPr>
          <a:xfrm>
            <a:off x="4767938" y="879901"/>
            <a:ext cx="3570524" cy="1200329"/>
          </a:xfrm>
          <a:prstGeom prst="rect">
            <a:avLst/>
          </a:prstGeom>
          <a:solidFill>
            <a:srgbClr val="FFC000"/>
          </a:solidFill>
        </p:spPr>
        <p:txBody>
          <a:bodyPr wrap="square">
            <a:spAutoFit/>
          </a:bodyPr>
          <a:lstStyle/>
          <a:p>
            <a:r>
              <a:rPr lang="en-US" dirty="0"/>
              <a:t>Offered traffic (</a:t>
            </a:r>
            <a:r>
              <a:rPr lang="en-US" i="1" dirty="0"/>
              <a:t>A</a:t>
            </a:r>
            <a:r>
              <a:rPr lang="en-US" dirty="0"/>
              <a:t> </a:t>
            </a:r>
            <a:r>
              <a:rPr lang="en-US" dirty="0" err="1"/>
              <a:t>Erlangs</a:t>
            </a:r>
            <a:r>
              <a:rPr lang="en-US" dirty="0"/>
              <a:t>)</a:t>
            </a:r>
          </a:p>
          <a:p>
            <a:r>
              <a:rPr lang="en-US" dirty="0"/>
              <a:t>Number of channels (</a:t>
            </a:r>
            <a:r>
              <a:rPr lang="en-US" i="1" dirty="0"/>
              <a:t>n</a:t>
            </a:r>
            <a:r>
              <a:rPr lang="en-US" dirty="0" smtClean="0"/>
              <a:t>)</a:t>
            </a:r>
          </a:p>
          <a:p>
            <a:r>
              <a:rPr lang="en-US" dirty="0" smtClean="0"/>
              <a:t>Blocking Probability (</a:t>
            </a:r>
            <a:r>
              <a:rPr lang="en-US" i="1" dirty="0" smtClean="0"/>
              <a:t>B</a:t>
            </a:r>
            <a:r>
              <a:rPr lang="en-US" dirty="0" smtClean="0"/>
              <a:t>)</a:t>
            </a:r>
            <a:endParaRPr lang="en-US" dirty="0"/>
          </a:p>
        </p:txBody>
      </p:sp>
    </p:spTree>
    <p:extLst>
      <p:ext uri="{BB962C8B-B14F-4D97-AF65-F5344CB8AC3E}">
        <p14:creationId xmlns:p14="http://schemas.microsoft.com/office/powerpoint/2010/main" val="19602319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5</a:t>
            </a:fld>
            <a:endParaRPr lang="en-US"/>
          </a:p>
        </p:txBody>
      </p:sp>
      <p:pic>
        <p:nvPicPr>
          <p:cNvPr id="5" name="Picture 2"/>
          <p:cNvPicPr>
            <a:picLocks noChangeAspect="1" noChangeArrowheads="1"/>
          </p:cNvPicPr>
          <p:nvPr/>
        </p:nvPicPr>
        <p:blipFill>
          <a:blip r:embed="rId2"/>
          <a:srcRect/>
          <a:stretch>
            <a:fillRect/>
          </a:stretch>
        </p:blipFill>
        <p:spPr bwMode="auto">
          <a:xfrm>
            <a:off x="0" y="751573"/>
            <a:ext cx="8665945" cy="5422200"/>
          </a:xfrm>
          <a:prstGeom prst="rect">
            <a:avLst/>
          </a:prstGeom>
          <a:noFill/>
          <a:ln w="9525">
            <a:noFill/>
            <a:miter lim="800000"/>
            <a:headEnd/>
            <a:tailEnd/>
          </a:ln>
          <a:effectLst/>
        </p:spPr>
      </p:pic>
      <p:sp>
        <p:nvSpPr>
          <p:cNvPr id="2" name="TextBox 1"/>
          <p:cNvSpPr txBox="1"/>
          <p:nvPr/>
        </p:nvSpPr>
        <p:spPr>
          <a:xfrm>
            <a:off x="381000" y="351463"/>
            <a:ext cx="7924800" cy="400110"/>
          </a:xfrm>
          <a:prstGeom prst="rect">
            <a:avLst/>
          </a:prstGeom>
          <a:solidFill>
            <a:srgbClr val="FFC000"/>
          </a:solidFill>
        </p:spPr>
        <p:txBody>
          <a:bodyPr wrap="square" rtlCol="0">
            <a:spAutoFit/>
          </a:bodyPr>
          <a:lstStyle/>
          <a:p>
            <a:r>
              <a:rPr lang="en-US" sz="2000" i="1" dirty="0"/>
              <a:t>A</a:t>
            </a:r>
            <a:r>
              <a:rPr lang="en-US" sz="2000" dirty="0"/>
              <a:t>→ Offered Traffic, </a:t>
            </a:r>
            <a:r>
              <a:rPr lang="en-US" sz="2000" i="1" dirty="0"/>
              <a:t>B</a:t>
            </a:r>
            <a:r>
              <a:rPr lang="en-US" sz="2000" dirty="0"/>
              <a:t> → Blocking Probability, </a:t>
            </a:r>
            <a:r>
              <a:rPr lang="en-US" sz="2000" i="1" dirty="0"/>
              <a:t>n</a:t>
            </a:r>
            <a:r>
              <a:rPr lang="en-US" sz="2000" dirty="0"/>
              <a:t> → Number of channel</a:t>
            </a:r>
          </a:p>
        </p:txBody>
      </p:sp>
    </p:spTree>
    <p:extLst>
      <p:ext uri="{BB962C8B-B14F-4D97-AF65-F5344CB8AC3E}">
        <p14:creationId xmlns:p14="http://schemas.microsoft.com/office/powerpoint/2010/main" val="22165735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6</a:t>
            </a:fld>
            <a:endParaRPr lang="en-US"/>
          </a:p>
        </p:txBody>
      </p:sp>
      <p:sp>
        <p:nvSpPr>
          <p:cNvPr id="5" name="TextBox 4"/>
          <p:cNvSpPr txBox="1"/>
          <p:nvPr/>
        </p:nvSpPr>
        <p:spPr>
          <a:xfrm>
            <a:off x="228600" y="609600"/>
            <a:ext cx="8915400" cy="6001643"/>
          </a:xfrm>
          <a:prstGeom prst="rect">
            <a:avLst/>
          </a:prstGeom>
          <a:solidFill>
            <a:srgbClr val="CCFFFF"/>
          </a:solidFill>
        </p:spPr>
        <p:txBody>
          <a:bodyPr wrap="square" rtlCol="0">
            <a:spAutoFit/>
          </a:bodyPr>
          <a:lstStyle/>
          <a:p>
            <a:pPr algn="just"/>
            <a:r>
              <a:rPr lang="en-US" b="1" dirty="0"/>
              <a:t>Example-1</a:t>
            </a:r>
            <a:endParaRPr lang="en-US" dirty="0"/>
          </a:p>
          <a:p>
            <a:pPr algn="just"/>
            <a:r>
              <a:rPr lang="en-US" dirty="0"/>
              <a:t>A city has a population of  3×10</a:t>
            </a:r>
            <a:r>
              <a:rPr lang="en-US" baseline="30000" dirty="0"/>
              <a:t>6</a:t>
            </a:r>
            <a:r>
              <a:rPr lang="en-US" dirty="0"/>
              <a:t>. A mobile cellular service provider has 500 cells with 15 channels </a:t>
            </a:r>
            <a:r>
              <a:rPr lang="en-US" dirty="0" smtClean="0"/>
              <a:t>(Traffic channel) each </a:t>
            </a:r>
            <a:r>
              <a:rPr lang="en-US" dirty="0"/>
              <a:t>to serve the people. On an average each user generates 1 call/hour with duration of 1.5 minutes. Determine </a:t>
            </a:r>
            <a:r>
              <a:rPr lang="en-US" dirty="0">
                <a:solidFill>
                  <a:srgbClr val="FF0000"/>
                </a:solidFill>
              </a:rPr>
              <a:t>market penetration </a:t>
            </a:r>
            <a:r>
              <a:rPr lang="en-US" dirty="0"/>
              <a:t>of the service provider. Given the </a:t>
            </a:r>
            <a:r>
              <a:rPr lang="en-US" dirty="0" err="1"/>
              <a:t>GoS</a:t>
            </a:r>
            <a:r>
              <a:rPr lang="en-US" dirty="0"/>
              <a:t> (grade of service) of the network is 5%.</a:t>
            </a:r>
          </a:p>
          <a:p>
            <a:pPr algn="just"/>
            <a:r>
              <a:rPr lang="en-US" b="1" dirty="0">
                <a:solidFill>
                  <a:srgbClr val="0000FF"/>
                </a:solidFill>
              </a:rPr>
              <a:t>(Grade of service is synonymous to blocking probability)</a:t>
            </a:r>
          </a:p>
          <a:p>
            <a:pPr algn="just"/>
            <a:r>
              <a:rPr lang="en-US" dirty="0"/>
              <a:t> Ans.</a:t>
            </a:r>
          </a:p>
          <a:p>
            <a:pPr algn="just"/>
            <a:r>
              <a:rPr lang="en-US" dirty="0"/>
              <a:t>Traffic intensity/user = </a:t>
            </a:r>
            <a:r>
              <a:rPr lang="en-US" i="1" dirty="0" smtClean="0"/>
              <a:t>λ.t</a:t>
            </a:r>
            <a:r>
              <a:rPr lang="en-US" i="1" baseline="-25000" dirty="0" smtClean="0"/>
              <a:t>h</a:t>
            </a:r>
            <a:r>
              <a:rPr lang="en-US" dirty="0" smtClean="0"/>
              <a:t>=1×(1.5/60) </a:t>
            </a:r>
            <a:r>
              <a:rPr lang="en-US" dirty="0"/>
              <a:t>= 0.025Erl/user</a:t>
            </a:r>
          </a:p>
          <a:p>
            <a:pPr algn="just"/>
            <a:r>
              <a:rPr lang="en-US" dirty="0"/>
              <a:t>For each cell, </a:t>
            </a:r>
            <a:r>
              <a:rPr lang="en-US" i="1" dirty="0"/>
              <a:t>n </a:t>
            </a:r>
            <a:r>
              <a:rPr lang="en-US" dirty="0"/>
              <a:t>= 15, </a:t>
            </a:r>
            <a:r>
              <a:rPr lang="en-US" i="1" dirty="0"/>
              <a:t>B</a:t>
            </a:r>
            <a:r>
              <a:rPr lang="en-US" dirty="0"/>
              <a:t> = 5%</a:t>
            </a:r>
          </a:p>
          <a:p>
            <a:pPr algn="just"/>
            <a:r>
              <a:rPr lang="en-US" dirty="0"/>
              <a:t>From </a:t>
            </a:r>
            <a:r>
              <a:rPr lang="en-US" dirty="0" err="1"/>
              <a:t>Erlang’s</a:t>
            </a:r>
            <a:r>
              <a:rPr lang="en-US" dirty="0"/>
              <a:t> table, The offered traffic,  </a:t>
            </a:r>
            <a:r>
              <a:rPr lang="en-US" i="1" dirty="0" smtClean="0"/>
              <a:t>A</a:t>
            </a:r>
            <a:r>
              <a:rPr lang="en-US" dirty="0" smtClean="0"/>
              <a:t>=10.63Erls</a:t>
            </a:r>
            <a:r>
              <a:rPr lang="en-US" dirty="0"/>
              <a:t>.</a:t>
            </a:r>
          </a:p>
          <a:p>
            <a:pPr algn="just"/>
            <a:r>
              <a:rPr lang="en-US" dirty="0"/>
              <a:t>Number of users/cell = 10.63/0.025 = 425</a:t>
            </a:r>
          </a:p>
          <a:p>
            <a:pPr algn="just"/>
            <a:r>
              <a:rPr lang="en-US" dirty="0"/>
              <a:t>Total number of users = 500×425 = 425212500</a:t>
            </a:r>
          </a:p>
          <a:p>
            <a:pPr algn="just"/>
            <a:r>
              <a:rPr lang="en-US" dirty="0"/>
              <a:t>Penetration rate = (Number of users/Total population) ×100</a:t>
            </a:r>
          </a:p>
          <a:p>
            <a:pPr algn="just"/>
            <a:r>
              <a:rPr lang="en-US" dirty="0"/>
              <a:t>=(425212500/(3× 10</a:t>
            </a:r>
            <a:r>
              <a:rPr lang="en-US" baseline="30000" dirty="0"/>
              <a:t>6</a:t>
            </a:r>
            <a:r>
              <a:rPr lang="en-US" dirty="0"/>
              <a:t>)) 100</a:t>
            </a:r>
          </a:p>
          <a:p>
            <a:pPr algn="just"/>
            <a:r>
              <a:rPr lang="en-US" dirty="0"/>
              <a:t>=7.08%</a:t>
            </a:r>
          </a:p>
        </p:txBody>
      </p:sp>
    </p:spTree>
    <p:extLst>
      <p:ext uri="{BB962C8B-B14F-4D97-AF65-F5344CB8AC3E}">
        <p14:creationId xmlns:p14="http://schemas.microsoft.com/office/powerpoint/2010/main" val="7530266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7</a:t>
            </a:fld>
            <a:endParaRPr lang="en-US"/>
          </a:p>
        </p:txBody>
      </p:sp>
      <p:sp>
        <p:nvSpPr>
          <p:cNvPr id="5" name="TextBox 4"/>
          <p:cNvSpPr txBox="1"/>
          <p:nvPr/>
        </p:nvSpPr>
        <p:spPr>
          <a:xfrm>
            <a:off x="228600" y="0"/>
            <a:ext cx="8915400" cy="6001643"/>
          </a:xfrm>
          <a:prstGeom prst="rect">
            <a:avLst/>
          </a:prstGeom>
          <a:noFill/>
        </p:spPr>
        <p:txBody>
          <a:bodyPr wrap="square" rtlCol="0">
            <a:spAutoFit/>
          </a:bodyPr>
          <a:lstStyle/>
          <a:p>
            <a:r>
              <a:rPr lang="en-US" b="1" dirty="0">
                <a:solidFill>
                  <a:srgbClr val="3333FF"/>
                </a:solidFill>
              </a:rPr>
              <a:t>%This code determine offered traffic A when n and B are given</a:t>
            </a:r>
          </a:p>
          <a:p>
            <a:r>
              <a:rPr lang="en-US" b="1" dirty="0">
                <a:solidFill>
                  <a:srgbClr val="3333FF"/>
                </a:solidFill>
              </a:rPr>
              <a:t>%here n = 15 and B=0.05 then determine offered traffic A=? </a:t>
            </a:r>
          </a:p>
          <a:p>
            <a:r>
              <a:rPr lang="en-US" b="1" dirty="0">
                <a:solidFill>
                  <a:srgbClr val="3333FF"/>
                </a:solidFill>
              </a:rPr>
              <a:t>%instead of using </a:t>
            </a:r>
            <a:r>
              <a:rPr lang="en-US" b="1" dirty="0" err="1">
                <a:solidFill>
                  <a:srgbClr val="3333FF"/>
                </a:solidFill>
              </a:rPr>
              <a:t>Erlang's</a:t>
            </a:r>
            <a:r>
              <a:rPr lang="en-US" b="1" dirty="0">
                <a:solidFill>
                  <a:srgbClr val="3333FF"/>
                </a:solidFill>
              </a:rPr>
              <a:t> table</a:t>
            </a:r>
          </a:p>
          <a:p>
            <a:r>
              <a:rPr lang="en-US" dirty="0"/>
              <a:t> </a:t>
            </a:r>
            <a:r>
              <a:rPr lang="en-US" dirty="0" err="1" smtClean="0"/>
              <a:t>Bexp</a:t>
            </a:r>
            <a:r>
              <a:rPr lang="en-US" dirty="0" smtClean="0"/>
              <a:t> </a:t>
            </a:r>
            <a:r>
              <a:rPr lang="en-US" dirty="0"/>
              <a:t>= </a:t>
            </a:r>
            <a:r>
              <a:rPr lang="en-US" dirty="0" smtClean="0"/>
              <a:t>0.05; </a:t>
            </a:r>
            <a:r>
              <a:rPr lang="en-US" dirty="0"/>
              <a:t>%expected Blocking Probability</a:t>
            </a:r>
          </a:p>
          <a:p>
            <a:r>
              <a:rPr lang="en-US" dirty="0"/>
              <a:t>A = </a:t>
            </a:r>
            <a:r>
              <a:rPr lang="en-US" dirty="0" smtClean="0"/>
              <a:t>5; </a:t>
            </a:r>
            <a:r>
              <a:rPr lang="en-US" dirty="0"/>
              <a:t>% initial assumed offered traffic</a:t>
            </a:r>
          </a:p>
          <a:p>
            <a:r>
              <a:rPr lang="en-US" dirty="0"/>
              <a:t>n = 15;%number of channel</a:t>
            </a:r>
          </a:p>
          <a:p>
            <a:r>
              <a:rPr lang="en-US" dirty="0" smtClean="0"/>
              <a:t>e=2;% Initial value of error</a:t>
            </a:r>
          </a:p>
          <a:p>
            <a:r>
              <a:rPr lang="en-US" dirty="0" smtClean="0">
                <a:solidFill>
                  <a:srgbClr val="FF0000"/>
                </a:solidFill>
              </a:rPr>
              <a:t>while </a:t>
            </a:r>
            <a:r>
              <a:rPr lang="en-US" dirty="0">
                <a:solidFill>
                  <a:srgbClr val="FF0000"/>
                </a:solidFill>
              </a:rPr>
              <a:t>e&gt;0.0001</a:t>
            </a:r>
          </a:p>
          <a:p>
            <a:r>
              <a:rPr lang="en-US" dirty="0"/>
              <a:t>s=1;</a:t>
            </a:r>
          </a:p>
          <a:p>
            <a:r>
              <a:rPr lang="en-US" dirty="0"/>
              <a:t>for </a:t>
            </a:r>
            <a:r>
              <a:rPr lang="en-US" dirty="0" err="1"/>
              <a:t>i</a:t>
            </a:r>
            <a:r>
              <a:rPr lang="en-US" dirty="0"/>
              <a:t>=1:n;</a:t>
            </a:r>
          </a:p>
          <a:p>
            <a:r>
              <a:rPr lang="en-US" dirty="0"/>
              <a:t>s=s+(A.^</a:t>
            </a:r>
            <a:r>
              <a:rPr lang="en-US" dirty="0" err="1"/>
              <a:t>i</a:t>
            </a:r>
            <a:r>
              <a:rPr lang="en-US" dirty="0"/>
              <a:t>)./factorial(</a:t>
            </a:r>
            <a:r>
              <a:rPr lang="en-US" dirty="0" err="1"/>
              <a:t>i</a:t>
            </a:r>
            <a:r>
              <a:rPr lang="en-US" dirty="0"/>
              <a:t>);</a:t>
            </a:r>
          </a:p>
          <a:p>
            <a:r>
              <a:rPr lang="en-US" dirty="0"/>
              <a:t>end</a:t>
            </a:r>
          </a:p>
          <a:p>
            <a:r>
              <a:rPr lang="en-US" dirty="0"/>
              <a:t>B = ((</a:t>
            </a:r>
            <a:r>
              <a:rPr lang="en-US" dirty="0" err="1"/>
              <a:t>A.^n</a:t>
            </a:r>
            <a:r>
              <a:rPr lang="en-US" dirty="0"/>
              <a:t>)./factorial(n))/s; %blocking probability</a:t>
            </a:r>
          </a:p>
          <a:p>
            <a:r>
              <a:rPr lang="en-US" dirty="0"/>
              <a:t>e = abs(B-</a:t>
            </a:r>
            <a:r>
              <a:rPr lang="en-US" dirty="0" err="1"/>
              <a:t>Bexp</a:t>
            </a:r>
            <a:r>
              <a:rPr lang="en-US" dirty="0"/>
              <a:t>);</a:t>
            </a:r>
          </a:p>
          <a:p>
            <a:r>
              <a:rPr lang="en-US" dirty="0"/>
              <a:t>A=A+0.001;</a:t>
            </a:r>
          </a:p>
          <a:p>
            <a:r>
              <a:rPr lang="en-US" dirty="0">
                <a:solidFill>
                  <a:srgbClr val="FF0000"/>
                </a:solidFill>
              </a:rPr>
              <a:t>end</a:t>
            </a:r>
            <a:r>
              <a:rPr lang="en-US" dirty="0"/>
              <a:t>  %end of while loop</a:t>
            </a:r>
            <a:endParaRPr lang="en-US" dirty="0">
              <a:solidFill>
                <a:srgbClr val="3333FF"/>
              </a:solidFill>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1416668248"/>
              </p:ext>
            </p:extLst>
          </p:nvPr>
        </p:nvGraphicFramePr>
        <p:xfrm>
          <a:off x="5029200" y="2361559"/>
          <a:ext cx="3536366" cy="1216968"/>
        </p:xfrm>
        <a:graphic>
          <a:graphicData uri="http://schemas.openxmlformats.org/presentationml/2006/ole">
            <mc:AlternateContent xmlns:mc="http://schemas.openxmlformats.org/markup-compatibility/2006">
              <mc:Choice xmlns:v="urn:schemas-microsoft-com:vml" Requires="v">
                <p:oleObj spid="_x0000_s12293" name="Equation" r:id="rId3" imgW="2349500" imgH="812800" progId="Equation.3">
                  <p:embed/>
                </p:oleObj>
              </mc:Choice>
              <mc:Fallback>
                <p:oleObj name="Equation" r:id="rId3" imgW="2349500" imgH="812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2361559"/>
                        <a:ext cx="3536366" cy="1216968"/>
                      </a:xfrm>
                      <a:prstGeom prst="rect">
                        <a:avLst/>
                      </a:prstGeom>
                      <a:noFill/>
                    </p:spPr>
                  </p:pic>
                </p:oleObj>
              </mc:Fallback>
            </mc:AlternateContent>
          </a:graphicData>
        </a:graphic>
      </p:graphicFrame>
      <p:sp>
        <p:nvSpPr>
          <p:cNvPr id="2" name="TextBox 1"/>
          <p:cNvSpPr txBox="1"/>
          <p:nvPr/>
        </p:nvSpPr>
        <p:spPr>
          <a:xfrm>
            <a:off x="4114800" y="2769988"/>
            <a:ext cx="1143000" cy="400110"/>
          </a:xfrm>
          <a:prstGeom prst="rect">
            <a:avLst/>
          </a:prstGeom>
          <a:noFill/>
        </p:spPr>
        <p:txBody>
          <a:bodyPr wrap="square" rtlCol="0">
            <a:spAutoFit/>
          </a:bodyPr>
          <a:lstStyle/>
          <a:p>
            <a:r>
              <a:rPr lang="en-US" sz="2000" i="1" dirty="0" smtClean="0"/>
              <a:t>B</a:t>
            </a:r>
            <a:r>
              <a:rPr lang="en-US" sz="2000" dirty="0" smtClean="0"/>
              <a:t>(</a:t>
            </a:r>
            <a:r>
              <a:rPr lang="en-US" sz="2000" i="1" dirty="0" smtClean="0"/>
              <a:t>n</a:t>
            </a:r>
            <a:r>
              <a:rPr lang="en-US" sz="2000" dirty="0" smtClean="0"/>
              <a:t>, </a:t>
            </a:r>
            <a:r>
              <a:rPr lang="en-US" sz="2000" i="1" dirty="0" smtClean="0"/>
              <a:t>A</a:t>
            </a:r>
            <a:r>
              <a:rPr lang="en-US" sz="2000" dirty="0" smtClean="0"/>
              <a:t>)</a:t>
            </a:r>
            <a:endParaRPr lang="en-US" sz="2000" dirty="0"/>
          </a:p>
        </p:txBody>
      </p:sp>
    </p:spTree>
    <p:extLst>
      <p:ext uri="{BB962C8B-B14F-4D97-AF65-F5344CB8AC3E}">
        <p14:creationId xmlns:p14="http://schemas.microsoft.com/office/powerpoint/2010/main" val="1104878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8</a:t>
            </a:fld>
            <a:endParaRPr lang="en-US"/>
          </a:p>
        </p:txBody>
      </p:sp>
      <p:sp>
        <p:nvSpPr>
          <p:cNvPr id="5" name="TextBox 4"/>
          <p:cNvSpPr txBox="1"/>
          <p:nvPr/>
        </p:nvSpPr>
        <p:spPr>
          <a:xfrm>
            <a:off x="304800" y="304800"/>
            <a:ext cx="7467600" cy="3108543"/>
          </a:xfrm>
          <a:prstGeom prst="rect">
            <a:avLst/>
          </a:prstGeom>
          <a:noFill/>
        </p:spPr>
        <p:txBody>
          <a:bodyPr wrap="square" rtlCol="0">
            <a:spAutoFit/>
          </a:bodyPr>
          <a:lstStyle/>
          <a:p>
            <a:r>
              <a:rPr lang="en-US" sz="2800" dirty="0" err="1" smtClean="0"/>
              <a:t>Lamda</a:t>
            </a:r>
            <a:r>
              <a:rPr lang="en-US" sz="2800" dirty="0" smtClean="0"/>
              <a:t> =1/60;    %arrival rate per user</a:t>
            </a:r>
          </a:p>
          <a:p>
            <a:r>
              <a:rPr lang="en-US" sz="2800" dirty="0" err="1" smtClean="0"/>
              <a:t>th</a:t>
            </a:r>
            <a:r>
              <a:rPr lang="en-US" sz="2800" dirty="0" smtClean="0"/>
              <a:t> = 1.5;    %holding time of each user</a:t>
            </a:r>
          </a:p>
          <a:p>
            <a:r>
              <a:rPr lang="en-US" sz="2800" dirty="0" smtClean="0"/>
              <a:t>a = </a:t>
            </a:r>
            <a:r>
              <a:rPr lang="en-US" sz="2800" dirty="0" err="1" smtClean="0"/>
              <a:t>Lamda</a:t>
            </a:r>
            <a:r>
              <a:rPr lang="en-US" sz="2800" dirty="0" smtClean="0"/>
              <a:t>*</a:t>
            </a:r>
            <a:r>
              <a:rPr lang="en-US" sz="2800" dirty="0" err="1" smtClean="0"/>
              <a:t>th</a:t>
            </a:r>
            <a:r>
              <a:rPr lang="en-US" sz="2800" dirty="0" smtClean="0"/>
              <a:t>;    %offered traffic per user</a:t>
            </a:r>
          </a:p>
          <a:p>
            <a:r>
              <a:rPr lang="en-US" sz="2800" dirty="0" smtClean="0"/>
              <a:t>N </a:t>
            </a:r>
            <a:r>
              <a:rPr lang="en-US" sz="2800" dirty="0"/>
              <a:t>= </a:t>
            </a:r>
            <a:r>
              <a:rPr lang="en-US" sz="2800" dirty="0" smtClean="0"/>
              <a:t>A/a ;    %</a:t>
            </a:r>
            <a:r>
              <a:rPr lang="en-US" sz="2800" dirty="0" err="1" smtClean="0"/>
              <a:t>Nunber</a:t>
            </a:r>
            <a:r>
              <a:rPr lang="en-US" sz="2800" dirty="0" smtClean="0"/>
              <a:t> of user per cell</a:t>
            </a:r>
          </a:p>
          <a:p>
            <a:r>
              <a:rPr lang="en-US" sz="2800" dirty="0" err="1" smtClean="0"/>
              <a:t>Nt</a:t>
            </a:r>
            <a:r>
              <a:rPr lang="en-US" sz="2800" dirty="0" smtClean="0"/>
              <a:t> = N*500;    %Total user of the network</a:t>
            </a:r>
          </a:p>
          <a:p>
            <a:r>
              <a:rPr lang="en-US" sz="2800" dirty="0" smtClean="0"/>
              <a:t>P = 3*10^6; %Total population of the city</a:t>
            </a:r>
          </a:p>
          <a:p>
            <a:r>
              <a:rPr lang="en-US" sz="2800" dirty="0" err="1" smtClean="0"/>
              <a:t>Rp</a:t>
            </a:r>
            <a:r>
              <a:rPr lang="en-US" sz="2800" dirty="0" smtClean="0"/>
              <a:t> = (</a:t>
            </a:r>
            <a:r>
              <a:rPr lang="en-US" sz="2800" dirty="0" err="1" smtClean="0"/>
              <a:t>Nt</a:t>
            </a:r>
            <a:r>
              <a:rPr lang="en-US" sz="2800" dirty="0" smtClean="0"/>
              <a:t>/P)*100; %penetration rate</a:t>
            </a:r>
            <a:endParaRPr lang="en-US" sz="2800" dirty="0"/>
          </a:p>
        </p:txBody>
      </p:sp>
      <p:sp>
        <p:nvSpPr>
          <p:cNvPr id="6" name="TextBox 5"/>
          <p:cNvSpPr txBox="1"/>
          <p:nvPr/>
        </p:nvSpPr>
        <p:spPr>
          <a:xfrm>
            <a:off x="457200" y="3932882"/>
            <a:ext cx="7543800" cy="2554545"/>
          </a:xfrm>
          <a:prstGeom prst="rect">
            <a:avLst/>
          </a:prstGeom>
          <a:solidFill>
            <a:srgbClr val="CCFFFF"/>
          </a:solidFill>
        </p:spPr>
        <p:txBody>
          <a:bodyPr wrap="square" rtlCol="0">
            <a:spAutoFit/>
          </a:bodyPr>
          <a:lstStyle/>
          <a:p>
            <a:r>
              <a:rPr lang="en-US" sz="4000" dirty="0" smtClean="0"/>
              <a:t>Home work:</a:t>
            </a:r>
          </a:p>
          <a:p>
            <a:r>
              <a:rPr lang="en-US" sz="4000" dirty="0" smtClean="0"/>
              <a:t>Plot </a:t>
            </a:r>
            <a:r>
              <a:rPr lang="en-US" sz="4000" i="1" dirty="0" smtClean="0"/>
              <a:t>n</a:t>
            </a:r>
            <a:r>
              <a:rPr lang="en-US" sz="4000" dirty="0" smtClean="0"/>
              <a:t> vs. penetration rate</a:t>
            </a:r>
          </a:p>
          <a:p>
            <a:r>
              <a:rPr lang="en-US" sz="4000" dirty="0"/>
              <a:t>Plot </a:t>
            </a:r>
            <a:r>
              <a:rPr lang="en-US" sz="4000" dirty="0" err="1" smtClean="0"/>
              <a:t>GoS</a:t>
            </a:r>
            <a:r>
              <a:rPr lang="en-US" sz="4000" dirty="0" smtClean="0"/>
              <a:t> </a:t>
            </a:r>
            <a:r>
              <a:rPr lang="en-US" sz="4000" dirty="0"/>
              <a:t>vs. penetration </a:t>
            </a:r>
            <a:r>
              <a:rPr lang="en-US" sz="4000" dirty="0" smtClean="0"/>
              <a:t>rate</a:t>
            </a:r>
          </a:p>
          <a:p>
            <a:r>
              <a:rPr lang="en-US" sz="4000" dirty="0" smtClean="0"/>
              <a:t>Plot B vs. A</a:t>
            </a:r>
            <a:endParaRPr lang="en-US" sz="4000" dirty="0"/>
          </a:p>
        </p:txBody>
      </p:sp>
    </p:spTree>
    <p:extLst>
      <p:ext uri="{BB962C8B-B14F-4D97-AF65-F5344CB8AC3E}">
        <p14:creationId xmlns:p14="http://schemas.microsoft.com/office/powerpoint/2010/main" val="413365289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9</a:t>
            </a:fld>
            <a:endParaRPr lang="en-US"/>
          </a:p>
        </p:txBody>
      </p:sp>
      <p:sp>
        <p:nvSpPr>
          <p:cNvPr id="5" name="TextBox 4"/>
          <p:cNvSpPr txBox="1"/>
          <p:nvPr/>
        </p:nvSpPr>
        <p:spPr>
          <a:xfrm>
            <a:off x="304800" y="228600"/>
            <a:ext cx="4038600" cy="5355312"/>
          </a:xfrm>
          <a:prstGeom prst="rect">
            <a:avLst/>
          </a:prstGeom>
          <a:solidFill>
            <a:srgbClr val="CCFFFF"/>
          </a:solidFill>
        </p:spPr>
        <p:txBody>
          <a:bodyPr wrap="square" rtlCol="0">
            <a:spAutoFit/>
          </a:bodyPr>
          <a:lstStyle/>
          <a:p>
            <a:r>
              <a:rPr lang="en-US" sz="1800" dirty="0"/>
              <a:t>clear all</a:t>
            </a:r>
          </a:p>
          <a:p>
            <a:r>
              <a:rPr lang="en-US" sz="1800" dirty="0"/>
              <a:t>close all</a:t>
            </a:r>
          </a:p>
          <a:p>
            <a:r>
              <a:rPr lang="en-US" sz="1800" dirty="0"/>
              <a:t>for j=1:10,</a:t>
            </a:r>
          </a:p>
          <a:p>
            <a:r>
              <a:rPr lang="en-US" sz="1800" dirty="0" err="1"/>
              <a:t>Bexp</a:t>
            </a:r>
            <a:r>
              <a:rPr lang="en-US" sz="1800" dirty="0"/>
              <a:t> = 0.05; %expected Blocking Probability</a:t>
            </a:r>
          </a:p>
          <a:p>
            <a:r>
              <a:rPr lang="en-US" sz="1800" dirty="0"/>
              <a:t>A = 5; % initial assumed offered traffic</a:t>
            </a:r>
          </a:p>
          <a:p>
            <a:r>
              <a:rPr lang="en-US" sz="1800" dirty="0"/>
              <a:t>n = 8+j*4</a:t>
            </a:r>
            <a:r>
              <a:rPr lang="en-US" sz="1800" dirty="0" smtClean="0"/>
              <a:t>;%</a:t>
            </a:r>
            <a:r>
              <a:rPr lang="en-US" sz="1800" dirty="0"/>
              <a:t>number of channel</a:t>
            </a:r>
          </a:p>
          <a:p>
            <a:r>
              <a:rPr lang="en-US" sz="1800" dirty="0"/>
              <a:t>e=2;% Initial value of error</a:t>
            </a:r>
          </a:p>
          <a:p>
            <a:r>
              <a:rPr lang="en-US" sz="1800" dirty="0"/>
              <a:t>while e&gt;0.0001</a:t>
            </a:r>
          </a:p>
          <a:p>
            <a:r>
              <a:rPr lang="en-US" sz="1800" dirty="0"/>
              <a:t>s=1;</a:t>
            </a:r>
          </a:p>
          <a:p>
            <a:r>
              <a:rPr lang="en-US" sz="1800" dirty="0"/>
              <a:t>for </a:t>
            </a:r>
            <a:r>
              <a:rPr lang="en-US" sz="1800" dirty="0" err="1"/>
              <a:t>i</a:t>
            </a:r>
            <a:r>
              <a:rPr lang="en-US" sz="1800" dirty="0"/>
              <a:t>=1:n;</a:t>
            </a:r>
          </a:p>
          <a:p>
            <a:r>
              <a:rPr lang="en-US" sz="1800" dirty="0"/>
              <a:t>s=s+(A.^</a:t>
            </a:r>
            <a:r>
              <a:rPr lang="en-US" sz="1800" dirty="0" err="1"/>
              <a:t>i</a:t>
            </a:r>
            <a:r>
              <a:rPr lang="en-US" sz="1800" dirty="0"/>
              <a:t>)./factorial(</a:t>
            </a:r>
            <a:r>
              <a:rPr lang="en-US" sz="1800" dirty="0" err="1"/>
              <a:t>i</a:t>
            </a:r>
            <a:r>
              <a:rPr lang="en-US" sz="1800" dirty="0"/>
              <a:t>);</a:t>
            </a:r>
          </a:p>
          <a:p>
            <a:r>
              <a:rPr lang="en-US" sz="1800" dirty="0"/>
              <a:t>end</a:t>
            </a:r>
          </a:p>
          <a:p>
            <a:r>
              <a:rPr lang="en-US" sz="1800" dirty="0"/>
              <a:t>B = ((</a:t>
            </a:r>
            <a:r>
              <a:rPr lang="en-US" sz="1800" dirty="0" err="1"/>
              <a:t>A.^n</a:t>
            </a:r>
            <a:r>
              <a:rPr lang="en-US" sz="1800" dirty="0"/>
              <a:t>)./factorial(n))/s</a:t>
            </a:r>
            <a:r>
              <a:rPr lang="en-US" sz="1800" dirty="0" smtClean="0"/>
              <a:t>;</a:t>
            </a:r>
          </a:p>
          <a:p>
            <a:r>
              <a:rPr lang="en-US" sz="1800" dirty="0" smtClean="0"/>
              <a:t> </a:t>
            </a:r>
            <a:r>
              <a:rPr lang="en-US" sz="1800" dirty="0"/>
              <a:t>%blocking probability</a:t>
            </a:r>
          </a:p>
          <a:p>
            <a:r>
              <a:rPr lang="en-US" sz="1800" dirty="0"/>
              <a:t>e = abs(B-</a:t>
            </a:r>
            <a:r>
              <a:rPr lang="en-US" sz="1800" dirty="0" err="1"/>
              <a:t>Bexp</a:t>
            </a:r>
            <a:r>
              <a:rPr lang="en-US" sz="1800" dirty="0"/>
              <a:t>);</a:t>
            </a:r>
          </a:p>
          <a:p>
            <a:r>
              <a:rPr lang="en-US" sz="1800" dirty="0"/>
              <a:t>A=A+0.001;</a:t>
            </a:r>
          </a:p>
          <a:p>
            <a:r>
              <a:rPr lang="en-US" sz="1800" dirty="0"/>
              <a:t>end  %end of while loop</a:t>
            </a:r>
          </a:p>
          <a:p>
            <a:endParaRPr lang="en-US" sz="1800" dirty="0"/>
          </a:p>
        </p:txBody>
      </p:sp>
      <p:sp>
        <p:nvSpPr>
          <p:cNvPr id="6" name="TextBox 5"/>
          <p:cNvSpPr txBox="1"/>
          <p:nvPr/>
        </p:nvSpPr>
        <p:spPr>
          <a:xfrm>
            <a:off x="4419600" y="381000"/>
            <a:ext cx="4457700" cy="4801314"/>
          </a:xfrm>
          <a:prstGeom prst="rect">
            <a:avLst/>
          </a:prstGeom>
          <a:solidFill>
            <a:srgbClr val="FFCCCC"/>
          </a:solidFill>
        </p:spPr>
        <p:txBody>
          <a:bodyPr wrap="square" rtlCol="0">
            <a:spAutoFit/>
          </a:bodyPr>
          <a:lstStyle/>
          <a:p>
            <a:r>
              <a:rPr lang="en-US" sz="1800" dirty="0" err="1" smtClean="0"/>
              <a:t>Lamda</a:t>
            </a:r>
            <a:r>
              <a:rPr lang="en-US" sz="1800" dirty="0" smtClean="0"/>
              <a:t> </a:t>
            </a:r>
            <a:r>
              <a:rPr lang="en-US" sz="1800" dirty="0"/>
              <a:t>=1/60;    %arrival rate per user</a:t>
            </a:r>
          </a:p>
          <a:p>
            <a:r>
              <a:rPr lang="en-US" sz="1800" dirty="0" err="1"/>
              <a:t>th</a:t>
            </a:r>
            <a:r>
              <a:rPr lang="en-US" sz="1800" dirty="0"/>
              <a:t> = 1.5;    %holding time of each user</a:t>
            </a:r>
          </a:p>
          <a:p>
            <a:r>
              <a:rPr lang="en-US" sz="1800" dirty="0"/>
              <a:t>a = </a:t>
            </a:r>
            <a:r>
              <a:rPr lang="en-US" sz="1800" dirty="0" err="1"/>
              <a:t>Lamda</a:t>
            </a:r>
            <a:r>
              <a:rPr lang="en-US" sz="1800" dirty="0"/>
              <a:t>*</a:t>
            </a:r>
            <a:r>
              <a:rPr lang="en-US" sz="1800" dirty="0" err="1"/>
              <a:t>th</a:t>
            </a:r>
            <a:r>
              <a:rPr lang="en-US" sz="1800" dirty="0"/>
              <a:t>;    %offered traffic per user</a:t>
            </a:r>
          </a:p>
          <a:p>
            <a:r>
              <a:rPr lang="en-US" sz="1800" dirty="0"/>
              <a:t>N = A/a ;    %</a:t>
            </a:r>
            <a:r>
              <a:rPr lang="en-US" sz="1800" dirty="0" err="1"/>
              <a:t>Nunber</a:t>
            </a:r>
            <a:r>
              <a:rPr lang="en-US" sz="1800" dirty="0"/>
              <a:t> of user per cell</a:t>
            </a:r>
          </a:p>
          <a:p>
            <a:r>
              <a:rPr lang="en-US" sz="1800" dirty="0" err="1"/>
              <a:t>Nt</a:t>
            </a:r>
            <a:r>
              <a:rPr lang="en-US" sz="1800" dirty="0"/>
              <a:t> = N*500;    %Total user of the network</a:t>
            </a:r>
          </a:p>
          <a:p>
            <a:r>
              <a:rPr lang="en-US" sz="1800" dirty="0"/>
              <a:t>P = 3*10^6; %Total population of the city</a:t>
            </a:r>
          </a:p>
          <a:p>
            <a:endParaRPr lang="en-US" sz="1800" dirty="0"/>
          </a:p>
          <a:p>
            <a:r>
              <a:rPr lang="en-US" sz="1800" dirty="0" err="1"/>
              <a:t>Rp</a:t>
            </a:r>
            <a:r>
              <a:rPr lang="en-US" sz="1800" dirty="0"/>
              <a:t>(j) = (</a:t>
            </a:r>
            <a:r>
              <a:rPr lang="en-US" sz="1800" dirty="0" err="1"/>
              <a:t>Nt</a:t>
            </a:r>
            <a:r>
              <a:rPr lang="en-US" sz="1800" dirty="0"/>
              <a:t>/P)*100; %Store penetration rate</a:t>
            </a:r>
          </a:p>
          <a:p>
            <a:r>
              <a:rPr lang="en-US" sz="1800" dirty="0"/>
              <a:t>m(j) =n; %store number of channel</a:t>
            </a:r>
          </a:p>
          <a:p>
            <a:r>
              <a:rPr lang="en-US" sz="1800" dirty="0" err="1"/>
              <a:t>Ao</a:t>
            </a:r>
            <a:r>
              <a:rPr lang="en-US" sz="1800" dirty="0"/>
              <a:t>(j)=A; %store offered traffic</a:t>
            </a:r>
          </a:p>
          <a:p>
            <a:r>
              <a:rPr lang="en-US" sz="1800" dirty="0" smtClean="0"/>
              <a:t>end  %end of first loop</a:t>
            </a:r>
            <a:endParaRPr lang="en-US" sz="1800" dirty="0"/>
          </a:p>
          <a:p>
            <a:endParaRPr lang="en-US" sz="1800" dirty="0"/>
          </a:p>
          <a:p>
            <a:r>
              <a:rPr lang="en-US" sz="1800" dirty="0"/>
              <a:t>plot(</a:t>
            </a:r>
            <a:r>
              <a:rPr lang="en-US" sz="1800" dirty="0" err="1"/>
              <a:t>m,Rp</a:t>
            </a:r>
            <a:r>
              <a:rPr lang="en-US" sz="1800" dirty="0"/>
              <a:t>,'--</a:t>
            </a:r>
            <a:r>
              <a:rPr lang="en-US" sz="1800" dirty="0" err="1"/>
              <a:t>rs</a:t>
            </a:r>
            <a:r>
              <a:rPr lang="en-US" sz="1800" dirty="0"/>
              <a:t>', m, </a:t>
            </a:r>
            <a:r>
              <a:rPr lang="en-US" sz="1800" dirty="0" err="1"/>
              <a:t>Ao</a:t>
            </a:r>
            <a:r>
              <a:rPr lang="en-US" sz="1800" dirty="0"/>
              <a:t>,'--b&gt;')</a:t>
            </a:r>
          </a:p>
          <a:p>
            <a:r>
              <a:rPr lang="en-US" sz="1800" dirty="0" err="1"/>
              <a:t>xlabel</a:t>
            </a:r>
            <a:r>
              <a:rPr lang="en-US" sz="1800" dirty="0"/>
              <a:t>('n')</a:t>
            </a:r>
          </a:p>
          <a:p>
            <a:r>
              <a:rPr lang="en-US" sz="1800" dirty="0" err="1"/>
              <a:t>ylabel</a:t>
            </a:r>
            <a:r>
              <a:rPr lang="en-US" sz="1800" dirty="0"/>
              <a:t>('A and P')</a:t>
            </a:r>
          </a:p>
          <a:p>
            <a:r>
              <a:rPr lang="en-US" sz="1800" dirty="0"/>
              <a:t>legend('Penetration rate', 'Offered Traffic')</a:t>
            </a:r>
          </a:p>
          <a:p>
            <a:r>
              <a:rPr lang="en-US" sz="1800" dirty="0"/>
              <a:t>grid on</a:t>
            </a:r>
          </a:p>
        </p:txBody>
      </p:sp>
    </p:spTree>
    <p:extLst>
      <p:ext uri="{BB962C8B-B14F-4D97-AF65-F5344CB8AC3E}">
        <p14:creationId xmlns:p14="http://schemas.microsoft.com/office/powerpoint/2010/main" val="22008057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10</a:t>
            </a:fld>
            <a:endParaRPr lang="en-US" dirty="0"/>
          </a:p>
        </p:txBody>
      </p:sp>
      <p:grpSp>
        <p:nvGrpSpPr>
          <p:cNvPr id="2" name="Group 35"/>
          <p:cNvGrpSpPr/>
          <p:nvPr/>
        </p:nvGrpSpPr>
        <p:grpSpPr>
          <a:xfrm>
            <a:off x="609600" y="838200"/>
            <a:ext cx="7277046" cy="5486400"/>
            <a:chOff x="609600" y="838200"/>
            <a:chExt cx="7277046" cy="5486400"/>
          </a:xfrm>
        </p:grpSpPr>
        <p:grpSp>
          <p:nvGrpSpPr>
            <p:cNvPr id="3" name="Group 32"/>
            <p:cNvGrpSpPr/>
            <p:nvPr/>
          </p:nvGrpSpPr>
          <p:grpSpPr>
            <a:xfrm>
              <a:off x="609600" y="838200"/>
              <a:ext cx="7277046" cy="5486400"/>
              <a:chOff x="609600" y="228600"/>
              <a:chExt cx="7277046" cy="5486400"/>
            </a:xfrm>
          </p:grpSpPr>
          <p:sp>
            <p:nvSpPr>
              <p:cNvPr id="13" name="Hexagon 12"/>
              <p:cNvSpPr/>
              <p:nvPr/>
            </p:nvSpPr>
            <p:spPr>
              <a:xfrm>
                <a:off x="1219200" y="228600"/>
                <a:ext cx="5715000" cy="5486400"/>
              </a:xfrm>
              <a:prstGeom prst="hexag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p:nvPr/>
            </p:nvPicPr>
            <p:blipFill>
              <a:blip r:embed="rId2"/>
              <a:srcRect/>
              <a:stretch>
                <a:fillRect/>
              </a:stretch>
            </p:blipFill>
            <p:spPr bwMode="auto">
              <a:xfrm>
                <a:off x="3200401" y="838200"/>
                <a:ext cx="1808594" cy="3179323"/>
              </a:xfrm>
              <a:prstGeom prst="rect">
                <a:avLst/>
              </a:prstGeom>
              <a:noFill/>
              <a:ln w="9525">
                <a:noFill/>
                <a:miter lim="800000"/>
                <a:headEnd/>
                <a:tailEnd/>
              </a:ln>
            </p:spPr>
          </p:pic>
          <p:pic>
            <p:nvPicPr>
              <p:cNvPr id="6" name="Picture 5"/>
              <p:cNvPicPr/>
              <p:nvPr/>
            </p:nvPicPr>
            <p:blipFill>
              <a:blip r:embed="rId3"/>
              <a:srcRect/>
              <a:stretch>
                <a:fillRect/>
              </a:stretch>
            </p:blipFill>
            <p:spPr bwMode="auto">
              <a:xfrm>
                <a:off x="5486400" y="2286000"/>
                <a:ext cx="495246" cy="729575"/>
              </a:xfrm>
              <a:prstGeom prst="rect">
                <a:avLst/>
              </a:prstGeom>
              <a:noFill/>
              <a:ln w="9525">
                <a:noFill/>
                <a:miter lim="800000"/>
                <a:headEnd/>
                <a:tailEnd/>
              </a:ln>
            </p:spPr>
          </p:pic>
          <p:pic>
            <p:nvPicPr>
              <p:cNvPr id="7" name="Picture 6"/>
              <p:cNvPicPr/>
              <p:nvPr/>
            </p:nvPicPr>
            <p:blipFill>
              <a:blip r:embed="rId3"/>
              <a:srcRect/>
              <a:stretch>
                <a:fillRect/>
              </a:stretch>
            </p:blipFill>
            <p:spPr bwMode="auto">
              <a:xfrm>
                <a:off x="5257800" y="3657600"/>
                <a:ext cx="495246" cy="729575"/>
              </a:xfrm>
              <a:prstGeom prst="rect">
                <a:avLst/>
              </a:prstGeom>
              <a:noFill/>
              <a:ln w="9525">
                <a:noFill/>
                <a:miter lim="800000"/>
                <a:headEnd/>
                <a:tailEnd/>
              </a:ln>
            </p:spPr>
          </p:pic>
          <p:pic>
            <p:nvPicPr>
              <p:cNvPr id="8" name="Picture 7"/>
              <p:cNvPicPr/>
              <p:nvPr/>
            </p:nvPicPr>
            <p:blipFill>
              <a:blip r:embed="rId3"/>
              <a:srcRect/>
              <a:stretch>
                <a:fillRect/>
              </a:stretch>
            </p:blipFill>
            <p:spPr bwMode="auto">
              <a:xfrm>
                <a:off x="2971800" y="381000"/>
                <a:ext cx="495246" cy="729575"/>
              </a:xfrm>
              <a:prstGeom prst="rect">
                <a:avLst/>
              </a:prstGeom>
              <a:noFill/>
              <a:ln w="9525">
                <a:noFill/>
                <a:miter lim="800000"/>
                <a:headEnd/>
                <a:tailEnd/>
              </a:ln>
            </p:spPr>
          </p:pic>
          <p:pic>
            <p:nvPicPr>
              <p:cNvPr id="9" name="Picture 8"/>
              <p:cNvPicPr/>
              <p:nvPr/>
            </p:nvPicPr>
            <p:blipFill>
              <a:blip r:embed="rId3"/>
              <a:srcRect/>
              <a:stretch>
                <a:fillRect/>
              </a:stretch>
            </p:blipFill>
            <p:spPr bwMode="auto">
              <a:xfrm>
                <a:off x="5257800" y="1219200"/>
                <a:ext cx="495246" cy="729575"/>
              </a:xfrm>
              <a:prstGeom prst="rect">
                <a:avLst/>
              </a:prstGeom>
              <a:noFill/>
              <a:ln w="9525">
                <a:noFill/>
                <a:miter lim="800000"/>
                <a:headEnd/>
                <a:tailEnd/>
              </a:ln>
            </p:spPr>
          </p:pic>
          <p:pic>
            <p:nvPicPr>
              <p:cNvPr id="10" name="Picture 9"/>
              <p:cNvPicPr/>
              <p:nvPr/>
            </p:nvPicPr>
            <p:blipFill>
              <a:blip r:embed="rId3"/>
              <a:srcRect/>
              <a:stretch>
                <a:fillRect/>
              </a:stretch>
            </p:blipFill>
            <p:spPr bwMode="auto">
              <a:xfrm>
                <a:off x="2362200" y="2362200"/>
                <a:ext cx="495246" cy="729575"/>
              </a:xfrm>
              <a:prstGeom prst="rect">
                <a:avLst/>
              </a:prstGeom>
              <a:noFill/>
              <a:ln w="9525">
                <a:noFill/>
                <a:miter lim="800000"/>
                <a:headEnd/>
                <a:tailEnd/>
              </a:ln>
            </p:spPr>
          </p:pic>
          <p:pic>
            <p:nvPicPr>
              <p:cNvPr id="11" name="Picture 10"/>
              <p:cNvPicPr/>
              <p:nvPr/>
            </p:nvPicPr>
            <p:blipFill>
              <a:blip r:embed="rId3"/>
              <a:srcRect/>
              <a:stretch>
                <a:fillRect/>
              </a:stretch>
            </p:blipFill>
            <p:spPr bwMode="auto">
              <a:xfrm>
                <a:off x="2286000" y="1066800"/>
                <a:ext cx="495246" cy="729575"/>
              </a:xfrm>
              <a:prstGeom prst="rect">
                <a:avLst/>
              </a:prstGeom>
              <a:noFill/>
              <a:ln w="9525">
                <a:noFill/>
                <a:miter lim="800000"/>
                <a:headEnd/>
                <a:tailEnd/>
              </a:ln>
            </p:spPr>
          </p:pic>
          <p:pic>
            <p:nvPicPr>
              <p:cNvPr id="12" name="Picture 11"/>
              <p:cNvPicPr/>
              <p:nvPr/>
            </p:nvPicPr>
            <p:blipFill>
              <a:blip r:embed="rId3"/>
              <a:srcRect/>
              <a:stretch>
                <a:fillRect/>
              </a:stretch>
            </p:blipFill>
            <p:spPr bwMode="auto">
              <a:xfrm>
                <a:off x="2438400" y="3505200"/>
                <a:ext cx="495246" cy="729575"/>
              </a:xfrm>
              <a:prstGeom prst="rect">
                <a:avLst/>
              </a:prstGeom>
              <a:noFill/>
              <a:ln w="9525">
                <a:noFill/>
                <a:miter lim="800000"/>
                <a:headEnd/>
                <a:tailEnd/>
              </a:ln>
            </p:spPr>
          </p:pic>
          <p:pic>
            <p:nvPicPr>
              <p:cNvPr id="14" name="Picture 13"/>
              <p:cNvPicPr/>
              <p:nvPr/>
            </p:nvPicPr>
            <p:blipFill>
              <a:blip r:embed="rId4"/>
              <a:srcRect/>
              <a:stretch>
                <a:fillRect/>
              </a:stretch>
            </p:blipFill>
            <p:spPr bwMode="auto">
              <a:xfrm>
                <a:off x="609600" y="1524000"/>
                <a:ext cx="395429" cy="593387"/>
              </a:xfrm>
              <a:prstGeom prst="rect">
                <a:avLst/>
              </a:prstGeom>
              <a:noFill/>
              <a:ln w="9525">
                <a:noFill/>
                <a:miter lim="800000"/>
                <a:headEnd/>
                <a:tailEnd/>
              </a:ln>
            </p:spPr>
          </p:pic>
          <p:pic>
            <p:nvPicPr>
              <p:cNvPr id="15" name="Picture 14"/>
              <p:cNvPicPr/>
              <p:nvPr/>
            </p:nvPicPr>
            <p:blipFill>
              <a:blip r:embed="rId4"/>
              <a:srcRect/>
              <a:stretch>
                <a:fillRect/>
              </a:stretch>
            </p:blipFill>
            <p:spPr bwMode="auto">
              <a:xfrm>
                <a:off x="7391400" y="3810000"/>
                <a:ext cx="395429" cy="593387"/>
              </a:xfrm>
              <a:prstGeom prst="rect">
                <a:avLst/>
              </a:prstGeom>
              <a:noFill/>
              <a:ln w="9525">
                <a:noFill/>
                <a:miter lim="800000"/>
                <a:headEnd/>
                <a:tailEnd/>
              </a:ln>
            </p:spPr>
          </p:pic>
          <p:pic>
            <p:nvPicPr>
              <p:cNvPr id="16" name="Picture 15"/>
              <p:cNvPicPr/>
              <p:nvPr/>
            </p:nvPicPr>
            <p:blipFill>
              <a:blip r:embed="rId4"/>
              <a:srcRect/>
              <a:stretch>
                <a:fillRect/>
              </a:stretch>
            </p:blipFill>
            <p:spPr bwMode="auto">
              <a:xfrm>
                <a:off x="4800600" y="304800"/>
                <a:ext cx="395429" cy="593387"/>
              </a:xfrm>
              <a:prstGeom prst="rect">
                <a:avLst/>
              </a:prstGeom>
              <a:noFill/>
              <a:ln w="9525">
                <a:noFill/>
                <a:miter lim="800000"/>
                <a:headEnd/>
                <a:tailEnd/>
              </a:ln>
            </p:spPr>
          </p:pic>
          <p:pic>
            <p:nvPicPr>
              <p:cNvPr id="17" name="Picture 16"/>
              <p:cNvPicPr/>
              <p:nvPr/>
            </p:nvPicPr>
            <p:blipFill>
              <a:blip r:embed="rId4"/>
              <a:srcRect/>
              <a:stretch>
                <a:fillRect/>
              </a:stretch>
            </p:blipFill>
            <p:spPr bwMode="auto">
              <a:xfrm>
                <a:off x="5181600" y="4724400"/>
                <a:ext cx="395429" cy="593387"/>
              </a:xfrm>
              <a:prstGeom prst="rect">
                <a:avLst/>
              </a:prstGeom>
              <a:noFill/>
              <a:ln w="9525">
                <a:noFill/>
                <a:miter lim="800000"/>
                <a:headEnd/>
                <a:tailEnd/>
              </a:ln>
            </p:spPr>
          </p:pic>
          <p:pic>
            <p:nvPicPr>
              <p:cNvPr id="18" name="Picture 17"/>
              <p:cNvPicPr/>
              <p:nvPr/>
            </p:nvPicPr>
            <p:blipFill>
              <a:blip r:embed="rId4"/>
              <a:srcRect/>
              <a:stretch>
                <a:fillRect/>
              </a:stretch>
            </p:blipFill>
            <p:spPr bwMode="auto">
              <a:xfrm>
                <a:off x="7086600" y="1676400"/>
                <a:ext cx="395429" cy="593387"/>
              </a:xfrm>
              <a:prstGeom prst="rect">
                <a:avLst/>
              </a:prstGeom>
              <a:noFill/>
              <a:ln w="9525">
                <a:noFill/>
                <a:miter lim="800000"/>
                <a:headEnd/>
                <a:tailEnd/>
              </a:ln>
            </p:spPr>
          </p:pic>
          <p:pic>
            <p:nvPicPr>
              <p:cNvPr id="19" name="Picture 18"/>
              <p:cNvPicPr/>
              <p:nvPr/>
            </p:nvPicPr>
            <p:blipFill>
              <a:blip r:embed="rId4"/>
              <a:srcRect/>
              <a:stretch>
                <a:fillRect/>
              </a:stretch>
            </p:blipFill>
            <p:spPr bwMode="auto">
              <a:xfrm>
                <a:off x="838200" y="4724400"/>
                <a:ext cx="395429" cy="593387"/>
              </a:xfrm>
              <a:prstGeom prst="rect">
                <a:avLst/>
              </a:prstGeom>
              <a:noFill/>
              <a:ln w="9525">
                <a:noFill/>
                <a:miter lim="800000"/>
                <a:headEnd/>
                <a:tailEnd/>
              </a:ln>
            </p:spPr>
          </p:pic>
          <p:pic>
            <p:nvPicPr>
              <p:cNvPr id="20" name="Picture 19"/>
              <p:cNvPicPr/>
              <p:nvPr/>
            </p:nvPicPr>
            <p:blipFill>
              <a:blip r:embed="rId3"/>
              <a:srcRect/>
              <a:stretch>
                <a:fillRect/>
              </a:stretch>
            </p:blipFill>
            <p:spPr bwMode="auto">
              <a:xfrm>
                <a:off x="6400800" y="4648200"/>
                <a:ext cx="495246" cy="729575"/>
              </a:xfrm>
              <a:prstGeom prst="rect">
                <a:avLst/>
              </a:prstGeom>
              <a:noFill/>
              <a:ln w="9525">
                <a:noFill/>
                <a:miter lim="800000"/>
                <a:headEnd/>
                <a:tailEnd/>
              </a:ln>
            </p:spPr>
          </p:pic>
          <p:pic>
            <p:nvPicPr>
              <p:cNvPr id="21" name="Picture 20"/>
              <p:cNvPicPr/>
              <p:nvPr/>
            </p:nvPicPr>
            <p:blipFill>
              <a:blip r:embed="rId3"/>
              <a:srcRect/>
              <a:stretch>
                <a:fillRect/>
              </a:stretch>
            </p:blipFill>
            <p:spPr bwMode="auto">
              <a:xfrm>
                <a:off x="609600" y="3200400"/>
                <a:ext cx="495246" cy="729575"/>
              </a:xfrm>
              <a:prstGeom prst="rect">
                <a:avLst/>
              </a:prstGeom>
              <a:noFill/>
              <a:ln w="9525">
                <a:noFill/>
                <a:miter lim="800000"/>
                <a:headEnd/>
                <a:tailEnd/>
              </a:ln>
            </p:spPr>
          </p:pic>
          <p:pic>
            <p:nvPicPr>
              <p:cNvPr id="22" name="Picture 21"/>
              <p:cNvPicPr/>
              <p:nvPr/>
            </p:nvPicPr>
            <p:blipFill>
              <a:blip r:embed="rId3"/>
              <a:srcRect/>
              <a:stretch>
                <a:fillRect/>
              </a:stretch>
            </p:blipFill>
            <p:spPr bwMode="auto">
              <a:xfrm>
                <a:off x="7391400" y="2667000"/>
                <a:ext cx="495246" cy="729575"/>
              </a:xfrm>
              <a:prstGeom prst="rect">
                <a:avLst/>
              </a:prstGeom>
              <a:noFill/>
              <a:ln w="9525">
                <a:noFill/>
                <a:miter lim="800000"/>
                <a:headEnd/>
                <a:tailEnd/>
              </a:ln>
            </p:spPr>
          </p:pic>
          <p:pic>
            <p:nvPicPr>
              <p:cNvPr id="23" name="Picture 22"/>
              <p:cNvPicPr/>
              <p:nvPr/>
            </p:nvPicPr>
            <p:blipFill>
              <a:blip r:embed="rId3"/>
              <a:srcRect/>
              <a:stretch>
                <a:fillRect/>
              </a:stretch>
            </p:blipFill>
            <p:spPr bwMode="auto">
              <a:xfrm>
                <a:off x="6781800" y="457200"/>
                <a:ext cx="495246" cy="729575"/>
              </a:xfrm>
              <a:prstGeom prst="rect">
                <a:avLst/>
              </a:prstGeom>
              <a:noFill/>
              <a:ln w="9525">
                <a:noFill/>
                <a:miter lim="800000"/>
                <a:headEnd/>
                <a:tailEnd/>
              </a:ln>
            </p:spPr>
          </p:pic>
          <p:cxnSp>
            <p:nvCxnSpPr>
              <p:cNvPr id="25" name="Straight Arrow Connector 24"/>
              <p:cNvCxnSpPr/>
              <p:nvPr/>
            </p:nvCxnSpPr>
            <p:spPr>
              <a:xfrm rot="10800000" flipV="1">
                <a:off x="5638800" y="685800"/>
                <a:ext cx="838200" cy="4572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1066800" y="1828800"/>
                <a:ext cx="838200" cy="4572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10800000" flipV="1">
                <a:off x="6096000" y="1828800"/>
                <a:ext cx="838200" cy="4572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rot="10800000">
                <a:off x="5638800" y="4495800"/>
                <a:ext cx="685800" cy="4572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34" name="Straight Arrow Connector 33"/>
            <p:cNvCxnSpPr/>
            <p:nvPr/>
          </p:nvCxnSpPr>
          <p:spPr>
            <a:xfrm flipV="1">
              <a:off x="1143000" y="3810000"/>
              <a:ext cx="1066800" cy="3048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37" name="TextBox 36"/>
          <p:cNvSpPr txBox="1"/>
          <p:nvPr/>
        </p:nvSpPr>
        <p:spPr>
          <a:xfrm>
            <a:off x="228600" y="0"/>
            <a:ext cx="8839200" cy="830997"/>
          </a:xfrm>
          <a:prstGeom prst="rect">
            <a:avLst/>
          </a:prstGeom>
          <a:solidFill>
            <a:srgbClr val="CCFFFF"/>
          </a:solidFill>
        </p:spPr>
        <p:txBody>
          <a:bodyPr wrap="square" rtlCol="0">
            <a:spAutoFit/>
          </a:bodyPr>
          <a:lstStyle/>
          <a:p>
            <a:r>
              <a:rPr lang="en-US" dirty="0"/>
              <a:t>In a mobile cellular network there are two types of offered traffics: newly originating call and hand over call. </a:t>
            </a:r>
          </a:p>
        </p:txBody>
      </p:sp>
      <p:cxnSp>
        <p:nvCxnSpPr>
          <p:cNvPr id="35" name="Straight Arrow Connector 34"/>
          <p:cNvCxnSpPr/>
          <p:nvPr/>
        </p:nvCxnSpPr>
        <p:spPr>
          <a:xfrm flipV="1">
            <a:off x="1219200" y="4724400"/>
            <a:ext cx="1143000" cy="9144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7010400" y="5029200"/>
            <a:ext cx="2133600" cy="1200329"/>
          </a:xfrm>
          <a:prstGeom prst="rect">
            <a:avLst/>
          </a:prstGeom>
          <a:solidFill>
            <a:srgbClr val="FFCCCC"/>
          </a:solidFill>
        </p:spPr>
        <p:txBody>
          <a:bodyPr wrap="square" rtlCol="0">
            <a:spAutoFit/>
          </a:bodyPr>
          <a:lstStyle/>
          <a:p>
            <a:r>
              <a:rPr lang="en-US" dirty="0"/>
              <a:t>Offered traffic of handover call, </a:t>
            </a:r>
            <a:r>
              <a:rPr lang="en-US" i="1" dirty="0"/>
              <a:t>A</a:t>
            </a:r>
            <a:r>
              <a:rPr lang="en-US" baseline="-25000" dirty="0"/>
              <a:t>2</a:t>
            </a:r>
          </a:p>
        </p:txBody>
      </p:sp>
      <p:sp>
        <p:nvSpPr>
          <p:cNvPr id="40" name="TextBox 39"/>
          <p:cNvSpPr txBox="1"/>
          <p:nvPr/>
        </p:nvSpPr>
        <p:spPr>
          <a:xfrm>
            <a:off x="2514600" y="5105400"/>
            <a:ext cx="2362200" cy="1200329"/>
          </a:xfrm>
          <a:prstGeom prst="rect">
            <a:avLst/>
          </a:prstGeom>
          <a:solidFill>
            <a:srgbClr val="92D050"/>
          </a:solidFill>
        </p:spPr>
        <p:txBody>
          <a:bodyPr wrap="square" rtlCol="0">
            <a:spAutoFit/>
          </a:bodyPr>
          <a:lstStyle/>
          <a:p>
            <a:r>
              <a:rPr lang="en-US" dirty="0"/>
              <a:t>Offered traffic of newly originating call, </a:t>
            </a:r>
            <a:r>
              <a:rPr lang="en-US" i="1" dirty="0"/>
              <a:t>A</a:t>
            </a:r>
            <a:r>
              <a:rPr lang="en-US" baseline="-25000" dirty="0"/>
              <a:t>1</a:t>
            </a:r>
          </a:p>
        </p:txBody>
      </p:sp>
    </p:spTree>
    <p:extLst>
      <p:ext uri="{BB962C8B-B14F-4D97-AF65-F5344CB8AC3E}">
        <p14:creationId xmlns:p14="http://schemas.microsoft.com/office/powerpoint/2010/main" val="5139856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11</a:t>
            </a:fld>
            <a:endParaRPr lang="en-US"/>
          </a:p>
        </p:txBody>
      </p:sp>
      <p:graphicFrame>
        <p:nvGraphicFramePr>
          <p:cNvPr id="6" name="Table 5"/>
          <p:cNvGraphicFramePr>
            <a:graphicFrameLocks noGrp="1"/>
          </p:cNvGraphicFramePr>
          <p:nvPr>
            <p:extLst/>
          </p:nvPr>
        </p:nvGraphicFramePr>
        <p:xfrm>
          <a:off x="1295400" y="3048000"/>
          <a:ext cx="6781803" cy="2194560"/>
        </p:xfrm>
        <a:graphic>
          <a:graphicData uri="http://schemas.openxmlformats.org/drawingml/2006/table">
            <a:tbl>
              <a:tblPr/>
              <a:tblGrid>
                <a:gridCol w="1326874">
                  <a:extLst>
                    <a:ext uri="{9D8B030D-6E8A-4147-A177-3AD203B41FA5}">
                      <a16:colId xmlns="" xmlns:a16="http://schemas.microsoft.com/office/drawing/2014/main" val="20000"/>
                    </a:ext>
                  </a:extLst>
                </a:gridCol>
                <a:gridCol w="875656">
                  <a:extLst>
                    <a:ext uri="{9D8B030D-6E8A-4147-A177-3AD203B41FA5}">
                      <a16:colId xmlns="" xmlns:a16="http://schemas.microsoft.com/office/drawing/2014/main" val="20001"/>
                    </a:ext>
                  </a:extLst>
                </a:gridCol>
                <a:gridCol w="1049794">
                  <a:extLst>
                    <a:ext uri="{9D8B030D-6E8A-4147-A177-3AD203B41FA5}">
                      <a16:colId xmlns="" xmlns:a16="http://schemas.microsoft.com/office/drawing/2014/main" val="20002"/>
                    </a:ext>
                  </a:extLst>
                </a:gridCol>
                <a:gridCol w="1221743">
                  <a:extLst>
                    <a:ext uri="{9D8B030D-6E8A-4147-A177-3AD203B41FA5}">
                      <a16:colId xmlns="" xmlns:a16="http://schemas.microsoft.com/office/drawing/2014/main" val="20003"/>
                    </a:ext>
                  </a:extLst>
                </a:gridCol>
                <a:gridCol w="1221743">
                  <a:extLst>
                    <a:ext uri="{9D8B030D-6E8A-4147-A177-3AD203B41FA5}">
                      <a16:colId xmlns="" xmlns:a16="http://schemas.microsoft.com/office/drawing/2014/main" val="20004"/>
                    </a:ext>
                  </a:extLst>
                </a:gridCol>
                <a:gridCol w="1085993">
                  <a:extLst>
                    <a:ext uri="{9D8B030D-6E8A-4147-A177-3AD203B41FA5}">
                      <a16:colId xmlns="" xmlns:a16="http://schemas.microsoft.com/office/drawing/2014/main" val="20005"/>
                    </a:ext>
                  </a:extLst>
                </a:gridCol>
              </a:tblGrid>
              <a:tr h="292100">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1</a:t>
                      </a:r>
                      <a:r>
                        <a:rPr lang="en-US" sz="2400" baseline="30000" dirty="0">
                          <a:latin typeface="Times New Roman"/>
                          <a:ea typeface="MS Mincho"/>
                          <a:cs typeface="Times New Roman"/>
                        </a:rPr>
                        <a:t>3</a:t>
                      </a:r>
                      <a:r>
                        <a:rPr lang="en-US" sz="2400" dirty="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(0, 3)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ctr">
                        <a:spcBef>
                          <a:spcPts val="0"/>
                        </a:spcBef>
                        <a:spcAft>
                          <a:spcPts val="0"/>
                        </a:spcAft>
                      </a:pPr>
                      <a:r>
                        <a:rPr lang="en-US" sz="2400" dirty="0">
                          <a:latin typeface="Times New Roman"/>
                          <a:ea typeface="MS Mincho"/>
                          <a:cs typeface="Times New Roman"/>
                        </a:rPr>
                        <a:t>(1, 3)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ctr">
                        <a:spcBef>
                          <a:spcPts val="0"/>
                        </a:spcBef>
                        <a:spcAft>
                          <a:spcPts val="0"/>
                        </a:spcAft>
                      </a:pPr>
                      <a:r>
                        <a:rPr lang="en-US" sz="2400" dirty="0">
                          <a:latin typeface="Times New Roman"/>
                          <a:ea typeface="MS Mincho"/>
                          <a:cs typeface="Times New Roman"/>
                        </a:rPr>
                        <a:t>(2, 3)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ctr">
                        <a:spcBef>
                          <a:spcPts val="0"/>
                        </a:spcBef>
                        <a:spcAft>
                          <a:spcPts val="0"/>
                        </a:spcAft>
                      </a:pPr>
                      <a:r>
                        <a:rPr lang="en-US" sz="2400" dirty="0">
                          <a:latin typeface="Times New Roman"/>
                          <a:ea typeface="MS Mincho"/>
                          <a:cs typeface="Times New Roman"/>
                        </a:rPr>
                        <a:t>(3, 3)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10000"/>
                  </a:ext>
                </a:extLst>
              </a:tr>
              <a:tr h="292100">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1</a:t>
                      </a:r>
                      <a:r>
                        <a:rPr lang="en-US" sz="2400" baseline="30000" dirty="0">
                          <a:latin typeface="Times New Roman"/>
                          <a:ea typeface="MS Mincho"/>
                          <a:cs typeface="Times New Roman"/>
                        </a:rPr>
                        <a:t>2</a:t>
                      </a:r>
                      <a:r>
                        <a:rPr lang="en-US" sz="2400" dirty="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(0, 2)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ctr">
                        <a:spcBef>
                          <a:spcPts val="0"/>
                        </a:spcBef>
                        <a:spcAft>
                          <a:spcPts val="0"/>
                        </a:spcAft>
                      </a:pPr>
                      <a:r>
                        <a:rPr lang="en-US" sz="2400" dirty="0">
                          <a:latin typeface="Times New Roman"/>
                          <a:ea typeface="MS Mincho"/>
                          <a:cs typeface="Times New Roman"/>
                        </a:rPr>
                        <a:t>(1, 2)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ctr">
                        <a:spcBef>
                          <a:spcPts val="0"/>
                        </a:spcBef>
                        <a:spcAft>
                          <a:spcPts val="0"/>
                        </a:spcAft>
                      </a:pPr>
                      <a:r>
                        <a:rPr lang="en-US" sz="2400" dirty="0">
                          <a:latin typeface="Times New Roman"/>
                          <a:ea typeface="MS Mincho"/>
                          <a:cs typeface="Times New Roman"/>
                        </a:rPr>
                        <a:t>(2, 2)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ctr">
                        <a:spcBef>
                          <a:spcPts val="0"/>
                        </a:spcBef>
                        <a:spcAft>
                          <a:spcPts val="0"/>
                        </a:spcAft>
                      </a:pPr>
                      <a:r>
                        <a:rPr lang="en-US" sz="2400" dirty="0">
                          <a:latin typeface="Times New Roman"/>
                          <a:ea typeface="MS Mincho"/>
                          <a:cs typeface="Times New Roman"/>
                        </a:rPr>
                        <a:t>(3, 2)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10001"/>
                  </a:ext>
                </a:extLst>
              </a:tr>
              <a:tr h="292100">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1</a:t>
                      </a:r>
                      <a:endParaRPr lang="en-US" sz="2400" dirty="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ctr">
                        <a:spcBef>
                          <a:spcPts val="0"/>
                        </a:spcBef>
                        <a:spcAft>
                          <a:spcPts val="0"/>
                        </a:spcAft>
                      </a:pPr>
                      <a:r>
                        <a:rPr lang="en-US" sz="2400" dirty="0">
                          <a:latin typeface="Times New Roman"/>
                          <a:ea typeface="MS Mincho"/>
                          <a:cs typeface="Times New Roman"/>
                        </a:rPr>
                        <a:t>(1, 1)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ctr">
                        <a:spcBef>
                          <a:spcPts val="0"/>
                        </a:spcBef>
                        <a:spcAft>
                          <a:spcPts val="0"/>
                        </a:spcAft>
                      </a:pPr>
                      <a:r>
                        <a:rPr lang="en-US" sz="2400" dirty="0">
                          <a:latin typeface="Times New Roman"/>
                          <a:ea typeface="MS Mincho"/>
                          <a:cs typeface="Times New Roman"/>
                        </a:rPr>
                        <a:t>(2, 1)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ctr">
                        <a:spcBef>
                          <a:spcPts val="0"/>
                        </a:spcBef>
                        <a:spcAft>
                          <a:spcPts val="0"/>
                        </a:spcAft>
                      </a:pPr>
                      <a:r>
                        <a:rPr lang="en-US" sz="2400" dirty="0">
                          <a:latin typeface="Times New Roman"/>
                          <a:ea typeface="MS Mincho"/>
                          <a:cs typeface="Times New Roman"/>
                        </a:rPr>
                        <a:t>(3, 1)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10002"/>
                  </a:ext>
                </a:extLst>
              </a:tr>
              <a:tr h="292100">
                <a:tc>
                  <a:txBody>
                    <a:bodyPr/>
                    <a:lstStyle/>
                    <a:p>
                      <a:pPr marL="0" marR="0" algn="ctr">
                        <a:spcBef>
                          <a:spcPts val="0"/>
                        </a:spcBef>
                        <a:spcAft>
                          <a:spcPts val="0"/>
                        </a:spcAft>
                      </a:pPr>
                      <a:r>
                        <a:rPr lang="en-US" sz="2400" dirty="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(0, 0)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marL="0" marR="0" algn="ctr">
                        <a:spcBef>
                          <a:spcPts val="0"/>
                        </a:spcBef>
                        <a:spcAft>
                          <a:spcPts val="0"/>
                        </a:spcAft>
                      </a:pPr>
                      <a:r>
                        <a:rPr lang="en-US" sz="2400" dirty="0">
                          <a:latin typeface="Times New Roman"/>
                          <a:ea typeface="MS Mincho"/>
                          <a:cs typeface="Times New Roman"/>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ctr">
                        <a:spcBef>
                          <a:spcPts val="0"/>
                        </a:spcBef>
                        <a:spcAft>
                          <a:spcPts val="0"/>
                        </a:spcAft>
                      </a:pPr>
                      <a:r>
                        <a:rPr lang="en-US" sz="2400" dirty="0">
                          <a:latin typeface="Times New Roman"/>
                          <a:ea typeface="MS Mincho"/>
                          <a:cs typeface="Times New Roman"/>
                        </a:rPr>
                        <a:t>(2,0)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ctr">
                        <a:spcBef>
                          <a:spcPts val="0"/>
                        </a:spcBef>
                        <a:spcAft>
                          <a:spcPts val="0"/>
                        </a:spcAft>
                      </a:pPr>
                      <a:r>
                        <a:rPr lang="en-US" sz="2400" dirty="0">
                          <a:latin typeface="Times New Roman"/>
                          <a:ea typeface="MS Mincho"/>
                          <a:cs typeface="Times New Roman"/>
                        </a:rPr>
                        <a:t>(3,0)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10003"/>
                  </a:ext>
                </a:extLst>
              </a:tr>
              <a:tr h="292100">
                <a:tc rowSpan="2">
                  <a:txBody>
                    <a:bodyPr/>
                    <a:lstStyle/>
                    <a:p>
                      <a:pPr marL="0" marR="0" algn="ctr">
                        <a:spcBef>
                          <a:spcPts val="0"/>
                        </a:spcBef>
                        <a:spcAft>
                          <a:spcPts val="0"/>
                        </a:spcAft>
                      </a:pPr>
                      <a:r>
                        <a:rPr lang="en-US" sz="2400" dirty="0">
                          <a:latin typeface="Times New Roman"/>
                          <a:ea typeface="MS Mincho"/>
                          <a:cs typeface="Times New Roman"/>
                        </a:rPr>
                        <a:t>x</a:t>
                      </a:r>
                      <a:r>
                        <a:rPr lang="en-US" sz="2400" baseline="-25000" dirty="0">
                          <a:latin typeface="Times New Roman"/>
                          <a:ea typeface="MS Mincho"/>
                          <a:cs typeface="Times New Roman"/>
                        </a:rPr>
                        <a:t>1</a:t>
                      </a:r>
                      <a:r>
                        <a:rPr lang="en-US" sz="2400" dirty="0">
                          <a:latin typeface="Times New Roman"/>
                          <a:ea typeface="MS Mincho"/>
                          <a:cs typeface="Times New Roman"/>
                        </a:rPr>
                        <a:t> x</a:t>
                      </a:r>
                      <a:r>
                        <a:rPr lang="en-US" sz="2400" baseline="-25000" dirty="0">
                          <a:latin typeface="Times New Roman"/>
                          <a:ea typeface="MS Mincho"/>
                          <a:cs typeface="Times New Roman"/>
                        </a:rPr>
                        <a:t>2</a:t>
                      </a:r>
                      <a:endParaRPr lang="en-US" sz="2400" dirty="0">
                        <a:latin typeface="Times New Roman"/>
                        <a:ea typeface="MS Mincho"/>
                        <a:cs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gridSpan="2">
                  <a:txBody>
                    <a:bodyPr/>
                    <a:lstStyle/>
                    <a:p>
                      <a:pPr marL="0" marR="0" algn="l">
                        <a:spcBef>
                          <a:spcPts val="0"/>
                        </a:spcBef>
                        <a:spcAft>
                          <a:spcPts val="0"/>
                        </a:spcAft>
                      </a:pPr>
                      <a:r>
                        <a:rPr lang="en-US" sz="2400" dirty="0">
                          <a:latin typeface="Times New Roman"/>
                          <a:ea typeface="MS Mincho"/>
                          <a:cs typeface="Times New Roman"/>
                        </a:rPr>
                        <a:t>Channels  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hMerge="1">
                  <a:txBody>
                    <a:bodyPr/>
                    <a:lstStyle/>
                    <a:p>
                      <a:endParaRPr lang="en-US"/>
                    </a:p>
                  </a:txBody>
                  <a:tcPr/>
                </a:tc>
                <a:tc>
                  <a:txBody>
                    <a:bodyPr/>
                    <a:lstStyle/>
                    <a:p>
                      <a:pPr marL="0" marR="0" algn="ctr">
                        <a:spcBef>
                          <a:spcPts val="0"/>
                        </a:spcBef>
                        <a:spcAft>
                          <a:spcPts val="0"/>
                        </a:spcAft>
                      </a:pPr>
                      <a:r>
                        <a:rPr lang="en-US" sz="240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extLst>
                  <a:ext uri="{0D108BD9-81ED-4DB2-BD59-A6C34878D82A}">
                    <a16:rowId xmlns="" xmlns:a16="http://schemas.microsoft.com/office/drawing/2014/main" val="10004"/>
                  </a:ext>
                </a:extLst>
              </a:tr>
              <a:tr h="292100">
                <a:tc vMerge="1">
                  <a:txBody>
                    <a:bodyPr/>
                    <a:lstStyle/>
                    <a:p>
                      <a:endParaRPr lang="en-US"/>
                    </a:p>
                  </a:txBody>
                  <a:tcPr/>
                </a:tc>
                <a:tc gridSpan="2">
                  <a:txBody>
                    <a:bodyPr/>
                    <a:lstStyle/>
                    <a:p>
                      <a:pPr marL="0" marR="0" algn="ctr">
                        <a:spcBef>
                          <a:spcPts val="0"/>
                        </a:spcBef>
                        <a:spcAft>
                          <a:spcPts val="0"/>
                        </a:spcAft>
                      </a:pPr>
                      <a:r>
                        <a:rPr lang="en-US" sz="2400" dirty="0">
                          <a:latin typeface="Times New Roman"/>
                          <a:ea typeface="MS Mincho"/>
                          <a:cs typeface="Times New Roman"/>
                        </a:rPr>
                        <a:t>          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hMerge="1">
                  <a:txBody>
                    <a:bodyPr/>
                    <a:lstStyle/>
                    <a:p>
                      <a:endParaRPr lang="en-US"/>
                    </a:p>
                  </a:txBody>
                  <a:tcPr/>
                </a:tc>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2</a:t>
                      </a:r>
                      <a:endParaRPr lang="en-US" sz="2400" dirty="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30000" dirty="0">
                          <a:latin typeface="Times New Roman"/>
                          <a:ea typeface="MS Mincho"/>
                          <a:cs typeface="Times New Roman"/>
                        </a:rPr>
                        <a:t>2</a:t>
                      </a:r>
                      <a:r>
                        <a:rPr lang="en-US" sz="2400" baseline="-25000" dirty="0">
                          <a:latin typeface="Times New Roman"/>
                          <a:ea typeface="MS Mincho"/>
                          <a:cs typeface="Times New Roman"/>
                        </a:rPr>
                        <a:t>2</a:t>
                      </a:r>
                      <a:r>
                        <a:rPr lang="en-US" sz="2400" dirty="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30000" dirty="0">
                          <a:latin typeface="Times New Roman"/>
                          <a:ea typeface="MS Mincho"/>
                          <a:cs typeface="Times New Roman"/>
                        </a:rPr>
                        <a:t>3</a:t>
                      </a:r>
                      <a:r>
                        <a:rPr lang="en-US" sz="2400" baseline="-25000" dirty="0">
                          <a:latin typeface="Times New Roman"/>
                          <a:ea typeface="MS Mincho"/>
                          <a:cs typeface="Times New Roman"/>
                        </a:rPr>
                        <a:t>2</a:t>
                      </a:r>
                      <a:r>
                        <a:rPr lang="en-US" sz="2400" dirty="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extLst>
                  <a:ext uri="{0D108BD9-81ED-4DB2-BD59-A6C34878D82A}">
                    <a16:rowId xmlns="" xmlns:a16="http://schemas.microsoft.com/office/drawing/2014/main" val="10005"/>
                  </a:ext>
                </a:extLst>
              </a:tr>
            </a:tbl>
          </a:graphicData>
        </a:graphic>
      </p:graphicFrame>
      <p:sp>
        <p:nvSpPr>
          <p:cNvPr id="7" name="TextBox 6"/>
          <p:cNvSpPr txBox="1"/>
          <p:nvPr/>
        </p:nvSpPr>
        <p:spPr>
          <a:xfrm>
            <a:off x="228600" y="533400"/>
            <a:ext cx="8686800" cy="1200329"/>
          </a:xfrm>
          <a:prstGeom prst="rect">
            <a:avLst/>
          </a:prstGeom>
          <a:solidFill>
            <a:srgbClr val="FFCCCC"/>
          </a:solidFill>
        </p:spPr>
        <p:txBody>
          <a:bodyPr wrap="square" rtlCol="0">
            <a:spAutoFit/>
          </a:bodyPr>
          <a:lstStyle/>
          <a:p>
            <a:pPr algn="just"/>
            <a:r>
              <a:rPr lang="en-US" dirty="0"/>
              <a:t>Tabular solution of combined traffic for </a:t>
            </a:r>
            <a:r>
              <a:rPr lang="en-US" i="1" dirty="0"/>
              <a:t>n</a:t>
            </a:r>
            <a:r>
              <a:rPr lang="en-US" dirty="0"/>
              <a:t> = 3 channels; where the offered traffic of newly originating call is </a:t>
            </a:r>
            <a:r>
              <a:rPr lang="en-US" i="1" dirty="0"/>
              <a:t>A</a:t>
            </a:r>
            <a:r>
              <a:rPr lang="en-US" baseline="-25000" dirty="0"/>
              <a:t>1</a:t>
            </a:r>
            <a:r>
              <a:rPr lang="en-US" dirty="0"/>
              <a:t> and that of handover call is </a:t>
            </a:r>
            <a:r>
              <a:rPr lang="en-US" i="1" dirty="0"/>
              <a:t>A</a:t>
            </a:r>
            <a:r>
              <a:rPr lang="en-US" baseline="-25000" dirty="0"/>
              <a:t>2</a:t>
            </a:r>
            <a:r>
              <a:rPr lang="en-US" dirty="0"/>
              <a:t>. </a:t>
            </a:r>
          </a:p>
        </p:txBody>
      </p:sp>
    </p:spTree>
    <p:extLst>
      <p:ext uri="{BB962C8B-B14F-4D97-AF65-F5344CB8AC3E}">
        <p14:creationId xmlns:p14="http://schemas.microsoft.com/office/powerpoint/2010/main" val="2241898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12</a:t>
            </a:fld>
            <a:endParaRPr lang="en-US"/>
          </a:p>
        </p:txBody>
      </p:sp>
      <p:graphicFrame>
        <p:nvGraphicFramePr>
          <p:cNvPr id="5" name="Table 4"/>
          <p:cNvGraphicFramePr>
            <a:graphicFrameLocks noGrp="1"/>
          </p:cNvGraphicFramePr>
          <p:nvPr>
            <p:extLst/>
          </p:nvPr>
        </p:nvGraphicFramePr>
        <p:xfrm>
          <a:off x="1181098" y="2743200"/>
          <a:ext cx="6781803" cy="2194560"/>
        </p:xfrm>
        <a:graphic>
          <a:graphicData uri="http://schemas.openxmlformats.org/drawingml/2006/table">
            <a:tbl>
              <a:tblPr/>
              <a:tblGrid>
                <a:gridCol w="1326874">
                  <a:extLst>
                    <a:ext uri="{9D8B030D-6E8A-4147-A177-3AD203B41FA5}">
                      <a16:colId xmlns="" xmlns:a16="http://schemas.microsoft.com/office/drawing/2014/main" val="20000"/>
                    </a:ext>
                  </a:extLst>
                </a:gridCol>
                <a:gridCol w="875656">
                  <a:extLst>
                    <a:ext uri="{9D8B030D-6E8A-4147-A177-3AD203B41FA5}">
                      <a16:colId xmlns="" xmlns:a16="http://schemas.microsoft.com/office/drawing/2014/main" val="20001"/>
                    </a:ext>
                  </a:extLst>
                </a:gridCol>
                <a:gridCol w="1049794">
                  <a:extLst>
                    <a:ext uri="{9D8B030D-6E8A-4147-A177-3AD203B41FA5}">
                      <a16:colId xmlns="" xmlns:a16="http://schemas.microsoft.com/office/drawing/2014/main" val="20002"/>
                    </a:ext>
                  </a:extLst>
                </a:gridCol>
                <a:gridCol w="1221743">
                  <a:extLst>
                    <a:ext uri="{9D8B030D-6E8A-4147-A177-3AD203B41FA5}">
                      <a16:colId xmlns="" xmlns:a16="http://schemas.microsoft.com/office/drawing/2014/main" val="20003"/>
                    </a:ext>
                  </a:extLst>
                </a:gridCol>
                <a:gridCol w="1221743">
                  <a:extLst>
                    <a:ext uri="{9D8B030D-6E8A-4147-A177-3AD203B41FA5}">
                      <a16:colId xmlns="" xmlns:a16="http://schemas.microsoft.com/office/drawing/2014/main" val="20004"/>
                    </a:ext>
                  </a:extLst>
                </a:gridCol>
                <a:gridCol w="1085993">
                  <a:extLst>
                    <a:ext uri="{9D8B030D-6E8A-4147-A177-3AD203B41FA5}">
                      <a16:colId xmlns="" xmlns:a16="http://schemas.microsoft.com/office/drawing/2014/main" val="20005"/>
                    </a:ext>
                  </a:extLst>
                </a:gridCol>
              </a:tblGrid>
              <a:tr h="289560">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1</a:t>
                      </a:r>
                      <a:r>
                        <a:rPr lang="en-US" sz="2400" baseline="30000" dirty="0">
                          <a:latin typeface="Times New Roman"/>
                          <a:ea typeface="MS Mincho"/>
                          <a:cs typeface="Times New Roman"/>
                        </a:rPr>
                        <a:t>3</a:t>
                      </a:r>
                      <a:r>
                        <a:rPr lang="en-US" sz="2400" dirty="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(0, 3)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2400" dirty="0">
                          <a:latin typeface="Times New Roman"/>
                          <a:ea typeface="MS Mincho"/>
                          <a:cs typeface="Times New Roman"/>
                        </a:rPr>
                        <a:t>(1, 3)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marL="0" marR="0" algn="ctr">
                        <a:spcBef>
                          <a:spcPts val="0"/>
                        </a:spcBef>
                        <a:spcAft>
                          <a:spcPts val="0"/>
                        </a:spcAft>
                      </a:pPr>
                      <a:r>
                        <a:rPr lang="en-US" sz="2400" dirty="0">
                          <a:latin typeface="Times New Roman"/>
                          <a:ea typeface="MS Mincho"/>
                          <a:cs typeface="Times New Roman"/>
                        </a:rPr>
                        <a:t>(2, 3)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marL="0" marR="0" algn="ctr">
                        <a:spcBef>
                          <a:spcPts val="0"/>
                        </a:spcBef>
                        <a:spcAft>
                          <a:spcPts val="0"/>
                        </a:spcAft>
                      </a:pPr>
                      <a:r>
                        <a:rPr lang="en-US" sz="2400" dirty="0">
                          <a:latin typeface="Times New Roman"/>
                          <a:ea typeface="MS Mincho"/>
                          <a:cs typeface="Times New Roman"/>
                        </a:rPr>
                        <a:t>(3, 3)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 xmlns:a16="http://schemas.microsoft.com/office/drawing/2014/main" val="10000"/>
                  </a:ext>
                </a:extLst>
              </a:tr>
              <a:tr h="292100">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1</a:t>
                      </a:r>
                      <a:r>
                        <a:rPr lang="en-US" sz="2400" baseline="30000" dirty="0">
                          <a:latin typeface="Times New Roman"/>
                          <a:ea typeface="MS Mincho"/>
                          <a:cs typeface="Times New Roman"/>
                        </a:rPr>
                        <a:t>2</a:t>
                      </a:r>
                      <a:r>
                        <a:rPr lang="en-US" sz="2400" dirty="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(0, 2)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2400" dirty="0">
                          <a:latin typeface="Times New Roman"/>
                          <a:ea typeface="MS Mincho"/>
                          <a:cs typeface="Times New Roman"/>
                        </a:rPr>
                        <a:t>(1, 2)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2400" dirty="0">
                          <a:latin typeface="Times New Roman"/>
                          <a:ea typeface="MS Mincho"/>
                          <a:cs typeface="Times New Roman"/>
                        </a:rPr>
                        <a:t>(2, 2)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marL="0" marR="0" algn="ctr">
                        <a:spcBef>
                          <a:spcPts val="0"/>
                        </a:spcBef>
                        <a:spcAft>
                          <a:spcPts val="0"/>
                        </a:spcAft>
                      </a:pPr>
                      <a:r>
                        <a:rPr lang="en-US" sz="2400" dirty="0">
                          <a:latin typeface="Times New Roman"/>
                          <a:ea typeface="MS Mincho"/>
                          <a:cs typeface="Times New Roman"/>
                        </a:rPr>
                        <a:t>(3, 2)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 xmlns:a16="http://schemas.microsoft.com/office/drawing/2014/main" val="10001"/>
                  </a:ext>
                </a:extLst>
              </a:tr>
              <a:tr h="292100">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1</a:t>
                      </a:r>
                      <a:endParaRPr lang="en-US" sz="2400" dirty="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2400" dirty="0">
                          <a:latin typeface="Times New Roman"/>
                          <a:ea typeface="MS Mincho"/>
                          <a:cs typeface="Times New Roman"/>
                        </a:rPr>
                        <a:t>(1, 1)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2400" dirty="0">
                          <a:latin typeface="Times New Roman"/>
                          <a:ea typeface="MS Mincho"/>
                          <a:cs typeface="Times New Roman"/>
                        </a:rPr>
                        <a:t>(2, 1)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2400" dirty="0">
                          <a:latin typeface="Times New Roman"/>
                          <a:ea typeface="MS Mincho"/>
                          <a:cs typeface="Times New Roman"/>
                        </a:rPr>
                        <a:t>(3, 1)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 xmlns:a16="http://schemas.microsoft.com/office/drawing/2014/main" val="10002"/>
                  </a:ext>
                </a:extLst>
              </a:tr>
              <a:tr h="292100">
                <a:tc>
                  <a:txBody>
                    <a:bodyPr/>
                    <a:lstStyle/>
                    <a:p>
                      <a:pPr marL="0" marR="0" algn="ctr">
                        <a:spcBef>
                          <a:spcPts val="0"/>
                        </a:spcBef>
                        <a:spcAft>
                          <a:spcPts val="0"/>
                        </a:spcAft>
                      </a:pPr>
                      <a:r>
                        <a:rPr lang="en-US" sz="2400" dirty="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(0, 0)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FF00"/>
                    </a:solidFill>
                  </a:tcPr>
                </a:tc>
                <a:tc>
                  <a:txBody>
                    <a:bodyPr/>
                    <a:lstStyle/>
                    <a:p>
                      <a:pPr marL="0" marR="0" algn="ctr">
                        <a:spcBef>
                          <a:spcPts val="0"/>
                        </a:spcBef>
                        <a:spcAft>
                          <a:spcPts val="0"/>
                        </a:spcAft>
                      </a:pPr>
                      <a:r>
                        <a:rPr lang="en-US" sz="2400" dirty="0">
                          <a:latin typeface="Times New Roman"/>
                          <a:ea typeface="MS Mincho"/>
                          <a:cs typeface="Times New Roman"/>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2400" dirty="0">
                          <a:latin typeface="Times New Roman"/>
                          <a:ea typeface="MS Mincho"/>
                          <a:cs typeface="Times New Roman"/>
                        </a:rPr>
                        <a:t>(2,0)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2400" dirty="0">
                          <a:latin typeface="Times New Roman"/>
                          <a:ea typeface="MS Mincho"/>
                          <a:cs typeface="Times New Roman"/>
                        </a:rPr>
                        <a:t>(3,0)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 xmlns:a16="http://schemas.microsoft.com/office/drawing/2014/main" val="10003"/>
                  </a:ext>
                </a:extLst>
              </a:tr>
              <a:tr h="292100">
                <a:tc rowSpan="2">
                  <a:txBody>
                    <a:bodyPr/>
                    <a:lstStyle/>
                    <a:p>
                      <a:pPr marL="0" marR="0" algn="ctr">
                        <a:spcBef>
                          <a:spcPts val="0"/>
                        </a:spcBef>
                        <a:spcAft>
                          <a:spcPts val="0"/>
                        </a:spcAft>
                      </a:pPr>
                      <a:r>
                        <a:rPr lang="en-US" sz="2400" dirty="0">
                          <a:latin typeface="Times New Roman"/>
                          <a:ea typeface="MS Mincho"/>
                          <a:cs typeface="Times New Roman"/>
                        </a:rPr>
                        <a:t>x</a:t>
                      </a:r>
                      <a:r>
                        <a:rPr lang="en-US" sz="2400" baseline="-25000" dirty="0">
                          <a:latin typeface="Times New Roman"/>
                          <a:ea typeface="MS Mincho"/>
                          <a:cs typeface="Times New Roman"/>
                        </a:rPr>
                        <a:t>1</a:t>
                      </a:r>
                      <a:r>
                        <a:rPr lang="en-US" sz="2400" dirty="0">
                          <a:latin typeface="Times New Roman"/>
                          <a:ea typeface="MS Mincho"/>
                          <a:cs typeface="Times New Roman"/>
                        </a:rPr>
                        <a:t> x</a:t>
                      </a:r>
                      <a:r>
                        <a:rPr lang="en-US" sz="2400" baseline="-25000" dirty="0">
                          <a:latin typeface="Times New Roman"/>
                          <a:ea typeface="MS Mincho"/>
                          <a:cs typeface="Times New Roman"/>
                        </a:rPr>
                        <a:t>2</a:t>
                      </a:r>
                      <a:endParaRPr lang="en-US" sz="2400" dirty="0">
                        <a:latin typeface="Times New Roman"/>
                        <a:ea typeface="MS Mincho"/>
                        <a:cs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gridSpan="2">
                  <a:txBody>
                    <a:bodyPr/>
                    <a:lstStyle/>
                    <a:p>
                      <a:pPr marL="0" marR="0" algn="l">
                        <a:spcBef>
                          <a:spcPts val="0"/>
                        </a:spcBef>
                        <a:spcAft>
                          <a:spcPts val="0"/>
                        </a:spcAft>
                      </a:pPr>
                      <a:r>
                        <a:rPr lang="en-US" sz="2400" dirty="0">
                          <a:latin typeface="Times New Roman"/>
                          <a:ea typeface="MS Mincho"/>
                          <a:cs typeface="Times New Roman"/>
                        </a:rPr>
                        <a:t>Channels  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hMerge="1">
                  <a:txBody>
                    <a:bodyPr/>
                    <a:lstStyle/>
                    <a:p>
                      <a:endParaRPr lang="en-US"/>
                    </a:p>
                  </a:txBody>
                  <a:tcPr/>
                </a:tc>
                <a:tc>
                  <a:txBody>
                    <a:bodyPr/>
                    <a:lstStyle/>
                    <a:p>
                      <a:pPr marL="0" marR="0" algn="ctr">
                        <a:spcBef>
                          <a:spcPts val="0"/>
                        </a:spcBef>
                        <a:spcAft>
                          <a:spcPts val="0"/>
                        </a:spcAft>
                      </a:pPr>
                      <a:r>
                        <a:rPr lang="en-US" sz="240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extLst>
                  <a:ext uri="{0D108BD9-81ED-4DB2-BD59-A6C34878D82A}">
                    <a16:rowId xmlns="" xmlns:a16="http://schemas.microsoft.com/office/drawing/2014/main" val="10004"/>
                  </a:ext>
                </a:extLst>
              </a:tr>
              <a:tr h="292100">
                <a:tc vMerge="1">
                  <a:txBody>
                    <a:bodyPr/>
                    <a:lstStyle/>
                    <a:p>
                      <a:endParaRPr lang="en-US"/>
                    </a:p>
                  </a:txBody>
                  <a:tcPr/>
                </a:tc>
                <a:tc gridSpan="2">
                  <a:txBody>
                    <a:bodyPr/>
                    <a:lstStyle/>
                    <a:p>
                      <a:pPr marL="0" marR="0" algn="ctr">
                        <a:spcBef>
                          <a:spcPts val="0"/>
                        </a:spcBef>
                        <a:spcAft>
                          <a:spcPts val="0"/>
                        </a:spcAft>
                      </a:pPr>
                      <a:r>
                        <a:rPr lang="en-US" sz="2400" dirty="0">
                          <a:latin typeface="Times New Roman"/>
                          <a:ea typeface="MS Mincho"/>
                          <a:cs typeface="Times New Roman"/>
                        </a:rPr>
                        <a:t>          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hMerge="1">
                  <a:txBody>
                    <a:bodyPr/>
                    <a:lstStyle/>
                    <a:p>
                      <a:endParaRPr lang="en-US"/>
                    </a:p>
                  </a:txBody>
                  <a:tcPr/>
                </a:tc>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2</a:t>
                      </a:r>
                      <a:endParaRPr lang="en-US" sz="2400" dirty="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30000" dirty="0">
                          <a:latin typeface="Times New Roman"/>
                          <a:ea typeface="MS Mincho"/>
                          <a:cs typeface="Times New Roman"/>
                        </a:rPr>
                        <a:t>2</a:t>
                      </a:r>
                      <a:r>
                        <a:rPr lang="en-US" sz="2400" baseline="-25000" dirty="0">
                          <a:latin typeface="Times New Roman"/>
                          <a:ea typeface="MS Mincho"/>
                          <a:cs typeface="Times New Roman"/>
                        </a:rPr>
                        <a:t>2</a:t>
                      </a:r>
                      <a:r>
                        <a:rPr lang="en-US" sz="2400" dirty="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30000" dirty="0">
                          <a:latin typeface="Times New Roman"/>
                          <a:ea typeface="MS Mincho"/>
                          <a:cs typeface="Times New Roman"/>
                        </a:rPr>
                        <a:t>3</a:t>
                      </a:r>
                      <a:r>
                        <a:rPr lang="en-US" sz="2400" baseline="-25000" dirty="0">
                          <a:latin typeface="Times New Roman"/>
                          <a:ea typeface="MS Mincho"/>
                          <a:cs typeface="Times New Roman"/>
                        </a:rPr>
                        <a:t>2</a:t>
                      </a:r>
                      <a:r>
                        <a:rPr lang="en-US" sz="2400" dirty="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extLst>
                  <a:ext uri="{0D108BD9-81ED-4DB2-BD59-A6C34878D82A}">
                    <a16:rowId xmlns="" xmlns:a16="http://schemas.microsoft.com/office/drawing/2014/main" val="10005"/>
                  </a:ext>
                </a:extLst>
              </a:tr>
            </a:tbl>
          </a:graphicData>
        </a:graphic>
      </p:graphicFrame>
      <p:sp>
        <p:nvSpPr>
          <p:cNvPr id="6" name="TextBox 5"/>
          <p:cNvSpPr txBox="1"/>
          <p:nvPr/>
        </p:nvSpPr>
        <p:spPr>
          <a:xfrm>
            <a:off x="228600" y="533400"/>
            <a:ext cx="8686800" cy="1200329"/>
          </a:xfrm>
          <a:prstGeom prst="rect">
            <a:avLst/>
          </a:prstGeom>
          <a:solidFill>
            <a:srgbClr val="FFCCCC"/>
          </a:solidFill>
        </p:spPr>
        <p:txBody>
          <a:bodyPr wrap="square" rtlCol="0">
            <a:spAutoFit/>
          </a:bodyPr>
          <a:lstStyle/>
          <a:p>
            <a:pPr algn="just"/>
            <a:r>
              <a:rPr lang="en-US" dirty="0"/>
              <a:t>Tabular solution of combined traffic for </a:t>
            </a:r>
            <a:r>
              <a:rPr lang="en-US" i="1" dirty="0"/>
              <a:t>n</a:t>
            </a:r>
            <a:r>
              <a:rPr lang="en-US" dirty="0"/>
              <a:t> = 3 channels; where the offered traffic of newly originating call is </a:t>
            </a:r>
            <a:r>
              <a:rPr lang="en-US" i="1" dirty="0"/>
              <a:t>A</a:t>
            </a:r>
            <a:r>
              <a:rPr lang="en-US" baseline="-25000" dirty="0"/>
              <a:t>1</a:t>
            </a:r>
            <a:r>
              <a:rPr lang="en-US" dirty="0"/>
              <a:t> and that of handover call is </a:t>
            </a:r>
            <a:r>
              <a:rPr lang="en-US" i="1" dirty="0"/>
              <a:t>A</a:t>
            </a:r>
            <a:r>
              <a:rPr lang="en-US" baseline="-25000" dirty="0"/>
              <a:t>2</a:t>
            </a:r>
            <a:r>
              <a:rPr lang="en-US" dirty="0"/>
              <a:t>. </a:t>
            </a:r>
          </a:p>
        </p:txBody>
      </p:sp>
    </p:spTree>
    <p:extLst>
      <p:ext uri="{BB962C8B-B14F-4D97-AF65-F5344CB8AC3E}">
        <p14:creationId xmlns:p14="http://schemas.microsoft.com/office/powerpoint/2010/main" val="3217617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13</a:t>
            </a:fld>
            <a:endParaRPr lang="en-US"/>
          </a:p>
        </p:txBody>
      </p:sp>
      <p:graphicFrame>
        <p:nvGraphicFramePr>
          <p:cNvPr id="6" name="Table 5"/>
          <p:cNvGraphicFramePr>
            <a:graphicFrameLocks noGrp="1"/>
          </p:cNvGraphicFramePr>
          <p:nvPr>
            <p:extLst/>
          </p:nvPr>
        </p:nvGraphicFramePr>
        <p:xfrm>
          <a:off x="973280" y="2438400"/>
          <a:ext cx="6781803" cy="2194560"/>
        </p:xfrm>
        <a:graphic>
          <a:graphicData uri="http://schemas.openxmlformats.org/drawingml/2006/table">
            <a:tbl>
              <a:tblPr/>
              <a:tblGrid>
                <a:gridCol w="1326874">
                  <a:extLst>
                    <a:ext uri="{9D8B030D-6E8A-4147-A177-3AD203B41FA5}">
                      <a16:colId xmlns="" xmlns:a16="http://schemas.microsoft.com/office/drawing/2014/main" val="20000"/>
                    </a:ext>
                  </a:extLst>
                </a:gridCol>
                <a:gridCol w="875656">
                  <a:extLst>
                    <a:ext uri="{9D8B030D-6E8A-4147-A177-3AD203B41FA5}">
                      <a16:colId xmlns="" xmlns:a16="http://schemas.microsoft.com/office/drawing/2014/main" val="20001"/>
                    </a:ext>
                  </a:extLst>
                </a:gridCol>
                <a:gridCol w="1049794">
                  <a:extLst>
                    <a:ext uri="{9D8B030D-6E8A-4147-A177-3AD203B41FA5}">
                      <a16:colId xmlns="" xmlns:a16="http://schemas.microsoft.com/office/drawing/2014/main" val="20002"/>
                    </a:ext>
                  </a:extLst>
                </a:gridCol>
                <a:gridCol w="1221743">
                  <a:extLst>
                    <a:ext uri="{9D8B030D-6E8A-4147-A177-3AD203B41FA5}">
                      <a16:colId xmlns="" xmlns:a16="http://schemas.microsoft.com/office/drawing/2014/main" val="20003"/>
                    </a:ext>
                  </a:extLst>
                </a:gridCol>
                <a:gridCol w="1221743">
                  <a:extLst>
                    <a:ext uri="{9D8B030D-6E8A-4147-A177-3AD203B41FA5}">
                      <a16:colId xmlns="" xmlns:a16="http://schemas.microsoft.com/office/drawing/2014/main" val="20004"/>
                    </a:ext>
                  </a:extLst>
                </a:gridCol>
                <a:gridCol w="1085993">
                  <a:extLst>
                    <a:ext uri="{9D8B030D-6E8A-4147-A177-3AD203B41FA5}">
                      <a16:colId xmlns="" xmlns:a16="http://schemas.microsoft.com/office/drawing/2014/main" val="20005"/>
                    </a:ext>
                  </a:extLst>
                </a:gridCol>
              </a:tblGrid>
              <a:tr h="292100">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1</a:t>
                      </a:r>
                      <a:r>
                        <a:rPr lang="en-US" sz="2400" baseline="30000" dirty="0">
                          <a:latin typeface="Times New Roman"/>
                          <a:ea typeface="MS Mincho"/>
                          <a:cs typeface="Times New Roman"/>
                        </a:rPr>
                        <a:t>3</a:t>
                      </a:r>
                      <a:r>
                        <a:rPr lang="en-US" sz="2400" dirty="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i="0" dirty="0">
                          <a:latin typeface="Times New Roman"/>
                          <a:ea typeface="MS Mincho"/>
                          <a:cs typeface="Times New Roman"/>
                        </a:rPr>
                        <a:t>A</a:t>
                      </a:r>
                      <a:r>
                        <a:rPr lang="en-US" sz="2400" baseline="-25000" dirty="0">
                          <a:latin typeface="Times New Roman"/>
                          <a:ea typeface="MS Mincho"/>
                          <a:cs typeface="Times New Roman"/>
                        </a:rPr>
                        <a:t>1</a:t>
                      </a:r>
                      <a:r>
                        <a:rPr lang="en-US" sz="2400" baseline="30000" dirty="0">
                          <a:latin typeface="Times New Roman"/>
                          <a:ea typeface="MS Mincho"/>
                          <a:cs typeface="Times New Roman"/>
                        </a:rPr>
                        <a:t>3</a:t>
                      </a:r>
                      <a:r>
                        <a:rPr lang="en-US" sz="2400" dirty="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endParaRPr lang="en-US" sz="24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marL="0" marR="0" algn="ctr">
                        <a:spcBef>
                          <a:spcPts val="0"/>
                        </a:spcBef>
                        <a:spcAft>
                          <a:spcPts val="0"/>
                        </a:spcAft>
                      </a:pPr>
                      <a:endParaRPr lang="en-US" sz="2400" dirty="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marL="0" marR="0" algn="ctr">
                        <a:spcBef>
                          <a:spcPts val="0"/>
                        </a:spcBef>
                        <a:spcAft>
                          <a:spcPts val="0"/>
                        </a:spcAft>
                      </a:pPr>
                      <a:endParaRPr lang="en-US" sz="2400" dirty="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 xmlns:a16="http://schemas.microsoft.com/office/drawing/2014/main" val="10000"/>
                  </a:ext>
                </a:extLst>
              </a:tr>
              <a:tr h="292100">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1</a:t>
                      </a:r>
                      <a:r>
                        <a:rPr lang="en-US" sz="2400" baseline="30000" dirty="0">
                          <a:latin typeface="Times New Roman"/>
                          <a:ea typeface="MS Mincho"/>
                          <a:cs typeface="Times New Roman"/>
                        </a:rPr>
                        <a:t>2</a:t>
                      </a:r>
                      <a:r>
                        <a:rPr lang="en-US" sz="2400" dirty="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a:latin typeface="Times New Roman"/>
                          <a:ea typeface="MS Mincho"/>
                          <a:cs typeface="Times New Roman"/>
                        </a:rPr>
                        <a:t>A</a:t>
                      </a:r>
                      <a:r>
                        <a:rPr lang="en-US" sz="2400" baseline="-25000">
                          <a:latin typeface="Times New Roman"/>
                          <a:ea typeface="MS Mincho"/>
                          <a:cs typeface="Times New Roman"/>
                        </a:rPr>
                        <a:t>1</a:t>
                      </a:r>
                      <a:r>
                        <a:rPr lang="en-US" sz="2400" baseline="30000">
                          <a:latin typeface="Times New Roman"/>
                          <a:ea typeface="MS Mincho"/>
                          <a:cs typeface="Times New Roman"/>
                        </a:rPr>
                        <a:t>2</a:t>
                      </a:r>
                      <a:r>
                        <a:rPr lang="en-US" sz="240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2400">
                          <a:latin typeface="Times New Roman"/>
                          <a:ea typeface="MS Mincho"/>
                          <a:cs typeface="Times New Roman"/>
                        </a:rPr>
                        <a:t>A</a:t>
                      </a:r>
                      <a:r>
                        <a:rPr lang="en-US" sz="2400" baseline="-25000">
                          <a:latin typeface="Times New Roman"/>
                          <a:ea typeface="MS Mincho"/>
                          <a:cs typeface="Times New Roman"/>
                        </a:rPr>
                        <a:t>2</a:t>
                      </a:r>
                      <a:r>
                        <a:rPr lang="en-US" sz="2400">
                          <a:latin typeface="Times New Roman"/>
                          <a:ea typeface="MS Mincho"/>
                          <a:cs typeface="Times New Roman"/>
                        </a:rPr>
                        <a:t>A</a:t>
                      </a:r>
                      <a:r>
                        <a:rPr lang="en-US" sz="2400" baseline="-25000">
                          <a:latin typeface="Times New Roman"/>
                          <a:ea typeface="MS Mincho"/>
                          <a:cs typeface="Times New Roman"/>
                        </a:rPr>
                        <a:t>1</a:t>
                      </a:r>
                      <a:r>
                        <a:rPr lang="en-US" sz="2400" baseline="30000">
                          <a:latin typeface="Times New Roman"/>
                          <a:ea typeface="MS Mincho"/>
                          <a:cs typeface="Times New Roman"/>
                        </a:rPr>
                        <a:t>2</a:t>
                      </a:r>
                      <a:r>
                        <a:rPr lang="en-US" sz="240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endParaRPr lang="en-US" sz="24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marL="0" marR="0" algn="ctr">
                        <a:spcBef>
                          <a:spcPts val="0"/>
                        </a:spcBef>
                        <a:spcAft>
                          <a:spcPts val="0"/>
                        </a:spcAft>
                      </a:pPr>
                      <a:endParaRPr lang="en-US" sz="2400" dirty="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 xmlns:a16="http://schemas.microsoft.com/office/drawing/2014/main" val="10001"/>
                  </a:ext>
                </a:extLst>
              </a:tr>
              <a:tr h="292100">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1</a:t>
                      </a:r>
                      <a:endParaRPr lang="en-US" sz="2400" dirty="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a:latin typeface="Times New Roman"/>
                          <a:ea typeface="MS Mincho"/>
                          <a:cs typeface="Times New Roman"/>
                        </a:rPr>
                        <a:t>A</a:t>
                      </a:r>
                      <a:r>
                        <a:rPr lang="en-US" sz="2400" baseline="-25000">
                          <a:latin typeface="Times New Roman"/>
                          <a:ea typeface="MS Mincho"/>
                          <a:cs typeface="Times New Roman"/>
                        </a:rPr>
                        <a:t>1</a:t>
                      </a:r>
                      <a:endParaRPr lang="en-US" sz="24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2400">
                          <a:latin typeface="Times New Roman"/>
                          <a:ea typeface="MS Mincho"/>
                          <a:cs typeface="Times New Roman"/>
                        </a:rPr>
                        <a:t>A</a:t>
                      </a:r>
                      <a:r>
                        <a:rPr lang="en-US" sz="2400" baseline="-25000">
                          <a:latin typeface="Times New Roman"/>
                          <a:ea typeface="MS Mincho"/>
                          <a:cs typeface="Times New Roman"/>
                        </a:rPr>
                        <a:t>2</a:t>
                      </a:r>
                      <a:r>
                        <a:rPr lang="en-US" sz="2400">
                          <a:latin typeface="Times New Roman"/>
                          <a:ea typeface="MS Mincho"/>
                          <a:cs typeface="Times New Roman"/>
                        </a:rPr>
                        <a:t> A</a:t>
                      </a:r>
                      <a:r>
                        <a:rPr lang="en-US" sz="2400" baseline="-25000">
                          <a:latin typeface="Times New Roman"/>
                          <a:ea typeface="MS Mincho"/>
                          <a:cs typeface="Times New Roman"/>
                        </a:rPr>
                        <a:t>1</a:t>
                      </a:r>
                      <a:endParaRPr lang="en-US" sz="24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2400">
                          <a:latin typeface="Times New Roman"/>
                          <a:ea typeface="MS Mincho"/>
                          <a:cs typeface="Times New Roman"/>
                        </a:rPr>
                        <a:t>A</a:t>
                      </a:r>
                      <a:r>
                        <a:rPr lang="en-US" sz="2400" baseline="-25000">
                          <a:latin typeface="Times New Roman"/>
                          <a:ea typeface="MS Mincho"/>
                          <a:cs typeface="Times New Roman"/>
                        </a:rPr>
                        <a:t>1</a:t>
                      </a:r>
                      <a:r>
                        <a:rPr lang="en-US" sz="2400">
                          <a:latin typeface="Times New Roman"/>
                          <a:ea typeface="MS Mincho"/>
                          <a:cs typeface="Times New Roman"/>
                        </a:rPr>
                        <a:t>A</a:t>
                      </a:r>
                      <a:r>
                        <a:rPr lang="en-US" sz="2400" baseline="30000">
                          <a:latin typeface="Times New Roman"/>
                          <a:ea typeface="MS Mincho"/>
                          <a:cs typeface="Times New Roman"/>
                        </a:rPr>
                        <a:t>2</a:t>
                      </a:r>
                      <a:r>
                        <a:rPr lang="en-US" sz="2400" baseline="-25000">
                          <a:latin typeface="Times New Roman"/>
                          <a:ea typeface="MS Mincho"/>
                          <a:cs typeface="Times New Roman"/>
                        </a:rPr>
                        <a:t>2</a:t>
                      </a:r>
                      <a:r>
                        <a:rPr lang="en-US" sz="240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endParaRPr lang="en-US" sz="2400" dirty="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 xmlns:a16="http://schemas.microsoft.com/office/drawing/2014/main" val="10002"/>
                  </a:ext>
                </a:extLst>
              </a:tr>
              <a:tr h="292100">
                <a:tc>
                  <a:txBody>
                    <a:bodyPr/>
                    <a:lstStyle/>
                    <a:p>
                      <a:pPr marL="0" marR="0" algn="ctr">
                        <a:spcBef>
                          <a:spcPts val="0"/>
                        </a:spcBef>
                        <a:spcAft>
                          <a:spcPts val="0"/>
                        </a:spcAft>
                      </a:pPr>
                      <a:r>
                        <a:rPr lang="en-US" sz="2400" dirty="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FF00"/>
                    </a:solidFill>
                  </a:tcPr>
                </a:tc>
                <a:tc>
                  <a:txBody>
                    <a:bodyPr/>
                    <a:lstStyle/>
                    <a:p>
                      <a:pPr marL="0" marR="0" algn="ctr">
                        <a:spcBef>
                          <a:spcPts val="0"/>
                        </a:spcBef>
                        <a:spcAft>
                          <a:spcPts val="0"/>
                        </a:spcAft>
                      </a:pPr>
                      <a:r>
                        <a:rPr lang="en-US" sz="2400">
                          <a:latin typeface="Times New Roman"/>
                          <a:ea typeface="MS Mincho"/>
                          <a:cs typeface="Times New Roman"/>
                        </a:rPr>
                        <a:t>A</a:t>
                      </a:r>
                      <a:r>
                        <a:rPr lang="en-US" sz="2400" baseline="-25000">
                          <a:latin typeface="Times New Roman"/>
                          <a:ea typeface="MS Mincho"/>
                          <a:cs typeface="Times New Roman"/>
                        </a:rPr>
                        <a:t>2</a:t>
                      </a:r>
                      <a:endParaRPr lang="en-US" sz="24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2400">
                          <a:latin typeface="Times New Roman"/>
                          <a:ea typeface="MS Mincho"/>
                          <a:cs typeface="Times New Roman"/>
                        </a:rPr>
                        <a:t>A</a:t>
                      </a:r>
                      <a:r>
                        <a:rPr lang="en-US" sz="2400" baseline="30000">
                          <a:latin typeface="Times New Roman"/>
                          <a:ea typeface="MS Mincho"/>
                          <a:cs typeface="Times New Roman"/>
                        </a:rPr>
                        <a:t>2</a:t>
                      </a:r>
                      <a:r>
                        <a:rPr lang="en-US" sz="2400" baseline="-25000">
                          <a:latin typeface="Times New Roman"/>
                          <a:ea typeface="MS Mincho"/>
                          <a:cs typeface="Times New Roman"/>
                        </a:rPr>
                        <a:t>2</a:t>
                      </a:r>
                      <a:r>
                        <a:rPr lang="en-US" sz="240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2400">
                          <a:latin typeface="Times New Roman"/>
                          <a:ea typeface="MS Mincho"/>
                          <a:cs typeface="Times New Roman"/>
                        </a:rPr>
                        <a:t>A</a:t>
                      </a:r>
                      <a:r>
                        <a:rPr lang="en-US" sz="2400" baseline="30000">
                          <a:latin typeface="Times New Roman"/>
                          <a:ea typeface="MS Mincho"/>
                          <a:cs typeface="Times New Roman"/>
                        </a:rPr>
                        <a:t>3</a:t>
                      </a:r>
                      <a:r>
                        <a:rPr lang="en-US" sz="2400" baseline="-25000">
                          <a:latin typeface="Times New Roman"/>
                          <a:ea typeface="MS Mincho"/>
                          <a:cs typeface="Times New Roman"/>
                        </a:rPr>
                        <a:t>2</a:t>
                      </a:r>
                      <a:r>
                        <a:rPr lang="en-US" sz="240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 xmlns:a16="http://schemas.microsoft.com/office/drawing/2014/main" val="10003"/>
                  </a:ext>
                </a:extLst>
              </a:tr>
              <a:tr h="292100">
                <a:tc rowSpan="2">
                  <a:txBody>
                    <a:bodyPr/>
                    <a:lstStyle/>
                    <a:p>
                      <a:pPr marL="0" marR="0" algn="ctr">
                        <a:spcBef>
                          <a:spcPts val="0"/>
                        </a:spcBef>
                        <a:spcAft>
                          <a:spcPts val="0"/>
                        </a:spcAft>
                      </a:pPr>
                      <a:r>
                        <a:rPr lang="en-US" sz="2400" dirty="0">
                          <a:latin typeface="Times New Roman"/>
                          <a:ea typeface="MS Mincho"/>
                          <a:cs typeface="Times New Roman"/>
                        </a:rPr>
                        <a:t>x</a:t>
                      </a:r>
                      <a:r>
                        <a:rPr lang="en-US" sz="2400" baseline="-25000" dirty="0">
                          <a:latin typeface="Times New Roman"/>
                          <a:ea typeface="MS Mincho"/>
                          <a:cs typeface="Times New Roman"/>
                        </a:rPr>
                        <a:t>1</a:t>
                      </a:r>
                      <a:r>
                        <a:rPr lang="en-US" sz="2400" dirty="0">
                          <a:latin typeface="Times New Roman"/>
                          <a:ea typeface="MS Mincho"/>
                          <a:cs typeface="Times New Roman"/>
                        </a:rPr>
                        <a:t> x</a:t>
                      </a:r>
                      <a:r>
                        <a:rPr lang="en-US" sz="2400" baseline="-25000" dirty="0">
                          <a:latin typeface="Times New Roman"/>
                          <a:ea typeface="MS Mincho"/>
                          <a:cs typeface="Times New Roman"/>
                        </a:rPr>
                        <a:t>2</a:t>
                      </a:r>
                      <a:endParaRPr lang="en-US" sz="2400" dirty="0">
                        <a:latin typeface="Times New Roman"/>
                        <a:ea typeface="MS Mincho"/>
                        <a:cs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gridSpan="2">
                  <a:txBody>
                    <a:bodyPr/>
                    <a:lstStyle/>
                    <a:p>
                      <a:pPr marL="0" marR="0" algn="l">
                        <a:spcBef>
                          <a:spcPts val="0"/>
                        </a:spcBef>
                        <a:spcAft>
                          <a:spcPts val="0"/>
                        </a:spcAft>
                      </a:pPr>
                      <a:r>
                        <a:rPr lang="en-US" sz="2400" dirty="0">
                          <a:latin typeface="Times New Roman"/>
                          <a:ea typeface="MS Mincho"/>
                          <a:cs typeface="Times New Roman"/>
                        </a:rPr>
                        <a:t>n   ↑→     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hMerge="1">
                  <a:txBody>
                    <a:bodyPr/>
                    <a:lstStyle/>
                    <a:p>
                      <a:endParaRPr lang="en-US"/>
                    </a:p>
                  </a:txBody>
                  <a:tcPr/>
                </a:tc>
                <a:tc>
                  <a:txBody>
                    <a:bodyPr/>
                    <a:lstStyle/>
                    <a:p>
                      <a:pPr marL="0" marR="0" algn="ctr">
                        <a:spcBef>
                          <a:spcPts val="0"/>
                        </a:spcBef>
                        <a:spcAft>
                          <a:spcPts val="0"/>
                        </a:spcAft>
                      </a:pPr>
                      <a:r>
                        <a:rPr lang="en-US" sz="240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extLst>
                  <a:ext uri="{0D108BD9-81ED-4DB2-BD59-A6C34878D82A}">
                    <a16:rowId xmlns="" xmlns:a16="http://schemas.microsoft.com/office/drawing/2014/main" val="10004"/>
                  </a:ext>
                </a:extLst>
              </a:tr>
              <a:tr h="292100">
                <a:tc vMerge="1">
                  <a:txBody>
                    <a:bodyPr/>
                    <a:lstStyle/>
                    <a:p>
                      <a:endParaRPr lang="en-US"/>
                    </a:p>
                  </a:txBody>
                  <a:tcPr/>
                </a:tc>
                <a:tc gridSpan="2">
                  <a:txBody>
                    <a:bodyPr/>
                    <a:lstStyle/>
                    <a:p>
                      <a:pPr marL="0" marR="0" algn="ctr">
                        <a:spcBef>
                          <a:spcPts val="0"/>
                        </a:spcBef>
                        <a:spcAft>
                          <a:spcPts val="0"/>
                        </a:spcAft>
                      </a:pPr>
                      <a:r>
                        <a:rPr lang="en-US" sz="2400" dirty="0">
                          <a:latin typeface="Times New Roman"/>
                          <a:ea typeface="MS Mincho"/>
                          <a:cs typeface="Times New Roman"/>
                        </a:rPr>
                        <a:t>          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hMerge="1">
                  <a:txBody>
                    <a:bodyPr/>
                    <a:lstStyle/>
                    <a:p>
                      <a:endParaRPr lang="en-US"/>
                    </a:p>
                  </a:txBody>
                  <a:tcPr/>
                </a:tc>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2</a:t>
                      </a:r>
                      <a:endParaRPr lang="en-US" sz="2400" dirty="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30000" dirty="0">
                          <a:latin typeface="Times New Roman"/>
                          <a:ea typeface="MS Mincho"/>
                          <a:cs typeface="Times New Roman"/>
                        </a:rPr>
                        <a:t>2</a:t>
                      </a:r>
                      <a:r>
                        <a:rPr lang="en-US" sz="2400" baseline="-25000" dirty="0">
                          <a:latin typeface="Times New Roman"/>
                          <a:ea typeface="MS Mincho"/>
                          <a:cs typeface="Times New Roman"/>
                        </a:rPr>
                        <a:t>2</a:t>
                      </a:r>
                      <a:r>
                        <a:rPr lang="en-US" sz="2400" dirty="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30000" dirty="0">
                          <a:latin typeface="Times New Roman"/>
                          <a:ea typeface="MS Mincho"/>
                          <a:cs typeface="Times New Roman"/>
                        </a:rPr>
                        <a:t>3</a:t>
                      </a:r>
                      <a:r>
                        <a:rPr lang="en-US" sz="2400" baseline="-25000" dirty="0">
                          <a:latin typeface="Times New Roman"/>
                          <a:ea typeface="MS Mincho"/>
                          <a:cs typeface="Times New Roman"/>
                        </a:rPr>
                        <a:t>2</a:t>
                      </a:r>
                      <a:r>
                        <a:rPr lang="en-US" sz="2400" dirty="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extLst>
                  <a:ext uri="{0D108BD9-81ED-4DB2-BD59-A6C34878D82A}">
                    <a16:rowId xmlns="" xmlns:a16="http://schemas.microsoft.com/office/drawing/2014/main" val="10005"/>
                  </a:ext>
                </a:extLst>
              </a:tr>
            </a:tbl>
          </a:graphicData>
        </a:graphic>
      </p:graphicFrame>
      <p:sp>
        <p:nvSpPr>
          <p:cNvPr id="7" name="TextBox 6"/>
          <p:cNvSpPr txBox="1"/>
          <p:nvPr/>
        </p:nvSpPr>
        <p:spPr>
          <a:xfrm>
            <a:off x="228600" y="457200"/>
            <a:ext cx="8686800" cy="1384995"/>
          </a:xfrm>
          <a:prstGeom prst="rect">
            <a:avLst/>
          </a:prstGeom>
          <a:solidFill>
            <a:srgbClr val="FFCCCC"/>
          </a:solidFill>
        </p:spPr>
        <p:txBody>
          <a:bodyPr wrap="square" rtlCol="0">
            <a:spAutoFit/>
          </a:bodyPr>
          <a:lstStyle/>
          <a:p>
            <a:pPr algn="just"/>
            <a:r>
              <a:rPr lang="en-US" sz="2800" dirty="0"/>
              <a:t>Tabular solution of combined traffic for </a:t>
            </a:r>
            <a:r>
              <a:rPr lang="en-US" sz="2800" i="1" dirty="0"/>
              <a:t>n</a:t>
            </a:r>
            <a:r>
              <a:rPr lang="en-US" sz="2800" dirty="0"/>
              <a:t> = 3 channels; where the offered traffic of newly originating call is </a:t>
            </a:r>
            <a:r>
              <a:rPr lang="en-US" sz="2800" i="1" dirty="0"/>
              <a:t>A</a:t>
            </a:r>
            <a:r>
              <a:rPr lang="en-US" sz="2800" baseline="-25000" dirty="0"/>
              <a:t>1</a:t>
            </a:r>
            <a:r>
              <a:rPr lang="en-US" sz="2800" dirty="0"/>
              <a:t> and that of handover call is </a:t>
            </a:r>
            <a:r>
              <a:rPr lang="en-US" sz="2800" i="1" dirty="0"/>
              <a:t>A</a:t>
            </a:r>
            <a:r>
              <a:rPr lang="en-US" sz="2800" baseline="-25000" dirty="0"/>
              <a:t>2</a:t>
            </a:r>
            <a:r>
              <a:rPr lang="en-US" sz="2800" dirty="0"/>
              <a:t>. </a:t>
            </a:r>
          </a:p>
        </p:txBody>
      </p:sp>
    </p:spTree>
    <p:extLst>
      <p:ext uri="{BB962C8B-B14F-4D97-AF65-F5344CB8AC3E}">
        <p14:creationId xmlns:p14="http://schemas.microsoft.com/office/powerpoint/2010/main" val="80835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14</a:t>
            </a:fld>
            <a:endParaRPr lang="en-US"/>
          </a:p>
        </p:txBody>
      </p:sp>
      <p:graphicFrame>
        <p:nvGraphicFramePr>
          <p:cNvPr id="5" name="Table 4"/>
          <p:cNvGraphicFramePr>
            <a:graphicFrameLocks noGrp="1"/>
          </p:cNvGraphicFramePr>
          <p:nvPr>
            <p:extLst/>
          </p:nvPr>
        </p:nvGraphicFramePr>
        <p:xfrm>
          <a:off x="914400" y="1752600"/>
          <a:ext cx="6781803" cy="2194560"/>
        </p:xfrm>
        <a:graphic>
          <a:graphicData uri="http://schemas.openxmlformats.org/drawingml/2006/table">
            <a:tbl>
              <a:tblPr/>
              <a:tblGrid>
                <a:gridCol w="1326874">
                  <a:extLst>
                    <a:ext uri="{9D8B030D-6E8A-4147-A177-3AD203B41FA5}">
                      <a16:colId xmlns="" xmlns:a16="http://schemas.microsoft.com/office/drawing/2014/main" val="20000"/>
                    </a:ext>
                  </a:extLst>
                </a:gridCol>
                <a:gridCol w="875656">
                  <a:extLst>
                    <a:ext uri="{9D8B030D-6E8A-4147-A177-3AD203B41FA5}">
                      <a16:colId xmlns="" xmlns:a16="http://schemas.microsoft.com/office/drawing/2014/main" val="20001"/>
                    </a:ext>
                  </a:extLst>
                </a:gridCol>
                <a:gridCol w="1049794">
                  <a:extLst>
                    <a:ext uri="{9D8B030D-6E8A-4147-A177-3AD203B41FA5}">
                      <a16:colId xmlns="" xmlns:a16="http://schemas.microsoft.com/office/drawing/2014/main" val="20002"/>
                    </a:ext>
                  </a:extLst>
                </a:gridCol>
                <a:gridCol w="1221743">
                  <a:extLst>
                    <a:ext uri="{9D8B030D-6E8A-4147-A177-3AD203B41FA5}">
                      <a16:colId xmlns="" xmlns:a16="http://schemas.microsoft.com/office/drawing/2014/main" val="20003"/>
                    </a:ext>
                  </a:extLst>
                </a:gridCol>
                <a:gridCol w="1221743">
                  <a:extLst>
                    <a:ext uri="{9D8B030D-6E8A-4147-A177-3AD203B41FA5}">
                      <a16:colId xmlns="" xmlns:a16="http://schemas.microsoft.com/office/drawing/2014/main" val="20004"/>
                    </a:ext>
                  </a:extLst>
                </a:gridCol>
                <a:gridCol w="1085993">
                  <a:extLst>
                    <a:ext uri="{9D8B030D-6E8A-4147-A177-3AD203B41FA5}">
                      <a16:colId xmlns="" xmlns:a16="http://schemas.microsoft.com/office/drawing/2014/main" val="20005"/>
                    </a:ext>
                  </a:extLst>
                </a:gridCol>
              </a:tblGrid>
              <a:tr h="292100">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1</a:t>
                      </a:r>
                      <a:r>
                        <a:rPr lang="en-US" sz="2400" baseline="30000" dirty="0">
                          <a:latin typeface="Times New Roman"/>
                          <a:ea typeface="MS Mincho"/>
                          <a:cs typeface="Times New Roman"/>
                        </a:rPr>
                        <a:t>3</a:t>
                      </a:r>
                      <a:r>
                        <a:rPr lang="en-US" sz="2400" dirty="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i="0" dirty="0">
                          <a:latin typeface="Times New Roman"/>
                          <a:ea typeface="MS Mincho"/>
                          <a:cs typeface="Times New Roman"/>
                        </a:rPr>
                        <a:t>A</a:t>
                      </a:r>
                      <a:r>
                        <a:rPr lang="en-US" sz="2400" baseline="-25000" dirty="0">
                          <a:latin typeface="Times New Roman"/>
                          <a:ea typeface="MS Mincho"/>
                          <a:cs typeface="Times New Roman"/>
                        </a:rPr>
                        <a:t>1</a:t>
                      </a:r>
                      <a:r>
                        <a:rPr lang="en-US" sz="2400" baseline="30000" dirty="0">
                          <a:latin typeface="Times New Roman"/>
                          <a:ea typeface="MS Mincho"/>
                          <a:cs typeface="Times New Roman"/>
                        </a:rPr>
                        <a:t>3</a:t>
                      </a:r>
                      <a:r>
                        <a:rPr lang="en-US" sz="2400" dirty="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FF"/>
                    </a:solidFill>
                  </a:tcPr>
                </a:tc>
                <a:tc>
                  <a:txBody>
                    <a:bodyPr/>
                    <a:lstStyle/>
                    <a:p>
                      <a:pPr marL="0" marR="0" algn="ctr">
                        <a:spcBef>
                          <a:spcPts val="0"/>
                        </a:spcBef>
                        <a:spcAft>
                          <a:spcPts val="0"/>
                        </a:spcAft>
                      </a:pPr>
                      <a:endParaRPr lang="en-US" sz="2400" dirty="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spcBef>
                          <a:spcPts val="0"/>
                        </a:spcBef>
                        <a:spcAft>
                          <a:spcPts val="0"/>
                        </a:spcAft>
                      </a:pPr>
                      <a:endParaRPr lang="en-US" sz="2400" dirty="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spcBef>
                          <a:spcPts val="0"/>
                        </a:spcBef>
                        <a:spcAft>
                          <a:spcPts val="0"/>
                        </a:spcAft>
                      </a:pPr>
                      <a:endParaRPr lang="en-US" sz="2400" dirty="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0000"/>
                  </a:ext>
                </a:extLst>
              </a:tr>
              <a:tr h="292100">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1</a:t>
                      </a:r>
                      <a:r>
                        <a:rPr lang="en-US" sz="2400" baseline="30000" dirty="0">
                          <a:latin typeface="Times New Roman"/>
                          <a:ea typeface="MS Mincho"/>
                          <a:cs typeface="Times New Roman"/>
                        </a:rPr>
                        <a:t>2</a:t>
                      </a:r>
                      <a:r>
                        <a:rPr lang="en-US" sz="2400" dirty="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a:latin typeface="Times New Roman"/>
                          <a:ea typeface="MS Mincho"/>
                          <a:cs typeface="Times New Roman"/>
                        </a:rPr>
                        <a:t>A</a:t>
                      </a:r>
                      <a:r>
                        <a:rPr lang="en-US" sz="2400" baseline="-25000">
                          <a:latin typeface="Times New Roman"/>
                          <a:ea typeface="MS Mincho"/>
                          <a:cs typeface="Times New Roman"/>
                        </a:rPr>
                        <a:t>1</a:t>
                      </a:r>
                      <a:r>
                        <a:rPr lang="en-US" sz="2400" baseline="30000">
                          <a:latin typeface="Times New Roman"/>
                          <a:ea typeface="MS Mincho"/>
                          <a:cs typeface="Times New Roman"/>
                        </a:rPr>
                        <a:t>2</a:t>
                      </a:r>
                      <a:r>
                        <a:rPr lang="en-US" sz="240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2</a:t>
                      </a:r>
                      <a:r>
                        <a:rPr lang="en-US" sz="2400" dirty="0">
                          <a:latin typeface="Times New Roman"/>
                          <a:ea typeface="MS Mincho"/>
                          <a:cs typeface="Times New Roman"/>
                        </a:rPr>
                        <a:t>A</a:t>
                      </a:r>
                      <a:r>
                        <a:rPr lang="en-US" sz="2400" baseline="-25000" dirty="0">
                          <a:latin typeface="Times New Roman"/>
                          <a:ea typeface="MS Mincho"/>
                          <a:cs typeface="Times New Roman"/>
                        </a:rPr>
                        <a:t>1</a:t>
                      </a:r>
                      <a:r>
                        <a:rPr lang="en-US" sz="2400" baseline="30000" dirty="0">
                          <a:latin typeface="Times New Roman"/>
                          <a:ea typeface="MS Mincho"/>
                          <a:cs typeface="Times New Roman"/>
                        </a:rPr>
                        <a:t>2</a:t>
                      </a:r>
                      <a:r>
                        <a:rPr lang="en-US" sz="2400" dirty="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FF"/>
                    </a:solidFill>
                  </a:tcPr>
                </a:tc>
                <a:tc>
                  <a:txBody>
                    <a:bodyPr/>
                    <a:lstStyle/>
                    <a:p>
                      <a:pPr marL="0" marR="0" algn="ctr">
                        <a:spcBef>
                          <a:spcPts val="0"/>
                        </a:spcBef>
                        <a:spcAft>
                          <a:spcPts val="0"/>
                        </a:spcAft>
                      </a:pPr>
                      <a:endParaRPr lang="en-US" sz="2400" dirty="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spcBef>
                          <a:spcPts val="0"/>
                        </a:spcBef>
                        <a:spcAft>
                          <a:spcPts val="0"/>
                        </a:spcAft>
                      </a:pPr>
                      <a:endParaRPr lang="en-US" sz="2400" dirty="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0001"/>
                  </a:ext>
                </a:extLst>
              </a:tr>
              <a:tr h="292100">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1</a:t>
                      </a:r>
                      <a:endParaRPr lang="en-US" sz="2400" dirty="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a:latin typeface="Times New Roman"/>
                          <a:ea typeface="MS Mincho"/>
                          <a:cs typeface="Times New Roman"/>
                        </a:rPr>
                        <a:t>A</a:t>
                      </a:r>
                      <a:r>
                        <a:rPr lang="en-US" sz="2400" baseline="-25000">
                          <a:latin typeface="Times New Roman"/>
                          <a:ea typeface="MS Mincho"/>
                          <a:cs typeface="Times New Roman"/>
                        </a:rPr>
                        <a:t>1</a:t>
                      </a:r>
                      <a:endParaRPr lang="en-US" sz="24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2400">
                          <a:latin typeface="Times New Roman"/>
                          <a:ea typeface="MS Mincho"/>
                          <a:cs typeface="Times New Roman"/>
                        </a:rPr>
                        <a:t>A</a:t>
                      </a:r>
                      <a:r>
                        <a:rPr lang="en-US" sz="2400" baseline="-25000">
                          <a:latin typeface="Times New Roman"/>
                          <a:ea typeface="MS Mincho"/>
                          <a:cs typeface="Times New Roman"/>
                        </a:rPr>
                        <a:t>2</a:t>
                      </a:r>
                      <a:r>
                        <a:rPr lang="en-US" sz="2400">
                          <a:latin typeface="Times New Roman"/>
                          <a:ea typeface="MS Mincho"/>
                          <a:cs typeface="Times New Roman"/>
                        </a:rPr>
                        <a:t> A</a:t>
                      </a:r>
                      <a:r>
                        <a:rPr lang="en-US" sz="2400" baseline="-25000">
                          <a:latin typeface="Times New Roman"/>
                          <a:ea typeface="MS Mincho"/>
                          <a:cs typeface="Times New Roman"/>
                        </a:rPr>
                        <a:t>1</a:t>
                      </a:r>
                      <a:endParaRPr lang="en-US" sz="24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1</a:t>
                      </a:r>
                      <a:r>
                        <a:rPr lang="en-US" sz="2400" dirty="0">
                          <a:latin typeface="Times New Roman"/>
                          <a:ea typeface="MS Mincho"/>
                          <a:cs typeface="Times New Roman"/>
                        </a:rPr>
                        <a:t>A</a:t>
                      </a:r>
                      <a:r>
                        <a:rPr lang="en-US" sz="2400" baseline="30000" dirty="0">
                          <a:latin typeface="Times New Roman"/>
                          <a:ea typeface="MS Mincho"/>
                          <a:cs typeface="Times New Roman"/>
                        </a:rPr>
                        <a:t>2</a:t>
                      </a:r>
                      <a:r>
                        <a:rPr lang="en-US" sz="2400" baseline="-25000" dirty="0">
                          <a:latin typeface="Times New Roman"/>
                          <a:ea typeface="MS Mincho"/>
                          <a:cs typeface="Times New Roman"/>
                        </a:rPr>
                        <a:t>2</a:t>
                      </a:r>
                      <a:r>
                        <a:rPr lang="en-US" sz="2400" dirty="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FF"/>
                    </a:solidFill>
                  </a:tcPr>
                </a:tc>
                <a:tc>
                  <a:txBody>
                    <a:bodyPr/>
                    <a:lstStyle/>
                    <a:p>
                      <a:pPr marL="0" marR="0" algn="ctr">
                        <a:spcBef>
                          <a:spcPts val="0"/>
                        </a:spcBef>
                        <a:spcAft>
                          <a:spcPts val="0"/>
                        </a:spcAft>
                      </a:pPr>
                      <a:endParaRPr lang="en-US" sz="2400" dirty="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0002"/>
                  </a:ext>
                </a:extLst>
              </a:tr>
              <a:tr h="292100">
                <a:tc>
                  <a:txBody>
                    <a:bodyPr/>
                    <a:lstStyle/>
                    <a:p>
                      <a:pPr marL="0" marR="0" algn="ctr">
                        <a:spcBef>
                          <a:spcPts val="0"/>
                        </a:spcBef>
                        <a:spcAft>
                          <a:spcPts val="0"/>
                        </a:spcAft>
                      </a:pPr>
                      <a:r>
                        <a:rPr lang="en-US" sz="2400" dirty="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FF00"/>
                    </a:solidFill>
                  </a:tcPr>
                </a:tc>
                <a:tc>
                  <a:txBody>
                    <a:bodyPr/>
                    <a:lstStyle/>
                    <a:p>
                      <a:pPr marL="0" marR="0" algn="ctr">
                        <a:spcBef>
                          <a:spcPts val="0"/>
                        </a:spcBef>
                        <a:spcAft>
                          <a:spcPts val="0"/>
                        </a:spcAft>
                      </a:pPr>
                      <a:r>
                        <a:rPr lang="en-US" sz="2400">
                          <a:latin typeface="Times New Roman"/>
                          <a:ea typeface="MS Mincho"/>
                          <a:cs typeface="Times New Roman"/>
                        </a:rPr>
                        <a:t>A</a:t>
                      </a:r>
                      <a:r>
                        <a:rPr lang="en-US" sz="2400" baseline="-25000">
                          <a:latin typeface="Times New Roman"/>
                          <a:ea typeface="MS Mincho"/>
                          <a:cs typeface="Times New Roman"/>
                        </a:rPr>
                        <a:t>2</a:t>
                      </a:r>
                      <a:endParaRPr lang="en-US" sz="24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2400">
                          <a:latin typeface="Times New Roman"/>
                          <a:ea typeface="MS Mincho"/>
                          <a:cs typeface="Times New Roman"/>
                        </a:rPr>
                        <a:t>A</a:t>
                      </a:r>
                      <a:r>
                        <a:rPr lang="en-US" sz="2400" baseline="30000">
                          <a:latin typeface="Times New Roman"/>
                          <a:ea typeface="MS Mincho"/>
                          <a:cs typeface="Times New Roman"/>
                        </a:rPr>
                        <a:t>2</a:t>
                      </a:r>
                      <a:r>
                        <a:rPr lang="en-US" sz="2400" baseline="-25000">
                          <a:latin typeface="Times New Roman"/>
                          <a:ea typeface="MS Mincho"/>
                          <a:cs typeface="Times New Roman"/>
                        </a:rPr>
                        <a:t>2</a:t>
                      </a:r>
                      <a:r>
                        <a:rPr lang="en-US" sz="240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30000" dirty="0">
                          <a:latin typeface="Times New Roman"/>
                          <a:ea typeface="MS Mincho"/>
                          <a:cs typeface="Times New Roman"/>
                        </a:rPr>
                        <a:t>3</a:t>
                      </a:r>
                      <a:r>
                        <a:rPr lang="en-US" sz="2400" baseline="-25000" dirty="0">
                          <a:latin typeface="Times New Roman"/>
                          <a:ea typeface="MS Mincho"/>
                          <a:cs typeface="Times New Roman"/>
                        </a:rPr>
                        <a:t>2</a:t>
                      </a:r>
                      <a:r>
                        <a:rPr lang="en-US" sz="2400" dirty="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FF"/>
                    </a:solidFill>
                  </a:tcPr>
                </a:tc>
                <a:extLst>
                  <a:ext uri="{0D108BD9-81ED-4DB2-BD59-A6C34878D82A}">
                    <a16:rowId xmlns="" xmlns:a16="http://schemas.microsoft.com/office/drawing/2014/main" val="10003"/>
                  </a:ext>
                </a:extLst>
              </a:tr>
              <a:tr h="292100">
                <a:tc rowSpan="2">
                  <a:txBody>
                    <a:bodyPr/>
                    <a:lstStyle/>
                    <a:p>
                      <a:pPr marL="0" marR="0" algn="ctr">
                        <a:spcBef>
                          <a:spcPts val="0"/>
                        </a:spcBef>
                        <a:spcAft>
                          <a:spcPts val="0"/>
                        </a:spcAft>
                      </a:pPr>
                      <a:r>
                        <a:rPr lang="en-US" sz="2400" dirty="0">
                          <a:latin typeface="Times New Roman"/>
                          <a:ea typeface="MS Mincho"/>
                          <a:cs typeface="Times New Roman"/>
                        </a:rPr>
                        <a:t>x</a:t>
                      </a:r>
                      <a:r>
                        <a:rPr lang="en-US" sz="2400" baseline="-25000" dirty="0">
                          <a:latin typeface="Times New Roman"/>
                          <a:ea typeface="MS Mincho"/>
                          <a:cs typeface="Times New Roman"/>
                        </a:rPr>
                        <a:t>1</a:t>
                      </a:r>
                      <a:r>
                        <a:rPr lang="en-US" sz="2400" dirty="0">
                          <a:latin typeface="Times New Roman"/>
                          <a:ea typeface="MS Mincho"/>
                          <a:cs typeface="Times New Roman"/>
                        </a:rPr>
                        <a:t> x</a:t>
                      </a:r>
                      <a:r>
                        <a:rPr lang="en-US" sz="2400" baseline="-25000" dirty="0">
                          <a:latin typeface="Times New Roman"/>
                          <a:ea typeface="MS Mincho"/>
                          <a:cs typeface="Times New Roman"/>
                        </a:rPr>
                        <a:t>2</a:t>
                      </a:r>
                      <a:endParaRPr lang="en-US" sz="2400" dirty="0">
                        <a:latin typeface="Times New Roman"/>
                        <a:ea typeface="MS Mincho"/>
                        <a:cs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gridSpan="2">
                  <a:txBody>
                    <a:bodyPr/>
                    <a:lstStyle/>
                    <a:p>
                      <a:pPr marL="0" marR="0" algn="l">
                        <a:spcBef>
                          <a:spcPts val="0"/>
                        </a:spcBef>
                        <a:spcAft>
                          <a:spcPts val="0"/>
                        </a:spcAft>
                      </a:pPr>
                      <a:r>
                        <a:rPr lang="en-US" sz="2400" dirty="0">
                          <a:latin typeface="Times New Roman"/>
                          <a:ea typeface="MS Mincho"/>
                          <a:cs typeface="Times New Roman"/>
                        </a:rPr>
                        <a:t>Channels  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hMerge="1">
                  <a:txBody>
                    <a:bodyPr/>
                    <a:lstStyle/>
                    <a:p>
                      <a:endParaRPr lang="en-US"/>
                    </a:p>
                  </a:txBody>
                  <a:tcPr/>
                </a:tc>
                <a:tc>
                  <a:txBody>
                    <a:bodyPr/>
                    <a:lstStyle/>
                    <a:p>
                      <a:pPr marL="0" marR="0" algn="ctr">
                        <a:spcBef>
                          <a:spcPts val="0"/>
                        </a:spcBef>
                        <a:spcAft>
                          <a:spcPts val="0"/>
                        </a:spcAft>
                      </a:pPr>
                      <a:r>
                        <a:rPr lang="en-US" sz="240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extLst>
                  <a:ext uri="{0D108BD9-81ED-4DB2-BD59-A6C34878D82A}">
                    <a16:rowId xmlns="" xmlns:a16="http://schemas.microsoft.com/office/drawing/2014/main" val="10004"/>
                  </a:ext>
                </a:extLst>
              </a:tr>
              <a:tr h="292100">
                <a:tc vMerge="1">
                  <a:txBody>
                    <a:bodyPr/>
                    <a:lstStyle/>
                    <a:p>
                      <a:endParaRPr lang="en-US"/>
                    </a:p>
                  </a:txBody>
                  <a:tcPr/>
                </a:tc>
                <a:tc gridSpan="2">
                  <a:txBody>
                    <a:bodyPr/>
                    <a:lstStyle/>
                    <a:p>
                      <a:pPr marL="0" marR="0" algn="ctr">
                        <a:spcBef>
                          <a:spcPts val="0"/>
                        </a:spcBef>
                        <a:spcAft>
                          <a:spcPts val="0"/>
                        </a:spcAft>
                      </a:pPr>
                      <a:r>
                        <a:rPr lang="en-US" sz="2400" dirty="0">
                          <a:latin typeface="Times New Roman"/>
                          <a:ea typeface="MS Mincho"/>
                          <a:cs typeface="Times New Roman"/>
                        </a:rPr>
                        <a:t>          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hMerge="1">
                  <a:txBody>
                    <a:bodyPr/>
                    <a:lstStyle/>
                    <a:p>
                      <a:endParaRPr lang="en-US"/>
                    </a:p>
                  </a:txBody>
                  <a:tcPr/>
                </a:tc>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2</a:t>
                      </a:r>
                      <a:endParaRPr lang="en-US" sz="2400" dirty="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30000" dirty="0">
                          <a:latin typeface="Times New Roman"/>
                          <a:ea typeface="MS Mincho"/>
                          <a:cs typeface="Times New Roman"/>
                        </a:rPr>
                        <a:t>2</a:t>
                      </a:r>
                      <a:r>
                        <a:rPr lang="en-US" sz="2400" baseline="-25000" dirty="0">
                          <a:latin typeface="Times New Roman"/>
                          <a:ea typeface="MS Mincho"/>
                          <a:cs typeface="Times New Roman"/>
                        </a:rPr>
                        <a:t>2</a:t>
                      </a:r>
                      <a:r>
                        <a:rPr lang="en-US" sz="2400" dirty="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30000" dirty="0">
                          <a:latin typeface="Times New Roman"/>
                          <a:ea typeface="MS Mincho"/>
                          <a:cs typeface="Times New Roman"/>
                        </a:rPr>
                        <a:t>3</a:t>
                      </a:r>
                      <a:r>
                        <a:rPr lang="en-US" sz="2400" baseline="-25000" dirty="0">
                          <a:latin typeface="Times New Roman"/>
                          <a:ea typeface="MS Mincho"/>
                          <a:cs typeface="Times New Roman"/>
                        </a:rPr>
                        <a:t>2</a:t>
                      </a:r>
                      <a:r>
                        <a:rPr lang="en-US" sz="2400" dirty="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extLst>
                  <a:ext uri="{0D108BD9-81ED-4DB2-BD59-A6C34878D82A}">
                    <a16:rowId xmlns="" xmlns:a16="http://schemas.microsoft.com/office/drawing/2014/main" val="10005"/>
                  </a:ext>
                </a:extLst>
              </a:tr>
            </a:tbl>
          </a:graphicData>
        </a:graphic>
      </p:graphicFrame>
      <p:sp>
        <p:nvSpPr>
          <p:cNvPr id="6" name="Oval 5"/>
          <p:cNvSpPr/>
          <p:nvPr/>
        </p:nvSpPr>
        <p:spPr>
          <a:xfrm rot="1022457">
            <a:off x="3070430" y="2190591"/>
            <a:ext cx="4723971" cy="606563"/>
          </a:xfrm>
          <a:prstGeom prst="ellipse">
            <a:avLst/>
          </a:prstGeom>
          <a:solidFill>
            <a:schemeClr val="accent1">
              <a:alpha val="1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p:nvPr/>
        </p:nvCxnSpPr>
        <p:spPr>
          <a:xfrm flipV="1">
            <a:off x="4876800" y="990600"/>
            <a:ext cx="1752600" cy="1066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4838700" y="499211"/>
            <a:ext cx="3429000" cy="461665"/>
          </a:xfrm>
          <a:prstGeom prst="rect">
            <a:avLst/>
          </a:prstGeom>
          <a:solidFill>
            <a:srgbClr val="CCFFFF"/>
          </a:solidFill>
        </p:spPr>
        <p:txBody>
          <a:bodyPr wrap="square" rtlCol="0">
            <a:spAutoFit/>
          </a:bodyPr>
          <a:lstStyle/>
          <a:p>
            <a:r>
              <a:rPr lang="en-US" dirty="0"/>
              <a:t>Complete occupied states</a:t>
            </a:r>
          </a:p>
        </p:txBody>
      </p:sp>
      <p:sp>
        <p:nvSpPr>
          <p:cNvPr id="10" name="TextBox 9"/>
          <p:cNvSpPr txBox="1"/>
          <p:nvPr/>
        </p:nvSpPr>
        <p:spPr>
          <a:xfrm>
            <a:off x="152400" y="4724400"/>
            <a:ext cx="8305800" cy="523220"/>
          </a:xfrm>
          <a:prstGeom prst="rect">
            <a:avLst/>
          </a:prstGeom>
          <a:noFill/>
        </p:spPr>
        <p:txBody>
          <a:bodyPr wrap="square" rtlCol="0">
            <a:spAutoFit/>
          </a:bodyPr>
          <a:lstStyle/>
          <a:p>
            <a:r>
              <a:rPr lang="en-US" sz="2800" i="1" dirty="0"/>
              <a:t>B</a:t>
            </a:r>
            <a:r>
              <a:rPr lang="en-US" sz="2800" dirty="0"/>
              <a:t>(</a:t>
            </a:r>
            <a:r>
              <a:rPr lang="en-US" sz="2800" i="1" dirty="0"/>
              <a:t>n</a:t>
            </a:r>
            <a:r>
              <a:rPr lang="en-US" sz="2800" dirty="0"/>
              <a:t>, </a:t>
            </a:r>
            <a:r>
              <a:rPr lang="en-US" sz="2800" i="1" dirty="0"/>
              <a:t>A</a:t>
            </a:r>
            <a:r>
              <a:rPr lang="en-US" sz="2800" dirty="0"/>
              <a:t>) = (Complete occupied states)/(sum of all states)</a:t>
            </a:r>
          </a:p>
        </p:txBody>
      </p:sp>
    </p:spTree>
    <p:extLst>
      <p:ext uri="{BB962C8B-B14F-4D97-AF65-F5344CB8AC3E}">
        <p14:creationId xmlns:p14="http://schemas.microsoft.com/office/powerpoint/2010/main" val="3535858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15</a:t>
            </a:fld>
            <a:endParaRPr lang="en-US" dirty="0"/>
          </a:p>
        </p:txBody>
      </p:sp>
      <p:graphicFrame>
        <p:nvGraphicFramePr>
          <p:cNvPr id="6" name="Table 5"/>
          <p:cNvGraphicFramePr>
            <a:graphicFrameLocks noGrp="1"/>
          </p:cNvGraphicFramePr>
          <p:nvPr>
            <p:extLst/>
          </p:nvPr>
        </p:nvGraphicFramePr>
        <p:xfrm>
          <a:off x="304800" y="1330013"/>
          <a:ext cx="8305798" cy="3621592"/>
        </p:xfrm>
        <a:graphic>
          <a:graphicData uri="http://schemas.openxmlformats.org/drawingml/2006/table">
            <a:tbl>
              <a:tblPr/>
              <a:tblGrid>
                <a:gridCol w="885952">
                  <a:extLst>
                    <a:ext uri="{9D8B030D-6E8A-4147-A177-3AD203B41FA5}">
                      <a16:colId xmlns="" xmlns:a16="http://schemas.microsoft.com/office/drawing/2014/main" val="20000"/>
                    </a:ext>
                  </a:extLst>
                </a:gridCol>
                <a:gridCol w="793666">
                  <a:extLst>
                    <a:ext uri="{9D8B030D-6E8A-4147-A177-3AD203B41FA5}">
                      <a16:colId xmlns="" xmlns:a16="http://schemas.microsoft.com/office/drawing/2014/main" val="20001"/>
                    </a:ext>
                  </a:extLst>
                </a:gridCol>
                <a:gridCol w="812122">
                  <a:extLst>
                    <a:ext uri="{9D8B030D-6E8A-4147-A177-3AD203B41FA5}">
                      <a16:colId xmlns="" xmlns:a16="http://schemas.microsoft.com/office/drawing/2014/main" val="20002"/>
                    </a:ext>
                  </a:extLst>
                </a:gridCol>
                <a:gridCol w="775208">
                  <a:extLst>
                    <a:ext uri="{9D8B030D-6E8A-4147-A177-3AD203B41FA5}">
                      <a16:colId xmlns="" xmlns:a16="http://schemas.microsoft.com/office/drawing/2014/main" val="20003"/>
                    </a:ext>
                  </a:extLst>
                </a:gridCol>
                <a:gridCol w="701378">
                  <a:extLst>
                    <a:ext uri="{9D8B030D-6E8A-4147-A177-3AD203B41FA5}">
                      <a16:colId xmlns="" xmlns:a16="http://schemas.microsoft.com/office/drawing/2014/main" val="20004"/>
                    </a:ext>
                  </a:extLst>
                </a:gridCol>
                <a:gridCol w="646006">
                  <a:extLst>
                    <a:ext uri="{9D8B030D-6E8A-4147-A177-3AD203B41FA5}">
                      <a16:colId xmlns="" xmlns:a16="http://schemas.microsoft.com/office/drawing/2014/main" val="20005"/>
                    </a:ext>
                  </a:extLst>
                </a:gridCol>
                <a:gridCol w="664464">
                  <a:extLst>
                    <a:ext uri="{9D8B030D-6E8A-4147-A177-3AD203B41FA5}">
                      <a16:colId xmlns="" xmlns:a16="http://schemas.microsoft.com/office/drawing/2014/main" val="20006"/>
                    </a:ext>
                  </a:extLst>
                </a:gridCol>
                <a:gridCol w="719836">
                  <a:extLst>
                    <a:ext uri="{9D8B030D-6E8A-4147-A177-3AD203B41FA5}">
                      <a16:colId xmlns="" xmlns:a16="http://schemas.microsoft.com/office/drawing/2014/main" val="20007"/>
                    </a:ext>
                  </a:extLst>
                </a:gridCol>
                <a:gridCol w="646006">
                  <a:extLst>
                    <a:ext uri="{9D8B030D-6E8A-4147-A177-3AD203B41FA5}">
                      <a16:colId xmlns="" xmlns:a16="http://schemas.microsoft.com/office/drawing/2014/main" val="20008"/>
                    </a:ext>
                  </a:extLst>
                </a:gridCol>
                <a:gridCol w="682922">
                  <a:extLst>
                    <a:ext uri="{9D8B030D-6E8A-4147-A177-3AD203B41FA5}">
                      <a16:colId xmlns="" xmlns:a16="http://schemas.microsoft.com/office/drawing/2014/main" val="20009"/>
                    </a:ext>
                  </a:extLst>
                </a:gridCol>
                <a:gridCol w="978238">
                  <a:extLst>
                    <a:ext uri="{9D8B030D-6E8A-4147-A177-3AD203B41FA5}">
                      <a16:colId xmlns="" xmlns:a16="http://schemas.microsoft.com/office/drawing/2014/main" val="20010"/>
                    </a:ext>
                  </a:extLst>
                </a:gridCol>
              </a:tblGrid>
              <a:tr h="430911">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8</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r">
                        <a:lnSpc>
                          <a:spcPct val="115000"/>
                        </a:lnSpc>
                        <a:spcBef>
                          <a:spcPts val="0"/>
                        </a:spcBef>
                        <a:spcAft>
                          <a:spcPts val="0"/>
                        </a:spcAft>
                      </a:pPr>
                      <a:r>
                        <a:rPr lang="en-US" sz="1800" b="1" dirty="0">
                          <a:solidFill>
                            <a:srgbClr val="0000FF"/>
                          </a:solidFill>
                          <a:latin typeface="Times New Roman"/>
                          <a:ea typeface="Times New Roman"/>
                          <a:cs typeface="Times New Roman"/>
                        </a:rPr>
                        <a:t>0.1622</a:t>
                      </a:r>
                      <a:endParaRPr lang="en-US" sz="1800" b="1" dirty="0">
                        <a:solidFill>
                          <a:srgbClr val="0000FF"/>
                        </a:solidFill>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algn="ctr">
                        <a:lnSpc>
                          <a:spcPct val="115000"/>
                        </a:lnSpc>
                        <a:spcBef>
                          <a:spcPts val="0"/>
                        </a:spcBef>
                        <a:spcAft>
                          <a:spcPts val="0"/>
                        </a:spcAft>
                      </a:pPr>
                      <a:r>
                        <a:rPr lang="en-US" sz="1800" dirty="0">
                          <a:solidFill>
                            <a:srgbClr val="000000"/>
                          </a:solidFill>
                          <a:latin typeface="Times New Roman"/>
                          <a:ea typeface="Times New Roman"/>
                          <a:cs typeface="Times New Roman"/>
                        </a:rPr>
                        <a:t>0.162</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FF"/>
                    </a:solidFill>
                  </a:tcPr>
                </a:tc>
                <a:tc>
                  <a:txBody>
                    <a:bodyPr/>
                    <a:lstStyle/>
                    <a:p>
                      <a:pPr marL="0" marR="0">
                        <a:lnSpc>
                          <a:spcPct val="115000"/>
                        </a:lnSpc>
                        <a:spcBef>
                          <a:spcPts val="0"/>
                        </a:spcBef>
                        <a:spcAft>
                          <a:spcPts val="0"/>
                        </a:spcAft>
                      </a:pPr>
                      <a:r>
                        <a:rPr lang="en-US" sz="1800" dirty="0">
                          <a:solidFill>
                            <a:srgbClr val="000000"/>
                          </a:solidFill>
                          <a:latin typeface="Times New Roman"/>
                          <a:ea typeface="Times New Roman"/>
                          <a:cs typeface="Times New Roman"/>
                        </a:rPr>
                        <a:t> </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00"/>
                  </a:ext>
                </a:extLst>
              </a:tr>
              <a:tr h="331089">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7</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r">
                        <a:lnSpc>
                          <a:spcPct val="115000"/>
                        </a:lnSpc>
                        <a:spcBef>
                          <a:spcPts val="0"/>
                        </a:spcBef>
                        <a:spcAft>
                          <a:spcPts val="0"/>
                        </a:spcAft>
                      </a:pPr>
                      <a:r>
                        <a:rPr lang="en-US" sz="1800" b="1" dirty="0">
                          <a:solidFill>
                            <a:srgbClr val="0000FF"/>
                          </a:solidFill>
                          <a:latin typeface="Times New Roman"/>
                          <a:ea typeface="Times New Roman"/>
                          <a:cs typeface="Times New Roman"/>
                        </a:rPr>
                        <a:t>0.433</a:t>
                      </a:r>
                      <a:endParaRPr lang="en-US" sz="1800" b="1" dirty="0">
                        <a:solidFill>
                          <a:srgbClr val="0000FF"/>
                        </a:solidFill>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0.433</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0.867</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FF"/>
                    </a:solidFill>
                  </a:tcPr>
                </a:tc>
                <a:tc>
                  <a:txBody>
                    <a:bodyPr/>
                    <a:lstStyle/>
                    <a:p>
                      <a:pPr marL="0" marR="0">
                        <a:lnSpc>
                          <a:spcPct val="115000"/>
                        </a:lnSpc>
                        <a:spcBef>
                          <a:spcPts val="0"/>
                        </a:spcBef>
                        <a:spcAft>
                          <a:spcPts val="0"/>
                        </a:spcAft>
                      </a:pPr>
                      <a:r>
                        <a:rPr lang="en-US" sz="1800" dirty="0">
                          <a:solidFill>
                            <a:srgbClr val="000000"/>
                          </a:solidFill>
                          <a:latin typeface="Times New Roman"/>
                          <a:ea typeface="Times New Roman"/>
                          <a:cs typeface="Times New Roman"/>
                        </a:rPr>
                        <a:t> </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215456">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6</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r">
                        <a:lnSpc>
                          <a:spcPct val="115000"/>
                        </a:lnSpc>
                        <a:spcBef>
                          <a:spcPts val="0"/>
                        </a:spcBef>
                        <a:spcAft>
                          <a:spcPts val="0"/>
                        </a:spcAft>
                      </a:pPr>
                      <a:r>
                        <a:rPr lang="en-US" sz="1800" b="1" dirty="0">
                          <a:solidFill>
                            <a:srgbClr val="0000FF"/>
                          </a:solidFill>
                          <a:latin typeface="Times New Roman"/>
                          <a:ea typeface="Times New Roman"/>
                          <a:cs typeface="Times New Roman"/>
                        </a:rPr>
                        <a:t>1.0125</a:t>
                      </a:r>
                      <a:endParaRPr lang="en-US" sz="1800" b="1" dirty="0">
                        <a:solidFill>
                          <a:srgbClr val="0000FF"/>
                        </a:solidFill>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1.0125</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2.025</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2.025</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02"/>
                  </a:ext>
                </a:extLst>
              </a:tr>
              <a:tr h="215456">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5</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r">
                        <a:lnSpc>
                          <a:spcPct val="115000"/>
                        </a:lnSpc>
                        <a:spcBef>
                          <a:spcPts val="0"/>
                        </a:spcBef>
                        <a:spcAft>
                          <a:spcPts val="0"/>
                        </a:spcAft>
                      </a:pPr>
                      <a:r>
                        <a:rPr lang="en-US" sz="1800" b="1" dirty="0">
                          <a:solidFill>
                            <a:srgbClr val="0000FF"/>
                          </a:solidFill>
                          <a:latin typeface="Times New Roman"/>
                          <a:ea typeface="Times New Roman"/>
                          <a:cs typeface="Times New Roman"/>
                        </a:rPr>
                        <a:t>2.025</a:t>
                      </a:r>
                      <a:endParaRPr lang="en-US" sz="1800" b="1" dirty="0">
                        <a:solidFill>
                          <a:srgbClr val="0000FF"/>
                        </a:solidFill>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2.025</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4.05</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4.05</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lnSpc>
                          <a:spcPct val="115000"/>
                        </a:lnSpc>
                        <a:spcBef>
                          <a:spcPts val="0"/>
                        </a:spcBef>
                        <a:spcAft>
                          <a:spcPts val="0"/>
                        </a:spcAft>
                      </a:pPr>
                      <a:r>
                        <a:rPr lang="en-US" sz="1800" dirty="0">
                          <a:solidFill>
                            <a:srgbClr val="000000"/>
                          </a:solidFill>
                          <a:latin typeface="Times New Roman"/>
                          <a:ea typeface="Times New Roman"/>
                          <a:cs typeface="Times New Roman"/>
                        </a:rPr>
                        <a:t>2.7</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215456">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4</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r">
                        <a:lnSpc>
                          <a:spcPct val="115000"/>
                        </a:lnSpc>
                        <a:spcBef>
                          <a:spcPts val="0"/>
                        </a:spcBef>
                        <a:spcAft>
                          <a:spcPts val="0"/>
                        </a:spcAft>
                      </a:pPr>
                      <a:r>
                        <a:rPr lang="en-US" sz="1800" b="1" dirty="0">
                          <a:solidFill>
                            <a:srgbClr val="0000FF"/>
                          </a:solidFill>
                          <a:latin typeface="Times New Roman"/>
                          <a:ea typeface="Times New Roman"/>
                          <a:cs typeface="Times New Roman"/>
                        </a:rPr>
                        <a:t>3.375</a:t>
                      </a:r>
                      <a:endParaRPr lang="en-US" sz="1800" b="1" dirty="0">
                        <a:solidFill>
                          <a:srgbClr val="0000FF"/>
                        </a:solidFill>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3.375</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6.75</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6.75</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4.5</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2.25</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04"/>
                  </a:ext>
                </a:extLst>
              </a:tr>
              <a:tr h="215456">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3</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r">
                        <a:lnSpc>
                          <a:spcPct val="115000"/>
                        </a:lnSpc>
                        <a:spcBef>
                          <a:spcPts val="0"/>
                        </a:spcBef>
                        <a:spcAft>
                          <a:spcPts val="0"/>
                        </a:spcAft>
                      </a:pPr>
                      <a:r>
                        <a:rPr lang="en-US" sz="1800" b="1" dirty="0">
                          <a:solidFill>
                            <a:srgbClr val="0000FF"/>
                          </a:solidFill>
                          <a:latin typeface="Times New Roman"/>
                          <a:ea typeface="Times New Roman"/>
                          <a:cs typeface="Times New Roman"/>
                        </a:rPr>
                        <a:t>4.5</a:t>
                      </a:r>
                      <a:endParaRPr lang="en-US" sz="1800" b="1" dirty="0">
                        <a:solidFill>
                          <a:srgbClr val="0000FF"/>
                        </a:solidFill>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4.5</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9</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9</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6</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3</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lnSpc>
                          <a:spcPct val="115000"/>
                        </a:lnSpc>
                        <a:spcBef>
                          <a:spcPts val="0"/>
                        </a:spcBef>
                        <a:spcAft>
                          <a:spcPts val="0"/>
                        </a:spcAft>
                      </a:pPr>
                      <a:r>
                        <a:rPr lang="en-US" sz="1800" dirty="0">
                          <a:solidFill>
                            <a:srgbClr val="000000"/>
                          </a:solidFill>
                          <a:latin typeface="Times New Roman"/>
                          <a:ea typeface="Times New Roman"/>
                          <a:cs typeface="Times New Roman"/>
                        </a:rPr>
                        <a:t>1.2</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FF"/>
                    </a:solidFill>
                  </a:tcPr>
                </a:tc>
                <a:tc>
                  <a:txBody>
                    <a:bodyPr/>
                    <a:lstStyle/>
                    <a:p>
                      <a:pPr marL="0" marR="0">
                        <a:lnSpc>
                          <a:spcPct val="115000"/>
                        </a:lnSpc>
                        <a:spcBef>
                          <a:spcPts val="0"/>
                        </a:spcBef>
                        <a:spcAft>
                          <a:spcPts val="0"/>
                        </a:spcAft>
                      </a:pPr>
                      <a:r>
                        <a:rPr lang="en-US" sz="1800" dirty="0">
                          <a:solidFill>
                            <a:srgbClr val="000000"/>
                          </a:solidFill>
                          <a:latin typeface="Times New Roman"/>
                          <a:ea typeface="Times New Roman"/>
                          <a:cs typeface="Times New Roman"/>
                        </a:rPr>
                        <a:t> </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215456">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2</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r">
                        <a:lnSpc>
                          <a:spcPct val="115000"/>
                        </a:lnSpc>
                        <a:spcBef>
                          <a:spcPts val="0"/>
                        </a:spcBef>
                        <a:spcAft>
                          <a:spcPts val="0"/>
                        </a:spcAft>
                      </a:pPr>
                      <a:r>
                        <a:rPr lang="en-US" sz="1800" b="1" dirty="0">
                          <a:solidFill>
                            <a:srgbClr val="0000FF"/>
                          </a:solidFill>
                          <a:latin typeface="Times New Roman"/>
                          <a:ea typeface="Times New Roman"/>
                          <a:cs typeface="Times New Roman"/>
                        </a:rPr>
                        <a:t>4.5</a:t>
                      </a:r>
                      <a:endParaRPr lang="en-US" sz="1800" b="1" dirty="0">
                        <a:solidFill>
                          <a:srgbClr val="0000FF"/>
                        </a:solidFill>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4.5</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9</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9</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6</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3</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1.2</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lnSpc>
                          <a:spcPct val="115000"/>
                        </a:lnSpc>
                        <a:spcBef>
                          <a:spcPts val="0"/>
                        </a:spcBef>
                        <a:spcAft>
                          <a:spcPts val="0"/>
                        </a:spcAft>
                      </a:pPr>
                      <a:r>
                        <a:rPr lang="en-US" sz="1800" dirty="0">
                          <a:solidFill>
                            <a:srgbClr val="000000"/>
                          </a:solidFill>
                          <a:latin typeface="Times New Roman"/>
                          <a:ea typeface="Times New Roman"/>
                          <a:cs typeface="Times New Roman"/>
                        </a:rPr>
                        <a:t>0.4</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06"/>
                  </a:ext>
                </a:extLst>
              </a:tr>
              <a:tr h="251648">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1</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r">
                        <a:lnSpc>
                          <a:spcPct val="115000"/>
                        </a:lnSpc>
                        <a:spcBef>
                          <a:spcPts val="0"/>
                        </a:spcBef>
                        <a:spcAft>
                          <a:spcPts val="0"/>
                        </a:spcAft>
                      </a:pPr>
                      <a:r>
                        <a:rPr lang="en-US" sz="1800" b="1" dirty="0">
                          <a:solidFill>
                            <a:srgbClr val="0000FF"/>
                          </a:solidFill>
                          <a:latin typeface="Times New Roman"/>
                          <a:ea typeface="Times New Roman"/>
                          <a:cs typeface="Times New Roman"/>
                        </a:rPr>
                        <a:t>3</a:t>
                      </a:r>
                      <a:endParaRPr lang="en-US" sz="1800" b="1" dirty="0">
                        <a:solidFill>
                          <a:srgbClr val="0000FF"/>
                        </a:solidFill>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3</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6</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6</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4</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2</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0.8</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0.26</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0.076</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FF"/>
                    </a:solidFill>
                  </a:tcPr>
                </a:tc>
                <a:tc>
                  <a:txBody>
                    <a:bodyPr/>
                    <a:lstStyle/>
                    <a:p>
                      <a:pPr marL="0" marR="0">
                        <a:lnSpc>
                          <a:spcPct val="115000"/>
                        </a:lnSpc>
                        <a:spcBef>
                          <a:spcPts val="0"/>
                        </a:spcBef>
                        <a:spcAft>
                          <a:spcPts val="0"/>
                        </a:spcAft>
                      </a:pPr>
                      <a:r>
                        <a:rPr lang="en-US" sz="1800">
                          <a:solidFill>
                            <a:srgbClr val="000000"/>
                          </a:solidFill>
                          <a:latin typeface="Times New Roman"/>
                          <a:ea typeface="Times New Roman"/>
                          <a:cs typeface="Times New Roman"/>
                        </a:rPr>
                        <a:t> </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07"/>
                  </a:ext>
                </a:extLst>
              </a:tr>
              <a:tr h="239075">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0</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r">
                        <a:lnSpc>
                          <a:spcPct val="115000"/>
                        </a:lnSpc>
                        <a:spcBef>
                          <a:spcPts val="0"/>
                        </a:spcBef>
                        <a:spcAft>
                          <a:spcPts val="0"/>
                        </a:spcAft>
                      </a:pPr>
                      <a:r>
                        <a:rPr lang="en-US" sz="1800" b="1" dirty="0">
                          <a:solidFill>
                            <a:srgbClr val="0000FF"/>
                          </a:solidFill>
                          <a:latin typeface="Times New Roman"/>
                          <a:ea typeface="Times New Roman"/>
                          <a:cs typeface="Times New Roman"/>
                        </a:rPr>
                        <a:t>1</a:t>
                      </a:r>
                      <a:endParaRPr lang="en-US" sz="1800" b="1" dirty="0">
                        <a:solidFill>
                          <a:srgbClr val="0000FF"/>
                        </a:solidFill>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1</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2</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2</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1.33</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0.666</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0.266</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0.08</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0.025</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lnSpc>
                          <a:spcPct val="115000"/>
                        </a:lnSpc>
                        <a:spcBef>
                          <a:spcPts val="0"/>
                        </a:spcBef>
                        <a:spcAft>
                          <a:spcPts val="0"/>
                        </a:spcAft>
                      </a:pPr>
                      <a:r>
                        <a:rPr lang="en-US" sz="1800" dirty="0">
                          <a:solidFill>
                            <a:srgbClr val="000000"/>
                          </a:solidFill>
                          <a:latin typeface="Times New Roman"/>
                          <a:ea typeface="Times New Roman"/>
                          <a:cs typeface="Times New Roman"/>
                        </a:rPr>
                        <a:t>0.0063</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FF"/>
                    </a:solidFill>
                  </a:tcPr>
                </a:tc>
                <a:extLst>
                  <a:ext uri="{0D108BD9-81ED-4DB2-BD59-A6C34878D82A}">
                    <a16:rowId xmlns="" xmlns:a16="http://schemas.microsoft.com/office/drawing/2014/main" val="10008"/>
                  </a:ext>
                </a:extLst>
              </a:tr>
              <a:tr h="335848">
                <a:tc>
                  <a:txBody>
                    <a:bodyPr/>
                    <a:lstStyle/>
                    <a:p>
                      <a:pPr>
                        <a:lnSpc>
                          <a:spcPct val="115000"/>
                        </a:lnSpc>
                      </a:pPr>
                      <a:endParaRPr lang="en-US" sz="1800">
                        <a:latin typeface="Calibri"/>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dirty="0">
                          <a:solidFill>
                            <a:srgbClr val="000000"/>
                          </a:solidFill>
                          <a:latin typeface="Times New Roman"/>
                          <a:ea typeface="Times New Roman"/>
                          <a:cs typeface="Times New Roman"/>
                        </a:rPr>
                        <a:t> </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algn="r">
                        <a:lnSpc>
                          <a:spcPct val="115000"/>
                        </a:lnSpc>
                        <a:spcBef>
                          <a:spcPts val="0"/>
                        </a:spcBef>
                        <a:spcAft>
                          <a:spcPts val="0"/>
                        </a:spcAft>
                      </a:pPr>
                      <a:r>
                        <a:rPr lang="en-US" sz="1800" b="1" dirty="0">
                          <a:solidFill>
                            <a:srgbClr val="0000FF"/>
                          </a:solidFill>
                          <a:latin typeface="Times New Roman"/>
                          <a:ea typeface="Times New Roman"/>
                          <a:cs typeface="Times New Roman"/>
                        </a:rPr>
                        <a:t>1</a:t>
                      </a:r>
                      <a:endParaRPr lang="en-US" sz="1800" b="1" dirty="0">
                        <a:solidFill>
                          <a:srgbClr val="0000FF"/>
                        </a:solidFill>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algn="r">
                        <a:lnSpc>
                          <a:spcPct val="115000"/>
                        </a:lnSpc>
                        <a:spcBef>
                          <a:spcPts val="0"/>
                        </a:spcBef>
                        <a:spcAft>
                          <a:spcPts val="0"/>
                        </a:spcAft>
                      </a:pPr>
                      <a:r>
                        <a:rPr lang="en-US" sz="1800" b="1" dirty="0">
                          <a:solidFill>
                            <a:srgbClr val="0000FF"/>
                          </a:solidFill>
                          <a:latin typeface="Times New Roman"/>
                          <a:ea typeface="Times New Roman"/>
                          <a:cs typeface="Times New Roman"/>
                        </a:rPr>
                        <a:t>2</a:t>
                      </a:r>
                      <a:endParaRPr lang="en-US" sz="1800" b="1" dirty="0">
                        <a:solidFill>
                          <a:srgbClr val="0000FF"/>
                        </a:solidFill>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algn="r">
                        <a:lnSpc>
                          <a:spcPct val="115000"/>
                        </a:lnSpc>
                        <a:spcBef>
                          <a:spcPts val="0"/>
                        </a:spcBef>
                        <a:spcAft>
                          <a:spcPts val="0"/>
                        </a:spcAft>
                      </a:pPr>
                      <a:r>
                        <a:rPr lang="en-US" sz="1800" b="1" dirty="0">
                          <a:solidFill>
                            <a:srgbClr val="0000FF"/>
                          </a:solidFill>
                          <a:latin typeface="Times New Roman"/>
                          <a:ea typeface="Times New Roman"/>
                          <a:cs typeface="Times New Roman"/>
                        </a:rPr>
                        <a:t>2</a:t>
                      </a:r>
                      <a:endParaRPr lang="en-US" sz="1800" b="1" dirty="0">
                        <a:solidFill>
                          <a:srgbClr val="0000FF"/>
                        </a:solidFill>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algn="r">
                        <a:lnSpc>
                          <a:spcPct val="115000"/>
                        </a:lnSpc>
                        <a:spcBef>
                          <a:spcPts val="0"/>
                        </a:spcBef>
                        <a:spcAft>
                          <a:spcPts val="0"/>
                        </a:spcAft>
                      </a:pPr>
                      <a:r>
                        <a:rPr lang="en-US" sz="1800" b="1" dirty="0">
                          <a:solidFill>
                            <a:srgbClr val="0000FF"/>
                          </a:solidFill>
                          <a:latin typeface="Times New Roman"/>
                          <a:ea typeface="Times New Roman"/>
                          <a:cs typeface="Times New Roman"/>
                        </a:rPr>
                        <a:t>1.33</a:t>
                      </a:r>
                      <a:endParaRPr lang="en-US" sz="1800" b="1" dirty="0">
                        <a:solidFill>
                          <a:srgbClr val="0000FF"/>
                        </a:solidFill>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algn="r">
                        <a:lnSpc>
                          <a:spcPct val="115000"/>
                        </a:lnSpc>
                        <a:spcBef>
                          <a:spcPts val="0"/>
                        </a:spcBef>
                        <a:spcAft>
                          <a:spcPts val="0"/>
                        </a:spcAft>
                      </a:pPr>
                      <a:r>
                        <a:rPr lang="en-US" sz="1800" b="1" dirty="0">
                          <a:solidFill>
                            <a:srgbClr val="0000FF"/>
                          </a:solidFill>
                          <a:latin typeface="Times New Roman"/>
                          <a:ea typeface="Times New Roman"/>
                          <a:cs typeface="Times New Roman"/>
                        </a:rPr>
                        <a:t>0.66</a:t>
                      </a:r>
                      <a:endParaRPr lang="en-US" sz="1800" b="1" dirty="0">
                        <a:solidFill>
                          <a:srgbClr val="0000FF"/>
                        </a:solidFill>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algn="r">
                        <a:lnSpc>
                          <a:spcPct val="115000"/>
                        </a:lnSpc>
                        <a:spcBef>
                          <a:spcPts val="0"/>
                        </a:spcBef>
                        <a:spcAft>
                          <a:spcPts val="0"/>
                        </a:spcAft>
                      </a:pPr>
                      <a:r>
                        <a:rPr lang="en-US" sz="1800" b="1" dirty="0">
                          <a:solidFill>
                            <a:srgbClr val="0000FF"/>
                          </a:solidFill>
                          <a:latin typeface="Times New Roman"/>
                          <a:ea typeface="Times New Roman"/>
                          <a:cs typeface="Times New Roman"/>
                        </a:rPr>
                        <a:t>0.266</a:t>
                      </a:r>
                      <a:endParaRPr lang="en-US" sz="1800" b="1" dirty="0">
                        <a:solidFill>
                          <a:srgbClr val="0000FF"/>
                        </a:solidFill>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algn="r">
                        <a:lnSpc>
                          <a:spcPct val="115000"/>
                        </a:lnSpc>
                        <a:spcBef>
                          <a:spcPts val="0"/>
                        </a:spcBef>
                        <a:spcAft>
                          <a:spcPts val="0"/>
                        </a:spcAft>
                      </a:pPr>
                      <a:r>
                        <a:rPr lang="en-US" sz="1800" b="1" dirty="0">
                          <a:solidFill>
                            <a:srgbClr val="0000FF"/>
                          </a:solidFill>
                          <a:latin typeface="Times New Roman"/>
                          <a:ea typeface="Times New Roman"/>
                          <a:cs typeface="Times New Roman"/>
                        </a:rPr>
                        <a:t>0.08</a:t>
                      </a:r>
                      <a:endParaRPr lang="en-US" sz="1800" b="1" dirty="0">
                        <a:solidFill>
                          <a:srgbClr val="0000FF"/>
                        </a:solidFill>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algn="r">
                        <a:lnSpc>
                          <a:spcPct val="115000"/>
                        </a:lnSpc>
                        <a:spcBef>
                          <a:spcPts val="0"/>
                        </a:spcBef>
                        <a:spcAft>
                          <a:spcPts val="0"/>
                        </a:spcAft>
                      </a:pPr>
                      <a:r>
                        <a:rPr lang="en-US" sz="1800" b="1" dirty="0">
                          <a:solidFill>
                            <a:srgbClr val="0000FF"/>
                          </a:solidFill>
                          <a:latin typeface="Times New Roman"/>
                          <a:ea typeface="Times New Roman"/>
                          <a:cs typeface="Times New Roman"/>
                        </a:rPr>
                        <a:t>0.025</a:t>
                      </a:r>
                      <a:endParaRPr lang="en-US" sz="1800" b="1" dirty="0">
                        <a:solidFill>
                          <a:srgbClr val="0000FF"/>
                        </a:solidFill>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algn="r">
                        <a:lnSpc>
                          <a:spcPct val="115000"/>
                        </a:lnSpc>
                        <a:spcBef>
                          <a:spcPts val="0"/>
                        </a:spcBef>
                        <a:spcAft>
                          <a:spcPts val="0"/>
                        </a:spcAft>
                      </a:pPr>
                      <a:r>
                        <a:rPr lang="en-US" sz="1800" b="1" dirty="0">
                          <a:solidFill>
                            <a:srgbClr val="0000FF"/>
                          </a:solidFill>
                          <a:latin typeface="Times New Roman"/>
                          <a:ea typeface="Times New Roman"/>
                          <a:cs typeface="Times New Roman"/>
                        </a:rPr>
                        <a:t>0.0063</a:t>
                      </a:r>
                      <a:endParaRPr lang="en-US" sz="1800" b="1" dirty="0">
                        <a:solidFill>
                          <a:srgbClr val="0000FF"/>
                        </a:solidFill>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 xmlns:a16="http://schemas.microsoft.com/office/drawing/2014/main" val="10009"/>
                  </a:ext>
                </a:extLst>
              </a:tr>
              <a:tr h="215456">
                <a:tc>
                  <a:txBody>
                    <a:bodyPr/>
                    <a:lstStyle/>
                    <a:p>
                      <a:pPr marL="0" marR="0">
                        <a:lnSpc>
                          <a:spcPct val="115000"/>
                        </a:lnSpc>
                        <a:spcBef>
                          <a:spcPts val="0"/>
                        </a:spcBef>
                        <a:spcAft>
                          <a:spcPts val="0"/>
                        </a:spcAft>
                      </a:pPr>
                      <a:r>
                        <a:rPr lang="en-US" sz="1800" dirty="0">
                          <a:solidFill>
                            <a:srgbClr val="000000"/>
                          </a:solidFill>
                          <a:latin typeface="Times New Roman"/>
                          <a:ea typeface="Times New Roman"/>
                          <a:cs typeface="Times New Roman"/>
                        </a:rPr>
                        <a:t>n→↑</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pPr>
                      <a:endParaRPr lang="en-US" sz="1800">
                        <a:latin typeface="Calibri"/>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0</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1</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2</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r">
                        <a:lnSpc>
                          <a:spcPct val="115000"/>
                        </a:lnSpc>
                        <a:spcBef>
                          <a:spcPts val="0"/>
                        </a:spcBef>
                        <a:spcAft>
                          <a:spcPts val="0"/>
                        </a:spcAft>
                      </a:pPr>
                      <a:r>
                        <a:rPr lang="en-US" sz="1800">
                          <a:solidFill>
                            <a:srgbClr val="000000"/>
                          </a:solidFill>
                          <a:latin typeface="Times New Roman"/>
                          <a:ea typeface="Times New Roman"/>
                          <a:cs typeface="Times New Roman"/>
                        </a:rPr>
                        <a:t>3</a:t>
                      </a:r>
                      <a:endParaRPr lang="en-US" sz="180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4</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5</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6</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7</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r">
                        <a:lnSpc>
                          <a:spcPct val="115000"/>
                        </a:lnSpc>
                        <a:spcBef>
                          <a:spcPts val="0"/>
                        </a:spcBef>
                        <a:spcAft>
                          <a:spcPts val="0"/>
                        </a:spcAft>
                      </a:pPr>
                      <a:r>
                        <a:rPr lang="en-US" sz="1800" dirty="0">
                          <a:solidFill>
                            <a:srgbClr val="000000"/>
                          </a:solidFill>
                          <a:latin typeface="Times New Roman"/>
                          <a:ea typeface="Times New Roman"/>
                          <a:cs typeface="Times New Roman"/>
                        </a:rPr>
                        <a:t>8</a:t>
                      </a:r>
                      <a:endParaRPr lang="en-US" sz="1800" dirty="0">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10010"/>
                  </a:ext>
                </a:extLst>
              </a:tr>
            </a:tbl>
          </a:graphicData>
        </a:graphic>
      </p:graphicFrame>
      <p:sp>
        <p:nvSpPr>
          <p:cNvPr id="7" name="TextBox 6"/>
          <p:cNvSpPr txBox="1"/>
          <p:nvPr/>
        </p:nvSpPr>
        <p:spPr>
          <a:xfrm>
            <a:off x="249148" y="5181600"/>
            <a:ext cx="8229600" cy="1200329"/>
          </a:xfrm>
          <a:prstGeom prst="rect">
            <a:avLst/>
          </a:prstGeom>
          <a:noFill/>
        </p:spPr>
        <p:txBody>
          <a:bodyPr wrap="square" rtlCol="0">
            <a:spAutoFit/>
          </a:bodyPr>
          <a:lstStyle/>
          <a:p>
            <a:r>
              <a:rPr lang="en-US" dirty="0"/>
              <a:t>The sum of entire sampling space, S= 138.307</a:t>
            </a:r>
          </a:p>
          <a:p>
            <a:r>
              <a:rPr lang="en-US" dirty="0"/>
              <a:t>The sum of complete occupied state, O = 9.6863</a:t>
            </a:r>
          </a:p>
          <a:p>
            <a:r>
              <a:rPr lang="en-US" dirty="0"/>
              <a:t>Blocking probability, B = O/S =9.6863/138.307 = 0. 07 = 7%</a:t>
            </a:r>
          </a:p>
        </p:txBody>
      </p:sp>
      <p:sp>
        <p:nvSpPr>
          <p:cNvPr id="8" name="TextBox 7"/>
          <p:cNvSpPr txBox="1"/>
          <p:nvPr/>
        </p:nvSpPr>
        <p:spPr>
          <a:xfrm>
            <a:off x="381000" y="0"/>
            <a:ext cx="6172200" cy="830997"/>
          </a:xfrm>
          <a:prstGeom prst="rect">
            <a:avLst/>
          </a:prstGeom>
          <a:solidFill>
            <a:srgbClr val="CCFFFF"/>
          </a:solidFill>
        </p:spPr>
        <p:txBody>
          <a:bodyPr wrap="square" rtlCol="0">
            <a:spAutoFit/>
          </a:bodyPr>
          <a:lstStyle/>
          <a:p>
            <a:r>
              <a:rPr lang="en-US" b="1" dirty="0"/>
              <a:t>Example-2</a:t>
            </a:r>
          </a:p>
          <a:p>
            <a:r>
              <a:rPr lang="en-US" i="1" dirty="0"/>
              <a:t> A</a:t>
            </a:r>
            <a:r>
              <a:rPr lang="en-US" baseline="-25000" dirty="0"/>
              <a:t>1</a:t>
            </a:r>
            <a:r>
              <a:rPr lang="en-US" dirty="0"/>
              <a:t> = 3 and </a:t>
            </a:r>
            <a:r>
              <a:rPr lang="en-US" i="1" dirty="0"/>
              <a:t>A</a:t>
            </a:r>
            <a:r>
              <a:rPr lang="en-US" baseline="-25000" dirty="0"/>
              <a:t>2</a:t>
            </a:r>
            <a:r>
              <a:rPr lang="en-US" dirty="0"/>
              <a:t> = 2, </a:t>
            </a:r>
            <a:r>
              <a:rPr lang="en-US" i="1" dirty="0"/>
              <a:t>n</a:t>
            </a:r>
            <a:r>
              <a:rPr lang="en-US" dirty="0"/>
              <a:t> = 8</a:t>
            </a:r>
          </a:p>
        </p:txBody>
      </p:sp>
      <p:sp>
        <p:nvSpPr>
          <p:cNvPr id="9" name="TextBox 8"/>
          <p:cNvSpPr txBox="1"/>
          <p:nvPr/>
        </p:nvSpPr>
        <p:spPr>
          <a:xfrm>
            <a:off x="381000" y="830997"/>
            <a:ext cx="5867400" cy="461665"/>
          </a:xfrm>
          <a:prstGeom prst="rect">
            <a:avLst/>
          </a:prstGeom>
          <a:noFill/>
        </p:spPr>
        <p:txBody>
          <a:bodyPr wrap="square" rtlCol="0">
            <a:spAutoFit/>
          </a:bodyPr>
          <a:lstStyle/>
          <a:p>
            <a:r>
              <a:rPr lang="en-US" dirty="0"/>
              <a:t>The probability states before normalization</a:t>
            </a:r>
          </a:p>
        </p:txBody>
      </p:sp>
    </p:spTree>
    <p:extLst>
      <p:ext uri="{BB962C8B-B14F-4D97-AF65-F5344CB8AC3E}">
        <p14:creationId xmlns:p14="http://schemas.microsoft.com/office/powerpoint/2010/main" val="1688116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16</a:t>
            </a:fld>
            <a:endParaRPr lang="en-US"/>
          </a:p>
        </p:txBody>
      </p:sp>
      <p:sp>
        <p:nvSpPr>
          <p:cNvPr id="5" name="TextBox 4"/>
          <p:cNvSpPr txBox="1"/>
          <p:nvPr/>
        </p:nvSpPr>
        <p:spPr>
          <a:xfrm>
            <a:off x="152400" y="42208"/>
            <a:ext cx="8839200" cy="1938992"/>
          </a:xfrm>
          <a:prstGeom prst="rect">
            <a:avLst/>
          </a:prstGeom>
          <a:solidFill>
            <a:srgbClr val="CCFFFF"/>
          </a:solidFill>
        </p:spPr>
        <p:txBody>
          <a:bodyPr wrap="square" rtlCol="0">
            <a:spAutoFit/>
          </a:bodyPr>
          <a:lstStyle/>
          <a:p>
            <a:pPr algn="just"/>
            <a:r>
              <a:rPr lang="en-US" b="1" dirty="0"/>
              <a:t>Example-3</a:t>
            </a:r>
          </a:p>
          <a:p>
            <a:pPr algn="just"/>
            <a:r>
              <a:rPr lang="en-US" dirty="0"/>
              <a:t>Let us assume bandwidth of each arrival of A</a:t>
            </a:r>
            <a:r>
              <a:rPr lang="en-US" baseline="-25000" dirty="0"/>
              <a:t>1 </a:t>
            </a:r>
            <a:r>
              <a:rPr lang="en-US" dirty="0"/>
              <a:t>is 2kbps and that of A</a:t>
            </a:r>
            <a:r>
              <a:rPr lang="en-US" baseline="-25000" dirty="0"/>
              <a:t>2 </a:t>
            </a:r>
            <a:r>
              <a:rPr lang="en-US" dirty="0"/>
              <a:t>is 3kbps. Given A</a:t>
            </a:r>
            <a:r>
              <a:rPr lang="en-US" baseline="-25000" dirty="0"/>
              <a:t>1 </a:t>
            </a:r>
            <a:r>
              <a:rPr lang="en-US" dirty="0"/>
              <a:t>= 1 and A</a:t>
            </a:r>
            <a:r>
              <a:rPr lang="en-US" baseline="-25000" dirty="0"/>
              <a:t>2 </a:t>
            </a:r>
            <a:r>
              <a:rPr lang="en-US" dirty="0"/>
              <a:t>= 2 </a:t>
            </a:r>
            <a:r>
              <a:rPr lang="en-US" dirty="0" err="1"/>
              <a:t>Erls</a:t>
            </a:r>
            <a:r>
              <a:rPr lang="en-US" dirty="0"/>
              <a:t>. If total Bandwidth supported by the network is 9kbps, then probability state will be with the condition:  0</a:t>
            </a:r>
            <a:r>
              <a:rPr lang="en-US" i="1" dirty="0"/>
              <a:t> </a:t>
            </a:r>
            <a:r>
              <a:rPr lang="en-US" i="1" dirty="0">
                <a:sym typeface="Symbol"/>
              </a:rPr>
              <a:t> </a:t>
            </a:r>
            <a:r>
              <a:rPr lang="en-US" i="1" dirty="0"/>
              <a:t> D</a:t>
            </a:r>
            <a:r>
              <a:rPr lang="en-US" baseline="-25000" dirty="0"/>
              <a:t>1</a:t>
            </a:r>
            <a:r>
              <a:rPr lang="en-US" i="1" dirty="0"/>
              <a:t>x</a:t>
            </a:r>
            <a:r>
              <a:rPr lang="en-US" baseline="-25000" dirty="0"/>
              <a:t>1</a:t>
            </a:r>
            <a:r>
              <a:rPr lang="en-US" i="1" dirty="0"/>
              <a:t>+D</a:t>
            </a:r>
            <a:r>
              <a:rPr lang="en-US" baseline="-25000" dirty="0"/>
              <a:t>2</a:t>
            </a:r>
            <a:r>
              <a:rPr lang="en-US" i="1" dirty="0"/>
              <a:t>x</a:t>
            </a:r>
            <a:r>
              <a:rPr lang="en-US" baseline="-25000" dirty="0"/>
              <a:t>2</a:t>
            </a:r>
            <a:r>
              <a:rPr lang="en-US" i="1" dirty="0"/>
              <a:t> </a:t>
            </a:r>
            <a:r>
              <a:rPr lang="en-US" i="1" dirty="0">
                <a:sym typeface="Symbol"/>
              </a:rPr>
              <a:t>  </a:t>
            </a:r>
            <a:r>
              <a:rPr lang="en-US" dirty="0"/>
              <a:t>9. Determine </a:t>
            </a:r>
            <a:r>
              <a:rPr lang="en-US" dirty="0" err="1"/>
              <a:t>QoS</a:t>
            </a:r>
            <a:r>
              <a:rPr lang="en-US" dirty="0"/>
              <a:t> of each traffic. </a:t>
            </a:r>
          </a:p>
        </p:txBody>
      </p:sp>
      <p:graphicFrame>
        <p:nvGraphicFramePr>
          <p:cNvPr id="6" name="Table 5"/>
          <p:cNvGraphicFramePr>
            <a:graphicFrameLocks noGrp="1"/>
          </p:cNvGraphicFramePr>
          <p:nvPr>
            <p:extLst/>
          </p:nvPr>
        </p:nvGraphicFramePr>
        <p:xfrm>
          <a:off x="1676400" y="2926080"/>
          <a:ext cx="5826125" cy="2560320"/>
        </p:xfrm>
        <a:graphic>
          <a:graphicData uri="http://schemas.openxmlformats.org/drawingml/2006/table">
            <a:tbl>
              <a:tblPr/>
              <a:tblGrid>
                <a:gridCol w="1143000">
                  <a:extLst>
                    <a:ext uri="{9D8B030D-6E8A-4147-A177-3AD203B41FA5}">
                      <a16:colId xmlns="" xmlns:a16="http://schemas.microsoft.com/office/drawing/2014/main" val="20000"/>
                    </a:ext>
                  </a:extLst>
                </a:gridCol>
                <a:gridCol w="1132860">
                  <a:extLst>
                    <a:ext uri="{9D8B030D-6E8A-4147-A177-3AD203B41FA5}">
                      <a16:colId xmlns="" xmlns:a16="http://schemas.microsoft.com/office/drawing/2014/main" val="20001"/>
                    </a:ext>
                  </a:extLst>
                </a:gridCol>
                <a:gridCol w="691790">
                  <a:extLst>
                    <a:ext uri="{9D8B030D-6E8A-4147-A177-3AD203B41FA5}">
                      <a16:colId xmlns="" xmlns:a16="http://schemas.microsoft.com/office/drawing/2014/main" val="20002"/>
                    </a:ext>
                  </a:extLst>
                </a:gridCol>
                <a:gridCol w="952825">
                  <a:extLst>
                    <a:ext uri="{9D8B030D-6E8A-4147-A177-3AD203B41FA5}">
                      <a16:colId xmlns="" xmlns:a16="http://schemas.microsoft.com/office/drawing/2014/main" val="20003"/>
                    </a:ext>
                  </a:extLst>
                </a:gridCol>
                <a:gridCol w="952825">
                  <a:extLst>
                    <a:ext uri="{9D8B030D-6E8A-4147-A177-3AD203B41FA5}">
                      <a16:colId xmlns="" xmlns:a16="http://schemas.microsoft.com/office/drawing/2014/main" val="20004"/>
                    </a:ext>
                  </a:extLst>
                </a:gridCol>
                <a:gridCol w="952825">
                  <a:extLst>
                    <a:ext uri="{9D8B030D-6E8A-4147-A177-3AD203B41FA5}">
                      <a16:colId xmlns="" xmlns:a16="http://schemas.microsoft.com/office/drawing/2014/main" val="20005"/>
                    </a:ext>
                  </a:extLst>
                </a:gridCol>
              </a:tblGrid>
              <a:tr h="0">
                <a:tc>
                  <a:txBody>
                    <a:bodyPr/>
                    <a:lstStyle/>
                    <a:p>
                      <a:pPr marL="0" marR="0" algn="ctr">
                        <a:spcBef>
                          <a:spcPts val="0"/>
                        </a:spcBef>
                        <a:spcAft>
                          <a:spcPts val="0"/>
                        </a:spcAft>
                      </a:pPr>
                      <a:r>
                        <a:rPr lang="en-US" sz="2400" dirty="0">
                          <a:latin typeface="Times New Roman"/>
                          <a:ea typeface="MS Mincho"/>
                          <a:cs typeface="Times New Roma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30000" dirty="0">
                          <a:latin typeface="Times New Roman"/>
                          <a:ea typeface="MS Mincho"/>
                          <a:cs typeface="Times New Roman"/>
                        </a:rPr>
                        <a:t>4</a:t>
                      </a:r>
                      <a:r>
                        <a:rPr lang="en-US" sz="2400" baseline="-25000" dirty="0">
                          <a:latin typeface="Times New Roman"/>
                          <a:ea typeface="MS Mincho"/>
                          <a:cs typeface="Times New Roman"/>
                        </a:rPr>
                        <a:t>1</a:t>
                      </a:r>
                      <a:r>
                        <a:rPr lang="en-US" sz="2400" dirty="0">
                          <a:latin typeface="Times New Roman"/>
                          <a:ea typeface="MS Mincho"/>
                          <a:cs typeface="Times New Roma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000" dirty="0">
                          <a:latin typeface="Times New Roman"/>
                          <a:ea typeface="MS Mincho"/>
                          <a:cs typeface="Times New Roman"/>
                        </a:rPr>
                        <a:t>(0,4)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endParaRPr lang="en-US" sz="20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marL="0" marR="0" algn="ctr">
                        <a:spcBef>
                          <a:spcPts val="0"/>
                        </a:spcBef>
                        <a:spcAft>
                          <a:spcPts val="0"/>
                        </a:spcAft>
                      </a:pPr>
                      <a:endParaRPr lang="en-US" sz="20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marL="0" marR="0" algn="ctr">
                        <a:spcBef>
                          <a:spcPts val="0"/>
                        </a:spcBef>
                        <a:spcAft>
                          <a:spcPts val="0"/>
                        </a:spcAft>
                      </a:pPr>
                      <a:endParaRPr lang="en-US" sz="20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 xmlns:a16="http://schemas.microsoft.com/office/drawing/2014/main" val="10000"/>
                  </a:ext>
                </a:extLst>
              </a:tr>
              <a:tr h="0">
                <a:tc>
                  <a:txBody>
                    <a:bodyPr/>
                    <a:lstStyle/>
                    <a:p>
                      <a:pPr marL="0" marR="0" algn="ctr">
                        <a:spcBef>
                          <a:spcPts val="0"/>
                        </a:spcBef>
                        <a:spcAft>
                          <a:spcPts val="0"/>
                        </a:spcAft>
                      </a:pPr>
                      <a:r>
                        <a:rPr lang="en-US" sz="2400" dirty="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1</a:t>
                      </a:r>
                      <a:r>
                        <a:rPr lang="en-US" sz="2400" baseline="30000" dirty="0">
                          <a:latin typeface="Times New Roman"/>
                          <a:ea typeface="MS Mincho"/>
                          <a:cs typeface="Times New Roman"/>
                        </a:rPr>
                        <a:t>3</a:t>
                      </a:r>
                      <a:r>
                        <a:rPr lang="en-US" sz="2400" dirty="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000" dirty="0">
                          <a:latin typeface="Times New Roman"/>
                          <a:ea typeface="MS Mincho"/>
                          <a:cs typeface="Times New Roman"/>
                        </a:rPr>
                        <a:t>(0,3)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2000" dirty="0">
                          <a:latin typeface="Times New Roman"/>
                          <a:ea typeface="MS Mincho"/>
                          <a:cs typeface="Times New Roman"/>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endParaRPr lang="en-US" sz="20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marL="0" marR="0" algn="ctr">
                        <a:spcBef>
                          <a:spcPts val="0"/>
                        </a:spcBef>
                        <a:spcAft>
                          <a:spcPts val="0"/>
                        </a:spcAft>
                      </a:pPr>
                      <a:endParaRPr lang="en-US" sz="20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 xmlns:a16="http://schemas.microsoft.com/office/drawing/2014/main" val="10001"/>
                  </a:ext>
                </a:extLst>
              </a:tr>
              <a:tr h="0">
                <a:tc>
                  <a:txBody>
                    <a:bodyPr/>
                    <a:lstStyle/>
                    <a:p>
                      <a:pPr marL="0" marR="0" algn="ctr">
                        <a:spcBef>
                          <a:spcPts val="0"/>
                        </a:spcBef>
                        <a:spcAft>
                          <a:spcPts val="0"/>
                        </a:spcAft>
                      </a:pPr>
                      <a:r>
                        <a:rPr lang="en-US" sz="2400" dirty="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1</a:t>
                      </a:r>
                      <a:r>
                        <a:rPr lang="en-US" sz="2400" baseline="30000" dirty="0">
                          <a:latin typeface="Times New Roman"/>
                          <a:ea typeface="MS Mincho"/>
                          <a:cs typeface="Times New Roman"/>
                        </a:rPr>
                        <a:t>2</a:t>
                      </a:r>
                      <a:r>
                        <a:rPr lang="en-US" sz="2400" dirty="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000" dirty="0">
                          <a:latin typeface="Times New Roman"/>
                          <a:ea typeface="MS Mincho"/>
                          <a:cs typeface="Times New Roman"/>
                        </a:rPr>
                        <a:t>(0,2)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2000" dirty="0">
                          <a:latin typeface="Times New Roman"/>
                          <a:ea typeface="MS Mincho"/>
                          <a:cs typeface="Times New Roman"/>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endParaRPr lang="en-US" sz="20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marL="0" marR="0" algn="ctr">
                        <a:spcBef>
                          <a:spcPts val="0"/>
                        </a:spcBef>
                        <a:spcAft>
                          <a:spcPts val="0"/>
                        </a:spcAft>
                      </a:pPr>
                      <a:endParaRPr lang="en-US" sz="20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 xmlns:a16="http://schemas.microsoft.com/office/drawing/2014/main" val="10002"/>
                  </a:ext>
                </a:extLst>
              </a:tr>
              <a:tr h="0">
                <a:tc>
                  <a:txBody>
                    <a:bodyPr/>
                    <a:lstStyle/>
                    <a:p>
                      <a:pPr marL="0" marR="0" algn="ctr">
                        <a:spcBef>
                          <a:spcPts val="0"/>
                        </a:spcBef>
                        <a:spcAft>
                          <a:spcPts val="0"/>
                        </a:spcAft>
                      </a:pPr>
                      <a:r>
                        <a:rPr lang="en-US" sz="2400" dirty="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1</a:t>
                      </a:r>
                      <a:endParaRPr lang="en-US" sz="2400" dirty="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000" dirty="0">
                          <a:latin typeface="Times New Roman"/>
                          <a:ea typeface="MS Mincho"/>
                          <a:cs typeface="Times New Roman"/>
                        </a:rPr>
                        <a:t>(0,1)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2000" dirty="0">
                          <a:latin typeface="Times New Roman"/>
                          <a:ea typeface="MS Mincho"/>
                          <a:cs typeface="Times New Roman"/>
                        </a:rPr>
                        <a:t>(1,1)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2000" dirty="0">
                          <a:latin typeface="Times New Roman"/>
                          <a:ea typeface="MS Mincho"/>
                          <a:cs typeface="Times New Roman"/>
                        </a:rPr>
                        <a:t>(2,1)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endParaRPr lang="en-US" sz="2000" dirty="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 xmlns:a16="http://schemas.microsoft.com/office/drawing/2014/main" val="10003"/>
                  </a:ext>
                </a:extLst>
              </a:tr>
              <a:tr h="0">
                <a:tc>
                  <a:txBody>
                    <a:bodyPr/>
                    <a:lstStyle/>
                    <a:p>
                      <a:pPr marL="0" marR="0" algn="ctr">
                        <a:spcBef>
                          <a:spcPts val="0"/>
                        </a:spcBef>
                        <a:spcAft>
                          <a:spcPts val="0"/>
                        </a:spcAft>
                      </a:pPr>
                      <a:r>
                        <a:rPr lang="en-US" sz="2400" dirty="0">
                          <a:latin typeface="Times New Roman"/>
                          <a:ea typeface="MS Mincho"/>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400" dirty="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a:spcBef>
                          <a:spcPts val="0"/>
                        </a:spcBef>
                        <a:spcAft>
                          <a:spcPts val="0"/>
                        </a:spcAft>
                      </a:pPr>
                      <a:r>
                        <a:rPr lang="en-US" sz="2000" dirty="0">
                          <a:latin typeface="Times New Roman"/>
                          <a:ea typeface="MS Mincho"/>
                          <a:cs typeface="Times New Roman"/>
                        </a:rPr>
                        <a:t>(0,0)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FF00"/>
                    </a:solidFill>
                  </a:tcPr>
                </a:tc>
                <a:tc>
                  <a:txBody>
                    <a:bodyPr/>
                    <a:lstStyle/>
                    <a:p>
                      <a:pPr marL="0" marR="0" algn="ctr">
                        <a:spcBef>
                          <a:spcPts val="0"/>
                        </a:spcBef>
                        <a:spcAft>
                          <a:spcPts val="0"/>
                        </a:spcAft>
                      </a:pPr>
                      <a:r>
                        <a:rPr lang="en-US" sz="2000" dirty="0">
                          <a:latin typeface="Times New Roman"/>
                          <a:ea typeface="MS Mincho"/>
                          <a:cs typeface="Times New Roman"/>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2000" dirty="0">
                          <a:latin typeface="Times New Roman"/>
                          <a:ea typeface="MS Mincho"/>
                          <a:cs typeface="Times New Roman"/>
                        </a:rPr>
                        <a:t>(2,0)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2000" dirty="0">
                          <a:latin typeface="Times New Roman"/>
                          <a:ea typeface="MS Mincho"/>
                          <a:cs typeface="Times New Roman"/>
                        </a:rPr>
                        <a:t>(3,0)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 xmlns:a16="http://schemas.microsoft.com/office/drawing/2014/main" val="10004"/>
                  </a:ext>
                </a:extLst>
              </a:tr>
              <a:tr h="0">
                <a:tc rowSpan="2">
                  <a:txBody>
                    <a:bodyPr/>
                    <a:lstStyle/>
                    <a:p>
                      <a:pPr marL="0" marR="0" algn="just">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1</a:t>
                      </a:r>
                      <a:r>
                        <a:rPr lang="en-US" sz="2400" dirty="0">
                          <a:latin typeface="Times New Roman"/>
                          <a:ea typeface="MS Mincho"/>
                          <a:cs typeface="Times New Roman"/>
                        </a:rPr>
                        <a:t>=1</a:t>
                      </a:r>
                    </a:p>
                    <a:p>
                      <a:pPr marL="0" marR="0" algn="just">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2</a:t>
                      </a:r>
                      <a:r>
                        <a:rPr lang="en-US" sz="2400" dirty="0">
                          <a:latin typeface="Times New Roman"/>
                          <a:ea typeface="MS Mincho"/>
                          <a:cs typeface="Times New Roman"/>
                        </a:rPr>
                        <a:t>=2</a:t>
                      </a:r>
                    </a:p>
                  </a:txBody>
                  <a:tcPr marL="67945" marR="67945"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gridSpan="2">
                  <a:txBody>
                    <a:bodyPr/>
                    <a:lstStyle/>
                    <a:p>
                      <a:pPr marL="0" marR="0" algn="just">
                        <a:spcBef>
                          <a:spcPts val="0"/>
                        </a:spcBef>
                        <a:spcAft>
                          <a:spcPts val="0"/>
                        </a:spcAft>
                      </a:pPr>
                      <a:r>
                        <a:rPr lang="en-US" sz="2400" dirty="0">
                          <a:latin typeface="Times New Roman"/>
                          <a:ea typeface="MS Mincho"/>
                          <a:cs typeface="Times New Roman"/>
                        </a:rPr>
                        <a:t>                 1</a:t>
                      </a:r>
                    </a:p>
                  </a:txBody>
                  <a:tcPr marL="67945" marR="67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hMerge="1">
                  <a:txBody>
                    <a:bodyPr/>
                    <a:lstStyle/>
                    <a:p>
                      <a:endParaRPr lang="en-US"/>
                    </a:p>
                  </a:txBody>
                  <a:tcPr/>
                </a:tc>
                <a:tc>
                  <a:txBody>
                    <a:bodyPr/>
                    <a:lstStyle/>
                    <a:p>
                      <a:pPr marL="0" marR="0" algn="just">
                        <a:spcBef>
                          <a:spcPts val="0"/>
                        </a:spcBef>
                        <a:spcAft>
                          <a:spcPts val="0"/>
                        </a:spcAft>
                      </a:pPr>
                      <a:r>
                        <a:rPr lang="en-US" sz="2400" dirty="0">
                          <a:latin typeface="Times New Roman"/>
                          <a:ea typeface="MS Mincho"/>
                          <a:cs typeface="Times New Roman"/>
                        </a:rPr>
                        <a:t>    A</a:t>
                      </a:r>
                      <a:r>
                        <a:rPr lang="en-US" sz="2400" baseline="-25000" dirty="0">
                          <a:latin typeface="Times New Roman"/>
                          <a:ea typeface="MS Mincho"/>
                          <a:cs typeface="Times New Roman"/>
                        </a:rPr>
                        <a:t>2</a:t>
                      </a:r>
                      <a:endParaRPr lang="en-US" sz="2400" dirty="0">
                        <a:latin typeface="Times New Roman"/>
                        <a:ea typeface="MS Mincho"/>
                        <a:cs typeface="Times New Roman"/>
                      </a:endParaRPr>
                    </a:p>
                  </a:txBody>
                  <a:tcPr marL="67945" marR="67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dirty="0">
                          <a:latin typeface="Times New Roman"/>
                          <a:ea typeface="MS Mincho"/>
                          <a:cs typeface="Times New Roman"/>
                        </a:rPr>
                        <a:t>A</a:t>
                      </a:r>
                      <a:r>
                        <a:rPr lang="en-US" sz="2400" baseline="30000" dirty="0">
                          <a:latin typeface="Times New Roman"/>
                          <a:ea typeface="MS Mincho"/>
                          <a:cs typeface="Times New Roman"/>
                        </a:rPr>
                        <a:t>2</a:t>
                      </a:r>
                      <a:r>
                        <a:rPr lang="en-US" sz="2400" baseline="-25000" dirty="0">
                          <a:latin typeface="Times New Roman"/>
                          <a:ea typeface="MS Mincho"/>
                          <a:cs typeface="Times New Roman"/>
                        </a:rPr>
                        <a:t>2</a:t>
                      </a:r>
                      <a:r>
                        <a:rPr lang="en-US" sz="2400" dirty="0">
                          <a:latin typeface="Times New Roman"/>
                          <a:ea typeface="MS Mincho"/>
                          <a:cs typeface="Times New Roman"/>
                        </a:rPr>
                        <a:t>/2!</a:t>
                      </a:r>
                    </a:p>
                  </a:txBody>
                  <a:tcPr marL="67945" marR="67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dirty="0">
                          <a:latin typeface="Times New Roman"/>
                          <a:ea typeface="MS Mincho"/>
                          <a:cs typeface="Times New Roman"/>
                        </a:rPr>
                        <a:t>A</a:t>
                      </a:r>
                      <a:r>
                        <a:rPr lang="en-US" sz="2400" baseline="30000" dirty="0">
                          <a:latin typeface="Times New Roman"/>
                          <a:ea typeface="MS Mincho"/>
                          <a:cs typeface="Times New Roman"/>
                        </a:rPr>
                        <a:t>3</a:t>
                      </a:r>
                      <a:r>
                        <a:rPr lang="en-US" sz="2400" baseline="-25000" dirty="0">
                          <a:latin typeface="Times New Roman"/>
                          <a:ea typeface="MS Mincho"/>
                          <a:cs typeface="Times New Roman"/>
                        </a:rPr>
                        <a:t>2</a:t>
                      </a:r>
                      <a:r>
                        <a:rPr lang="en-US" sz="2400" dirty="0">
                          <a:latin typeface="Times New Roman"/>
                          <a:ea typeface="MS Mincho"/>
                          <a:cs typeface="Times New Roman"/>
                        </a:rPr>
                        <a:t>/3!</a:t>
                      </a:r>
                    </a:p>
                  </a:txBody>
                  <a:tcPr marL="67945" marR="67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extLst>
                  <a:ext uri="{0D108BD9-81ED-4DB2-BD59-A6C34878D82A}">
                    <a16:rowId xmlns="" xmlns:a16="http://schemas.microsoft.com/office/drawing/2014/main" val="10005"/>
                  </a:ext>
                </a:extLst>
              </a:tr>
              <a:tr h="0">
                <a:tc vMerge="1">
                  <a:txBody>
                    <a:bodyPr/>
                    <a:lstStyle/>
                    <a:p>
                      <a:endParaRPr lang="en-US"/>
                    </a:p>
                  </a:txBody>
                  <a:tcPr/>
                </a:tc>
                <a:tc gridSpan="2">
                  <a:txBody>
                    <a:bodyPr/>
                    <a:lstStyle/>
                    <a:p>
                      <a:pPr marL="0" marR="0" algn="just">
                        <a:spcBef>
                          <a:spcPts val="0"/>
                        </a:spcBef>
                        <a:spcAft>
                          <a:spcPts val="0"/>
                        </a:spcAft>
                      </a:pPr>
                      <a:r>
                        <a:rPr lang="en-US" sz="2400" dirty="0">
                          <a:latin typeface="Times New Roman"/>
                          <a:ea typeface="MS Mincho"/>
                          <a:cs typeface="Times New Roman"/>
                        </a:rPr>
                        <a:t>                 0</a:t>
                      </a:r>
                    </a:p>
                  </a:txBody>
                  <a:tcPr marL="67945" marR="67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hMerge="1">
                  <a:txBody>
                    <a:bodyPr/>
                    <a:lstStyle/>
                    <a:p>
                      <a:endParaRPr lang="en-US"/>
                    </a:p>
                  </a:txBody>
                  <a:tcPr/>
                </a:tc>
                <a:tc>
                  <a:txBody>
                    <a:bodyPr/>
                    <a:lstStyle/>
                    <a:p>
                      <a:pPr marL="0" marR="0" algn="just">
                        <a:spcBef>
                          <a:spcPts val="0"/>
                        </a:spcBef>
                        <a:spcAft>
                          <a:spcPts val="0"/>
                        </a:spcAft>
                      </a:pPr>
                      <a:r>
                        <a:rPr lang="en-US" sz="2400" dirty="0">
                          <a:latin typeface="Times New Roman"/>
                          <a:ea typeface="MS Mincho"/>
                          <a:cs typeface="Times New Roman"/>
                        </a:rPr>
                        <a:t>   1</a:t>
                      </a:r>
                    </a:p>
                  </a:txBody>
                  <a:tcPr marL="67945" marR="67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dirty="0">
                          <a:latin typeface="Times New Roman"/>
                          <a:ea typeface="MS Mincho"/>
                          <a:cs typeface="Times New Roman"/>
                        </a:rPr>
                        <a:t>    2</a:t>
                      </a:r>
                    </a:p>
                  </a:txBody>
                  <a:tcPr marL="67945" marR="67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dirty="0">
                          <a:latin typeface="Times New Roman"/>
                          <a:ea typeface="MS Mincho"/>
                          <a:cs typeface="Times New Roman"/>
                        </a:rPr>
                        <a:t>   3</a:t>
                      </a:r>
                    </a:p>
                  </a:txBody>
                  <a:tcPr marL="67945" marR="67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extLst>
                  <a:ext uri="{0D108BD9-81ED-4DB2-BD59-A6C34878D82A}">
                    <a16:rowId xmlns="" xmlns:a16="http://schemas.microsoft.com/office/drawing/2014/main" val="10006"/>
                  </a:ext>
                </a:extLst>
              </a:tr>
            </a:tbl>
          </a:graphicData>
        </a:graphic>
      </p:graphicFrame>
      <p:sp>
        <p:nvSpPr>
          <p:cNvPr id="7" name="TextBox 6"/>
          <p:cNvSpPr txBox="1"/>
          <p:nvPr/>
        </p:nvSpPr>
        <p:spPr>
          <a:xfrm>
            <a:off x="2590800" y="2316480"/>
            <a:ext cx="3665619" cy="461665"/>
          </a:xfrm>
          <a:prstGeom prst="rect">
            <a:avLst/>
          </a:prstGeom>
          <a:noFill/>
        </p:spPr>
        <p:txBody>
          <a:bodyPr wrap="none" rtlCol="0">
            <a:spAutoFit/>
          </a:bodyPr>
          <a:lstStyle/>
          <a:p>
            <a:r>
              <a:rPr lang="en-US" b="1" u="sng" dirty="0"/>
              <a:t>Possible Probability States</a:t>
            </a:r>
          </a:p>
        </p:txBody>
      </p:sp>
    </p:spTree>
    <p:extLst>
      <p:ext uri="{BB962C8B-B14F-4D97-AF65-F5344CB8AC3E}">
        <p14:creationId xmlns:p14="http://schemas.microsoft.com/office/powerpoint/2010/main" val="3364491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17</a:t>
            </a:fld>
            <a:endParaRPr lang="en-US"/>
          </a:p>
        </p:txBody>
      </p:sp>
      <p:graphicFrame>
        <p:nvGraphicFramePr>
          <p:cNvPr id="5" name="Table 4"/>
          <p:cNvGraphicFramePr>
            <a:graphicFrameLocks noGrp="1"/>
          </p:cNvGraphicFramePr>
          <p:nvPr>
            <p:extLst/>
          </p:nvPr>
        </p:nvGraphicFramePr>
        <p:xfrm>
          <a:off x="1544637" y="1447800"/>
          <a:ext cx="5826125" cy="2560320"/>
        </p:xfrm>
        <a:graphic>
          <a:graphicData uri="http://schemas.openxmlformats.org/drawingml/2006/table">
            <a:tbl>
              <a:tblPr/>
              <a:tblGrid>
                <a:gridCol w="1678360">
                  <a:extLst>
                    <a:ext uri="{9D8B030D-6E8A-4147-A177-3AD203B41FA5}">
                      <a16:colId xmlns="" xmlns:a16="http://schemas.microsoft.com/office/drawing/2014/main" val="20000"/>
                    </a:ext>
                  </a:extLst>
                </a:gridCol>
                <a:gridCol w="597500">
                  <a:extLst>
                    <a:ext uri="{9D8B030D-6E8A-4147-A177-3AD203B41FA5}">
                      <a16:colId xmlns="" xmlns:a16="http://schemas.microsoft.com/office/drawing/2014/main" val="20001"/>
                    </a:ext>
                  </a:extLst>
                </a:gridCol>
                <a:gridCol w="691790">
                  <a:extLst>
                    <a:ext uri="{9D8B030D-6E8A-4147-A177-3AD203B41FA5}">
                      <a16:colId xmlns="" xmlns:a16="http://schemas.microsoft.com/office/drawing/2014/main" val="20002"/>
                    </a:ext>
                  </a:extLst>
                </a:gridCol>
                <a:gridCol w="952825">
                  <a:extLst>
                    <a:ext uri="{9D8B030D-6E8A-4147-A177-3AD203B41FA5}">
                      <a16:colId xmlns="" xmlns:a16="http://schemas.microsoft.com/office/drawing/2014/main" val="20003"/>
                    </a:ext>
                  </a:extLst>
                </a:gridCol>
                <a:gridCol w="952825">
                  <a:extLst>
                    <a:ext uri="{9D8B030D-6E8A-4147-A177-3AD203B41FA5}">
                      <a16:colId xmlns="" xmlns:a16="http://schemas.microsoft.com/office/drawing/2014/main" val="20004"/>
                    </a:ext>
                  </a:extLst>
                </a:gridCol>
                <a:gridCol w="952825">
                  <a:extLst>
                    <a:ext uri="{9D8B030D-6E8A-4147-A177-3AD203B41FA5}">
                      <a16:colId xmlns="" xmlns:a16="http://schemas.microsoft.com/office/drawing/2014/main" val="20005"/>
                    </a:ext>
                  </a:extLst>
                </a:gridCol>
              </a:tblGrid>
              <a:tr h="0">
                <a:tc>
                  <a:txBody>
                    <a:bodyPr/>
                    <a:lstStyle/>
                    <a:p>
                      <a:pPr marL="0" marR="0" algn="just">
                        <a:spcBef>
                          <a:spcPts val="0"/>
                        </a:spcBef>
                        <a:spcAft>
                          <a:spcPts val="0"/>
                        </a:spcAft>
                      </a:pPr>
                      <a:r>
                        <a:rPr lang="en-US" sz="2400" dirty="0">
                          <a:latin typeface="Times New Roman"/>
                          <a:ea typeface="MS Mincho"/>
                          <a:cs typeface="Times New Roman"/>
                        </a:rPr>
                        <a:t>A</a:t>
                      </a:r>
                      <a:r>
                        <a:rPr lang="en-US" sz="2400" baseline="30000" dirty="0">
                          <a:latin typeface="Times New Roman"/>
                          <a:ea typeface="MS Mincho"/>
                          <a:cs typeface="Times New Roman"/>
                        </a:rPr>
                        <a:t>4</a:t>
                      </a:r>
                      <a:r>
                        <a:rPr lang="en-US" sz="2400" baseline="-25000" dirty="0">
                          <a:latin typeface="Times New Roman"/>
                          <a:ea typeface="MS Mincho"/>
                          <a:cs typeface="Times New Roman"/>
                        </a:rPr>
                        <a:t>1</a:t>
                      </a:r>
                      <a:r>
                        <a:rPr lang="en-US" sz="2400" dirty="0">
                          <a:latin typeface="Times New Roman"/>
                          <a:ea typeface="MS Mincho"/>
                          <a:cs typeface="Times New Roma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a:latin typeface="Times New Roman"/>
                          <a:ea typeface="MS Mincho"/>
                          <a:cs typeface="Times New Roma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dirty="0">
                          <a:latin typeface="Times New Roman"/>
                          <a:ea typeface="MS Mincho"/>
                          <a:cs typeface="Times New Roman"/>
                        </a:rPr>
                        <a:t>1/24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just">
                        <a:spcBef>
                          <a:spcPts val="0"/>
                        </a:spcBef>
                        <a:spcAft>
                          <a:spcPts val="0"/>
                        </a:spcAft>
                      </a:pPr>
                      <a:endParaRPr lang="en-US" sz="24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marL="0" marR="0" algn="just">
                        <a:spcBef>
                          <a:spcPts val="0"/>
                        </a:spcBef>
                        <a:spcAft>
                          <a:spcPts val="0"/>
                        </a:spcAft>
                      </a:pPr>
                      <a:endParaRPr lang="en-US" sz="24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marL="0" marR="0" algn="just">
                        <a:spcBef>
                          <a:spcPts val="0"/>
                        </a:spcBef>
                        <a:spcAft>
                          <a:spcPts val="0"/>
                        </a:spcAft>
                      </a:pPr>
                      <a:endParaRPr lang="en-US" sz="24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 xmlns:a16="http://schemas.microsoft.com/office/drawing/2014/main" val="10000"/>
                  </a:ext>
                </a:extLst>
              </a:tr>
              <a:tr h="0">
                <a:tc>
                  <a:txBody>
                    <a:bodyPr/>
                    <a:lstStyle/>
                    <a:p>
                      <a:pPr marL="0" marR="0" algn="just">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1</a:t>
                      </a:r>
                      <a:r>
                        <a:rPr lang="en-US" sz="2400" baseline="30000" dirty="0">
                          <a:latin typeface="Times New Roman"/>
                          <a:ea typeface="MS Mincho"/>
                          <a:cs typeface="Times New Roman"/>
                        </a:rPr>
                        <a:t>3</a:t>
                      </a:r>
                      <a:r>
                        <a:rPr lang="en-US" sz="2400" dirty="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dirty="0">
                          <a:latin typeface="Times New Roman"/>
                          <a:ea typeface="MS Mincho"/>
                          <a:cs typeface="Times New Roman"/>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just">
                        <a:spcBef>
                          <a:spcPts val="0"/>
                        </a:spcBef>
                        <a:spcAft>
                          <a:spcPts val="0"/>
                        </a:spcAft>
                      </a:pPr>
                      <a:r>
                        <a:rPr lang="en-US" sz="2400" dirty="0">
                          <a:latin typeface="Times New Roman"/>
                          <a:ea typeface="MS Mincho"/>
                          <a:cs typeface="Times New Roman"/>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just">
                        <a:spcBef>
                          <a:spcPts val="0"/>
                        </a:spcBef>
                        <a:spcAft>
                          <a:spcPts val="0"/>
                        </a:spcAft>
                      </a:pPr>
                      <a:endParaRPr lang="en-US" sz="24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marL="0" marR="0" algn="just">
                        <a:spcBef>
                          <a:spcPts val="0"/>
                        </a:spcBef>
                        <a:spcAft>
                          <a:spcPts val="0"/>
                        </a:spcAft>
                      </a:pPr>
                      <a:endParaRPr lang="en-US" sz="24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 xmlns:a16="http://schemas.microsoft.com/office/drawing/2014/main" val="10001"/>
                  </a:ext>
                </a:extLst>
              </a:tr>
              <a:tr h="0">
                <a:tc>
                  <a:txBody>
                    <a:bodyPr/>
                    <a:lstStyle/>
                    <a:p>
                      <a:pPr marL="0" marR="0" algn="just">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1</a:t>
                      </a:r>
                      <a:r>
                        <a:rPr lang="en-US" sz="2400" baseline="30000" dirty="0">
                          <a:latin typeface="Times New Roman"/>
                          <a:ea typeface="MS Mincho"/>
                          <a:cs typeface="Times New Roman"/>
                        </a:rPr>
                        <a:t>2</a:t>
                      </a:r>
                      <a:r>
                        <a:rPr lang="en-US" sz="2400" dirty="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a:latin typeface="Times New Roman"/>
                          <a:ea typeface="MS Mincho"/>
                          <a:cs typeface="Times New Roman"/>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just">
                        <a:spcBef>
                          <a:spcPts val="0"/>
                        </a:spcBef>
                        <a:spcAft>
                          <a:spcPts val="0"/>
                        </a:spcAft>
                      </a:pPr>
                      <a:r>
                        <a:rPr lang="en-US" sz="2400" dirty="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just">
                        <a:spcBef>
                          <a:spcPts val="0"/>
                        </a:spcBef>
                        <a:spcAft>
                          <a:spcPts val="0"/>
                        </a:spcAft>
                      </a:pPr>
                      <a:endParaRPr lang="en-US" sz="24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marL="0" marR="0" algn="just">
                        <a:spcBef>
                          <a:spcPts val="0"/>
                        </a:spcBef>
                        <a:spcAft>
                          <a:spcPts val="0"/>
                        </a:spcAft>
                      </a:pPr>
                      <a:endParaRPr lang="en-US" sz="24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 xmlns:a16="http://schemas.microsoft.com/office/drawing/2014/main" val="10002"/>
                  </a:ext>
                </a:extLst>
              </a:tr>
              <a:tr h="0">
                <a:tc>
                  <a:txBody>
                    <a:bodyPr/>
                    <a:lstStyle/>
                    <a:p>
                      <a:pPr marL="0" marR="0" algn="just">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1</a:t>
                      </a:r>
                      <a:endParaRPr lang="en-US" sz="2400" dirty="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dirty="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just">
                        <a:spcBef>
                          <a:spcPts val="0"/>
                        </a:spcBef>
                        <a:spcAft>
                          <a:spcPts val="0"/>
                        </a:spcAft>
                      </a:pPr>
                      <a:r>
                        <a:rPr lang="en-US" sz="2400" dirty="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just">
                        <a:spcBef>
                          <a:spcPts val="0"/>
                        </a:spcBef>
                        <a:spcAft>
                          <a:spcPts val="0"/>
                        </a:spcAft>
                      </a:pPr>
                      <a:r>
                        <a:rPr lang="en-US" sz="240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just">
                        <a:spcBef>
                          <a:spcPts val="0"/>
                        </a:spcBef>
                        <a:spcAft>
                          <a:spcPts val="0"/>
                        </a:spcAft>
                      </a:pPr>
                      <a:endParaRPr lang="en-US" sz="24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 xmlns:a16="http://schemas.microsoft.com/office/drawing/2014/main" val="10003"/>
                  </a:ext>
                </a:extLst>
              </a:tr>
              <a:tr h="0">
                <a:tc>
                  <a:txBody>
                    <a:bodyPr/>
                    <a:lstStyle/>
                    <a:p>
                      <a:pPr marL="0" marR="0" algn="just">
                        <a:spcBef>
                          <a:spcPts val="0"/>
                        </a:spcBef>
                        <a:spcAft>
                          <a:spcPts val="0"/>
                        </a:spcAft>
                      </a:pPr>
                      <a:r>
                        <a:rPr lang="en-US" sz="240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dirty="0">
                          <a:latin typeface="Times New Roman"/>
                          <a:ea typeface="MS Mincho"/>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dirty="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FF00"/>
                    </a:solidFill>
                  </a:tcPr>
                </a:tc>
                <a:tc>
                  <a:txBody>
                    <a:bodyPr/>
                    <a:lstStyle/>
                    <a:p>
                      <a:pPr marL="0" marR="0" algn="just">
                        <a:spcBef>
                          <a:spcPts val="0"/>
                        </a:spcBef>
                        <a:spcAft>
                          <a:spcPts val="0"/>
                        </a:spcAft>
                      </a:pPr>
                      <a:r>
                        <a:rPr lang="en-US" sz="2400" dirty="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just">
                        <a:spcBef>
                          <a:spcPts val="0"/>
                        </a:spcBef>
                        <a:spcAft>
                          <a:spcPts val="0"/>
                        </a:spcAft>
                      </a:pPr>
                      <a:r>
                        <a:rPr lang="en-US" sz="2400" dirty="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just">
                        <a:spcBef>
                          <a:spcPts val="0"/>
                        </a:spcBef>
                        <a:spcAft>
                          <a:spcPts val="0"/>
                        </a:spcAft>
                      </a:pPr>
                      <a:r>
                        <a:rPr lang="en-US" sz="2400" dirty="0">
                          <a:latin typeface="Times New Roman"/>
                          <a:ea typeface="MS Mincho"/>
                          <a:cs typeface="Times New Roman"/>
                        </a:rPr>
                        <a:t>4/3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 xmlns:a16="http://schemas.microsoft.com/office/drawing/2014/main" val="10004"/>
                  </a:ext>
                </a:extLst>
              </a:tr>
              <a:tr h="0">
                <a:tc rowSpan="2">
                  <a:txBody>
                    <a:bodyPr/>
                    <a:lstStyle/>
                    <a:p>
                      <a:pPr marL="0" marR="0" algn="just">
                        <a:spcBef>
                          <a:spcPts val="0"/>
                        </a:spcBef>
                        <a:spcAft>
                          <a:spcPts val="0"/>
                        </a:spcAft>
                      </a:pPr>
                      <a:r>
                        <a:rPr lang="en-US" sz="2400">
                          <a:latin typeface="Times New Roman"/>
                          <a:ea typeface="MS Mincho"/>
                          <a:cs typeface="Times New Roman"/>
                        </a:rPr>
                        <a:t>A</a:t>
                      </a:r>
                      <a:r>
                        <a:rPr lang="en-US" sz="2400" baseline="-25000">
                          <a:latin typeface="Times New Roman"/>
                          <a:ea typeface="MS Mincho"/>
                          <a:cs typeface="Times New Roman"/>
                        </a:rPr>
                        <a:t>1</a:t>
                      </a:r>
                      <a:r>
                        <a:rPr lang="en-US" sz="2400">
                          <a:latin typeface="Times New Roman"/>
                          <a:ea typeface="MS Mincho"/>
                          <a:cs typeface="Times New Roman"/>
                        </a:rPr>
                        <a:t>=1</a:t>
                      </a:r>
                    </a:p>
                    <a:p>
                      <a:pPr marL="0" marR="0" algn="just">
                        <a:spcBef>
                          <a:spcPts val="0"/>
                        </a:spcBef>
                        <a:spcAft>
                          <a:spcPts val="0"/>
                        </a:spcAft>
                      </a:pPr>
                      <a:r>
                        <a:rPr lang="en-US" sz="2400">
                          <a:latin typeface="Times New Roman"/>
                          <a:ea typeface="MS Mincho"/>
                          <a:cs typeface="Times New Roman"/>
                        </a:rPr>
                        <a:t>A</a:t>
                      </a:r>
                      <a:r>
                        <a:rPr lang="en-US" sz="2400" baseline="-25000">
                          <a:latin typeface="Times New Roman"/>
                          <a:ea typeface="MS Mincho"/>
                          <a:cs typeface="Times New Roman"/>
                        </a:rPr>
                        <a:t>2</a:t>
                      </a:r>
                      <a:r>
                        <a:rPr lang="en-US" sz="2400">
                          <a:latin typeface="Times New Roman"/>
                          <a:ea typeface="MS Mincho"/>
                          <a:cs typeface="Times New Roman"/>
                        </a:rPr>
                        <a:t>=2</a:t>
                      </a:r>
                    </a:p>
                  </a:txBody>
                  <a:tcPr marL="67945" marR="67945"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gridSpan="2">
                  <a:txBody>
                    <a:bodyPr/>
                    <a:lstStyle/>
                    <a:p>
                      <a:pPr marL="0" marR="0" algn="just">
                        <a:spcBef>
                          <a:spcPts val="0"/>
                        </a:spcBef>
                        <a:spcAft>
                          <a:spcPts val="0"/>
                        </a:spcAft>
                      </a:pPr>
                      <a:r>
                        <a:rPr lang="en-US" sz="2400" dirty="0">
                          <a:latin typeface="Times New Roman"/>
                          <a:ea typeface="MS Mincho"/>
                          <a:cs typeface="Times New Roman"/>
                        </a:rPr>
                        <a:t>        0</a:t>
                      </a:r>
                    </a:p>
                  </a:txBody>
                  <a:tcPr marL="67945" marR="67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hMerge="1">
                  <a:txBody>
                    <a:bodyPr/>
                    <a:lstStyle/>
                    <a:p>
                      <a:endParaRPr lang="en-US"/>
                    </a:p>
                  </a:txBody>
                  <a:tcPr/>
                </a:tc>
                <a:tc>
                  <a:txBody>
                    <a:bodyPr/>
                    <a:lstStyle/>
                    <a:p>
                      <a:pPr marL="0" marR="0" algn="just">
                        <a:spcBef>
                          <a:spcPts val="0"/>
                        </a:spcBef>
                        <a:spcAft>
                          <a:spcPts val="0"/>
                        </a:spcAft>
                      </a:pPr>
                      <a:r>
                        <a:rPr lang="en-US" sz="2400" dirty="0">
                          <a:latin typeface="Times New Roman"/>
                          <a:ea typeface="MS Mincho"/>
                          <a:cs typeface="Times New Roman"/>
                        </a:rPr>
                        <a:t>1</a:t>
                      </a:r>
                    </a:p>
                  </a:txBody>
                  <a:tcPr marL="67945" marR="67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dirty="0">
                          <a:latin typeface="Times New Roman"/>
                          <a:ea typeface="MS Mincho"/>
                          <a:cs typeface="Times New Roman"/>
                        </a:rPr>
                        <a:t>2</a:t>
                      </a:r>
                    </a:p>
                  </a:txBody>
                  <a:tcPr marL="67945" marR="67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dirty="0">
                          <a:latin typeface="Times New Roman"/>
                          <a:ea typeface="MS Mincho"/>
                          <a:cs typeface="Times New Roman"/>
                        </a:rPr>
                        <a:t>3</a:t>
                      </a:r>
                    </a:p>
                  </a:txBody>
                  <a:tcPr marL="67945" marR="67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extLst>
                  <a:ext uri="{0D108BD9-81ED-4DB2-BD59-A6C34878D82A}">
                    <a16:rowId xmlns="" xmlns:a16="http://schemas.microsoft.com/office/drawing/2014/main" val="10005"/>
                  </a:ext>
                </a:extLst>
              </a:tr>
              <a:tr h="0">
                <a:tc vMerge="1">
                  <a:txBody>
                    <a:bodyPr/>
                    <a:lstStyle/>
                    <a:p>
                      <a:endParaRPr lang="en-US"/>
                    </a:p>
                  </a:txBody>
                  <a:tcPr/>
                </a:tc>
                <a:tc gridSpan="2">
                  <a:txBody>
                    <a:bodyPr/>
                    <a:lstStyle/>
                    <a:p>
                      <a:pPr marL="0" marR="0" algn="just">
                        <a:spcBef>
                          <a:spcPts val="0"/>
                        </a:spcBef>
                        <a:spcAft>
                          <a:spcPts val="0"/>
                        </a:spcAft>
                      </a:pPr>
                      <a:r>
                        <a:rPr lang="en-US" sz="2400" dirty="0">
                          <a:latin typeface="Times New Roman"/>
                          <a:ea typeface="MS Mincho"/>
                          <a:cs typeface="Times New Roman"/>
                        </a:rPr>
                        <a:t>        1</a:t>
                      </a:r>
                    </a:p>
                  </a:txBody>
                  <a:tcPr marL="67945" marR="67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hMerge="1">
                  <a:txBody>
                    <a:bodyPr/>
                    <a:lstStyle/>
                    <a:p>
                      <a:endParaRPr lang="en-US"/>
                    </a:p>
                  </a:txBody>
                  <a:tcPr/>
                </a:tc>
                <a:tc>
                  <a:txBody>
                    <a:bodyPr/>
                    <a:lstStyle/>
                    <a:p>
                      <a:pPr marL="0" marR="0" algn="just">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2</a:t>
                      </a:r>
                      <a:endParaRPr lang="en-US" sz="2400" dirty="0">
                        <a:latin typeface="Times New Roman"/>
                        <a:ea typeface="MS Mincho"/>
                        <a:cs typeface="Times New Roman"/>
                      </a:endParaRPr>
                    </a:p>
                  </a:txBody>
                  <a:tcPr marL="67945" marR="67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dirty="0">
                          <a:latin typeface="Times New Roman"/>
                          <a:ea typeface="MS Mincho"/>
                          <a:cs typeface="Times New Roman"/>
                        </a:rPr>
                        <a:t>A</a:t>
                      </a:r>
                      <a:r>
                        <a:rPr lang="en-US" sz="2400" baseline="30000" dirty="0">
                          <a:latin typeface="Times New Roman"/>
                          <a:ea typeface="MS Mincho"/>
                          <a:cs typeface="Times New Roman"/>
                        </a:rPr>
                        <a:t>2</a:t>
                      </a:r>
                      <a:r>
                        <a:rPr lang="en-US" sz="2400" baseline="-25000" dirty="0">
                          <a:latin typeface="Times New Roman"/>
                          <a:ea typeface="MS Mincho"/>
                          <a:cs typeface="Times New Roman"/>
                        </a:rPr>
                        <a:t>2</a:t>
                      </a:r>
                      <a:r>
                        <a:rPr lang="en-US" sz="2400" dirty="0">
                          <a:latin typeface="Times New Roman"/>
                          <a:ea typeface="MS Mincho"/>
                          <a:cs typeface="Times New Roman"/>
                        </a:rPr>
                        <a:t>/2!</a:t>
                      </a:r>
                    </a:p>
                  </a:txBody>
                  <a:tcPr marL="67945" marR="67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dirty="0">
                          <a:latin typeface="Times New Roman"/>
                          <a:ea typeface="MS Mincho"/>
                          <a:cs typeface="Times New Roman"/>
                        </a:rPr>
                        <a:t>A</a:t>
                      </a:r>
                      <a:r>
                        <a:rPr lang="en-US" sz="2400" baseline="30000" dirty="0">
                          <a:latin typeface="Times New Roman"/>
                          <a:ea typeface="MS Mincho"/>
                          <a:cs typeface="Times New Roman"/>
                        </a:rPr>
                        <a:t>3</a:t>
                      </a:r>
                      <a:r>
                        <a:rPr lang="en-US" sz="2400" baseline="-25000" dirty="0">
                          <a:latin typeface="Times New Roman"/>
                          <a:ea typeface="MS Mincho"/>
                          <a:cs typeface="Times New Roman"/>
                        </a:rPr>
                        <a:t>2</a:t>
                      </a:r>
                      <a:r>
                        <a:rPr lang="en-US" sz="2400" dirty="0">
                          <a:latin typeface="Times New Roman"/>
                          <a:ea typeface="MS Mincho"/>
                          <a:cs typeface="Times New Roman"/>
                        </a:rPr>
                        <a:t>/3!</a:t>
                      </a:r>
                    </a:p>
                  </a:txBody>
                  <a:tcPr marL="67945" marR="67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extLst>
                  <a:ext uri="{0D108BD9-81ED-4DB2-BD59-A6C34878D82A}">
                    <a16:rowId xmlns="" xmlns:a16="http://schemas.microsoft.com/office/drawing/2014/main" val="10006"/>
                  </a:ext>
                </a:extLst>
              </a:tr>
            </a:tbl>
          </a:graphicData>
        </a:graphic>
      </p:graphicFrame>
      <p:sp>
        <p:nvSpPr>
          <p:cNvPr id="6" name="Rectangle 5"/>
          <p:cNvSpPr/>
          <p:nvPr/>
        </p:nvSpPr>
        <p:spPr>
          <a:xfrm>
            <a:off x="914400" y="457200"/>
            <a:ext cx="7086600" cy="523220"/>
          </a:xfrm>
          <a:prstGeom prst="rect">
            <a:avLst/>
          </a:prstGeom>
        </p:spPr>
        <p:txBody>
          <a:bodyPr wrap="square">
            <a:spAutoFit/>
          </a:bodyPr>
          <a:lstStyle/>
          <a:p>
            <a:r>
              <a:rPr lang="en-US" sz="2800" b="1" u="sng" dirty="0"/>
              <a:t>The probability states before normalization</a:t>
            </a:r>
          </a:p>
        </p:txBody>
      </p:sp>
      <p:sp>
        <p:nvSpPr>
          <p:cNvPr id="2" name="TextBox 1"/>
          <p:cNvSpPr txBox="1"/>
          <p:nvPr/>
        </p:nvSpPr>
        <p:spPr>
          <a:xfrm>
            <a:off x="533400" y="4876800"/>
            <a:ext cx="5791200" cy="461665"/>
          </a:xfrm>
          <a:prstGeom prst="rect">
            <a:avLst/>
          </a:prstGeom>
          <a:noFill/>
        </p:spPr>
        <p:txBody>
          <a:bodyPr wrap="square" rtlCol="0">
            <a:spAutoFit/>
          </a:bodyPr>
          <a:lstStyle/>
          <a:p>
            <a:r>
              <a:rPr lang="en-US" dirty="0"/>
              <a:t>The sum of entire sample space, S = 13.375</a:t>
            </a:r>
          </a:p>
        </p:txBody>
      </p:sp>
    </p:spTree>
    <p:extLst>
      <p:ext uri="{BB962C8B-B14F-4D97-AF65-F5344CB8AC3E}">
        <p14:creationId xmlns:p14="http://schemas.microsoft.com/office/powerpoint/2010/main" val="548148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18</a:t>
            </a:fld>
            <a:endParaRPr lang="en-US"/>
          </a:p>
        </p:txBody>
      </p:sp>
      <p:graphicFrame>
        <p:nvGraphicFramePr>
          <p:cNvPr id="5" name="Table 4"/>
          <p:cNvGraphicFramePr>
            <a:graphicFrameLocks noGrp="1"/>
          </p:cNvGraphicFramePr>
          <p:nvPr>
            <p:extLst/>
          </p:nvPr>
        </p:nvGraphicFramePr>
        <p:xfrm>
          <a:off x="820883" y="838200"/>
          <a:ext cx="7238999" cy="2560320"/>
        </p:xfrm>
        <a:graphic>
          <a:graphicData uri="http://schemas.openxmlformats.org/drawingml/2006/table">
            <a:tbl>
              <a:tblPr/>
              <a:tblGrid>
                <a:gridCol w="1103448">
                  <a:extLst>
                    <a:ext uri="{9D8B030D-6E8A-4147-A177-3AD203B41FA5}">
                      <a16:colId xmlns="" xmlns:a16="http://schemas.microsoft.com/office/drawing/2014/main" val="20000"/>
                    </a:ext>
                  </a:extLst>
                </a:gridCol>
                <a:gridCol w="1141498">
                  <a:extLst>
                    <a:ext uri="{9D8B030D-6E8A-4147-A177-3AD203B41FA5}">
                      <a16:colId xmlns="" xmlns:a16="http://schemas.microsoft.com/office/drawing/2014/main" val="20001"/>
                    </a:ext>
                  </a:extLst>
                </a:gridCol>
                <a:gridCol w="1141498">
                  <a:extLst>
                    <a:ext uri="{9D8B030D-6E8A-4147-A177-3AD203B41FA5}">
                      <a16:colId xmlns="" xmlns:a16="http://schemas.microsoft.com/office/drawing/2014/main" val="20002"/>
                    </a:ext>
                  </a:extLst>
                </a:gridCol>
                <a:gridCol w="1284185">
                  <a:extLst>
                    <a:ext uri="{9D8B030D-6E8A-4147-A177-3AD203B41FA5}">
                      <a16:colId xmlns="" xmlns:a16="http://schemas.microsoft.com/office/drawing/2014/main" val="20003"/>
                    </a:ext>
                  </a:extLst>
                </a:gridCol>
                <a:gridCol w="1284185">
                  <a:extLst>
                    <a:ext uri="{9D8B030D-6E8A-4147-A177-3AD203B41FA5}">
                      <a16:colId xmlns="" xmlns:a16="http://schemas.microsoft.com/office/drawing/2014/main" val="20004"/>
                    </a:ext>
                  </a:extLst>
                </a:gridCol>
                <a:gridCol w="1284185">
                  <a:extLst>
                    <a:ext uri="{9D8B030D-6E8A-4147-A177-3AD203B41FA5}">
                      <a16:colId xmlns="" xmlns:a16="http://schemas.microsoft.com/office/drawing/2014/main" val="20005"/>
                    </a:ext>
                  </a:extLst>
                </a:gridCol>
              </a:tblGrid>
              <a:tr h="0">
                <a:tc>
                  <a:txBody>
                    <a:bodyPr/>
                    <a:lstStyle/>
                    <a:p>
                      <a:pPr marL="0" marR="0" algn="just">
                        <a:spcBef>
                          <a:spcPts val="0"/>
                        </a:spcBef>
                        <a:spcAft>
                          <a:spcPts val="0"/>
                        </a:spcAft>
                      </a:pPr>
                      <a:r>
                        <a:rPr lang="en-US" sz="2400" dirty="0">
                          <a:latin typeface="Times New Roman"/>
                          <a:ea typeface="MS Mincho"/>
                          <a:cs typeface="Times New Roman"/>
                        </a:rPr>
                        <a:t>A</a:t>
                      </a:r>
                      <a:r>
                        <a:rPr lang="en-US" sz="2400" baseline="30000" dirty="0">
                          <a:latin typeface="Times New Roman"/>
                          <a:ea typeface="MS Mincho"/>
                          <a:cs typeface="Times New Roman"/>
                        </a:rPr>
                        <a:t>3</a:t>
                      </a:r>
                      <a:r>
                        <a:rPr lang="en-US" sz="2400" baseline="-25000" dirty="0">
                          <a:latin typeface="Times New Roman"/>
                          <a:ea typeface="MS Mincho"/>
                          <a:cs typeface="Times New Roman"/>
                        </a:rPr>
                        <a:t>1</a:t>
                      </a:r>
                      <a:r>
                        <a:rPr lang="en-US" sz="2400" dirty="0">
                          <a:latin typeface="Times New Roman"/>
                          <a:ea typeface="MS Mincho"/>
                          <a:cs typeface="Times New Roma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a:latin typeface="Times New Roman"/>
                          <a:ea typeface="MS Mincho"/>
                          <a:cs typeface="Times New Roma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dirty="0">
                          <a:latin typeface="Times New Roman"/>
                          <a:ea typeface="MS Mincho"/>
                          <a:cs typeface="Times New Roman"/>
                        </a:rPr>
                        <a:t>1/24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just">
                        <a:spcBef>
                          <a:spcPts val="0"/>
                        </a:spcBef>
                        <a:spcAft>
                          <a:spcPts val="0"/>
                        </a:spcAft>
                      </a:pPr>
                      <a:endParaRPr lang="en-US" sz="24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marL="0" marR="0" algn="just">
                        <a:spcBef>
                          <a:spcPts val="0"/>
                        </a:spcBef>
                        <a:spcAft>
                          <a:spcPts val="0"/>
                        </a:spcAft>
                      </a:pPr>
                      <a:endParaRPr lang="en-US" sz="24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marL="0" marR="0" algn="just">
                        <a:spcBef>
                          <a:spcPts val="0"/>
                        </a:spcBef>
                        <a:spcAft>
                          <a:spcPts val="0"/>
                        </a:spcAft>
                      </a:pPr>
                      <a:endParaRPr lang="en-US" sz="24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 xmlns:a16="http://schemas.microsoft.com/office/drawing/2014/main" val="10000"/>
                  </a:ext>
                </a:extLst>
              </a:tr>
              <a:tr h="0">
                <a:tc>
                  <a:txBody>
                    <a:bodyPr/>
                    <a:lstStyle/>
                    <a:p>
                      <a:pPr marL="0" marR="0" algn="just">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1</a:t>
                      </a:r>
                      <a:r>
                        <a:rPr lang="en-US" sz="2400" baseline="30000" dirty="0">
                          <a:latin typeface="Times New Roman"/>
                          <a:ea typeface="MS Mincho"/>
                          <a:cs typeface="Times New Roman"/>
                        </a:rPr>
                        <a:t>3</a:t>
                      </a:r>
                      <a:r>
                        <a:rPr lang="en-US" sz="2400" dirty="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a:latin typeface="Times New Roman"/>
                          <a:ea typeface="MS Mincho"/>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dirty="0">
                          <a:latin typeface="Times New Roman"/>
                          <a:ea typeface="MS Mincho"/>
                          <a:cs typeface="Times New Roman"/>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just">
                        <a:spcBef>
                          <a:spcPts val="0"/>
                        </a:spcBef>
                        <a:spcAft>
                          <a:spcPts val="0"/>
                        </a:spcAft>
                      </a:pPr>
                      <a:r>
                        <a:rPr lang="en-US" sz="2400" dirty="0">
                          <a:latin typeface="Times New Roman"/>
                          <a:ea typeface="MS Mincho"/>
                          <a:cs typeface="Times New Roman"/>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just">
                        <a:spcBef>
                          <a:spcPts val="0"/>
                        </a:spcBef>
                        <a:spcAft>
                          <a:spcPts val="0"/>
                        </a:spcAft>
                      </a:pPr>
                      <a:endParaRPr lang="en-US" sz="24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marL="0" marR="0" algn="just">
                        <a:spcBef>
                          <a:spcPts val="0"/>
                        </a:spcBef>
                        <a:spcAft>
                          <a:spcPts val="0"/>
                        </a:spcAft>
                      </a:pPr>
                      <a:endParaRPr lang="en-US" sz="24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 xmlns:a16="http://schemas.microsoft.com/office/drawing/2014/main" val="10001"/>
                  </a:ext>
                </a:extLst>
              </a:tr>
              <a:tr h="0">
                <a:tc>
                  <a:txBody>
                    <a:bodyPr/>
                    <a:lstStyle/>
                    <a:p>
                      <a:pPr marL="0" marR="0" algn="just">
                        <a:spcBef>
                          <a:spcPts val="0"/>
                        </a:spcBef>
                        <a:spcAft>
                          <a:spcPts val="0"/>
                        </a:spcAft>
                      </a:pPr>
                      <a:r>
                        <a:rPr lang="en-US" sz="2400" dirty="0">
                          <a:latin typeface="Times New Roman"/>
                          <a:ea typeface="MS Mincho"/>
                          <a:cs typeface="Times New Roman"/>
                        </a:rPr>
                        <a:t>A</a:t>
                      </a:r>
                      <a:r>
                        <a:rPr lang="en-US" sz="2400" baseline="-25000" dirty="0">
                          <a:latin typeface="Times New Roman"/>
                          <a:ea typeface="MS Mincho"/>
                          <a:cs typeface="Times New Roman"/>
                        </a:rPr>
                        <a:t>1</a:t>
                      </a:r>
                      <a:r>
                        <a:rPr lang="en-US" sz="2400" baseline="30000" dirty="0">
                          <a:latin typeface="Times New Roman"/>
                          <a:ea typeface="MS Mincho"/>
                          <a:cs typeface="Times New Roman"/>
                        </a:rPr>
                        <a:t>2</a:t>
                      </a:r>
                      <a:r>
                        <a:rPr lang="en-US" sz="2400" dirty="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dirty="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a:latin typeface="Times New Roman"/>
                          <a:ea typeface="MS Mincho"/>
                          <a:cs typeface="Times New Roman"/>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just">
                        <a:spcBef>
                          <a:spcPts val="0"/>
                        </a:spcBef>
                        <a:spcAft>
                          <a:spcPts val="0"/>
                        </a:spcAft>
                      </a:pPr>
                      <a:r>
                        <a:rPr lang="en-US" sz="2400" dirty="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just">
                        <a:spcBef>
                          <a:spcPts val="0"/>
                        </a:spcBef>
                        <a:spcAft>
                          <a:spcPts val="0"/>
                        </a:spcAft>
                      </a:pPr>
                      <a:endParaRPr lang="en-US" sz="24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marL="0" marR="0" algn="just">
                        <a:spcBef>
                          <a:spcPts val="0"/>
                        </a:spcBef>
                        <a:spcAft>
                          <a:spcPts val="0"/>
                        </a:spcAft>
                      </a:pPr>
                      <a:endParaRPr lang="en-US" sz="24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 xmlns:a16="http://schemas.microsoft.com/office/drawing/2014/main" val="10002"/>
                  </a:ext>
                </a:extLst>
              </a:tr>
              <a:tr h="0">
                <a:tc>
                  <a:txBody>
                    <a:bodyPr/>
                    <a:lstStyle/>
                    <a:p>
                      <a:pPr marL="0" marR="0" algn="just">
                        <a:spcBef>
                          <a:spcPts val="0"/>
                        </a:spcBef>
                        <a:spcAft>
                          <a:spcPts val="0"/>
                        </a:spcAft>
                      </a:pPr>
                      <a:r>
                        <a:rPr lang="en-US" sz="2400">
                          <a:latin typeface="Times New Roman"/>
                          <a:ea typeface="MS Mincho"/>
                          <a:cs typeface="Times New Roman"/>
                        </a:rPr>
                        <a:t>A</a:t>
                      </a:r>
                      <a:r>
                        <a:rPr lang="en-US" sz="2400" baseline="-25000">
                          <a:latin typeface="Times New Roman"/>
                          <a:ea typeface="MS Mincho"/>
                          <a:cs typeface="Times New Roman"/>
                        </a:rPr>
                        <a:t>1</a:t>
                      </a:r>
                      <a:endParaRPr lang="en-US" sz="24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dirty="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just">
                        <a:spcBef>
                          <a:spcPts val="0"/>
                        </a:spcBef>
                        <a:spcAft>
                          <a:spcPts val="0"/>
                        </a:spcAft>
                      </a:pPr>
                      <a:r>
                        <a:rPr lang="en-US" sz="2400" dirty="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just">
                        <a:spcBef>
                          <a:spcPts val="0"/>
                        </a:spcBef>
                        <a:spcAft>
                          <a:spcPts val="0"/>
                        </a:spcAft>
                      </a:pPr>
                      <a:r>
                        <a:rPr lang="en-US" sz="240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just">
                        <a:spcBef>
                          <a:spcPts val="0"/>
                        </a:spcBef>
                        <a:spcAft>
                          <a:spcPts val="0"/>
                        </a:spcAft>
                      </a:pPr>
                      <a:endParaRPr lang="en-US" sz="24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 xmlns:a16="http://schemas.microsoft.com/office/drawing/2014/main" val="10003"/>
                  </a:ext>
                </a:extLst>
              </a:tr>
              <a:tr h="0">
                <a:tc>
                  <a:txBody>
                    <a:bodyPr/>
                    <a:lstStyle/>
                    <a:p>
                      <a:pPr marL="0" marR="0" algn="just">
                        <a:spcBef>
                          <a:spcPts val="0"/>
                        </a:spcBef>
                        <a:spcAft>
                          <a:spcPts val="0"/>
                        </a:spcAft>
                      </a:pPr>
                      <a:r>
                        <a:rPr lang="en-US" sz="240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a:latin typeface="Times New Roman"/>
                          <a:ea typeface="MS Mincho"/>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dirty="0">
                          <a:latin typeface="Times New Roman"/>
                          <a:ea typeface="MS Mincho"/>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FF00"/>
                    </a:solidFill>
                  </a:tcPr>
                </a:tc>
                <a:tc>
                  <a:txBody>
                    <a:bodyPr/>
                    <a:lstStyle/>
                    <a:p>
                      <a:pPr marL="0" marR="0" algn="just">
                        <a:spcBef>
                          <a:spcPts val="0"/>
                        </a:spcBef>
                        <a:spcAft>
                          <a:spcPts val="0"/>
                        </a:spcAft>
                      </a:pPr>
                      <a:r>
                        <a:rPr lang="en-US" sz="2400" dirty="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just">
                        <a:spcBef>
                          <a:spcPts val="0"/>
                        </a:spcBef>
                        <a:spcAft>
                          <a:spcPts val="0"/>
                        </a:spcAft>
                      </a:pPr>
                      <a:r>
                        <a:rPr lang="en-US" sz="2400" dirty="0">
                          <a:latin typeface="Times New Roman"/>
                          <a:ea typeface="MS Mincho"/>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just">
                        <a:spcBef>
                          <a:spcPts val="0"/>
                        </a:spcBef>
                        <a:spcAft>
                          <a:spcPts val="0"/>
                        </a:spcAft>
                      </a:pPr>
                      <a:r>
                        <a:rPr lang="en-US" sz="2400" dirty="0">
                          <a:latin typeface="Times New Roman"/>
                          <a:ea typeface="MS Mincho"/>
                          <a:cs typeface="Times New Roman"/>
                        </a:rPr>
                        <a:t>4/3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 xmlns:a16="http://schemas.microsoft.com/office/drawing/2014/main" val="10004"/>
                  </a:ext>
                </a:extLst>
              </a:tr>
              <a:tr h="0">
                <a:tc rowSpan="2">
                  <a:txBody>
                    <a:bodyPr/>
                    <a:lstStyle/>
                    <a:p>
                      <a:pPr marL="0" marR="0" algn="just">
                        <a:spcBef>
                          <a:spcPts val="0"/>
                        </a:spcBef>
                        <a:spcAft>
                          <a:spcPts val="0"/>
                        </a:spcAft>
                      </a:pPr>
                      <a:r>
                        <a:rPr lang="en-US" sz="2400">
                          <a:latin typeface="Times New Roman"/>
                          <a:ea typeface="MS Mincho"/>
                          <a:cs typeface="Times New Roman"/>
                        </a:rPr>
                        <a:t>A</a:t>
                      </a:r>
                      <a:r>
                        <a:rPr lang="en-US" sz="2400" baseline="-25000">
                          <a:latin typeface="Times New Roman"/>
                          <a:ea typeface="MS Mincho"/>
                          <a:cs typeface="Times New Roman"/>
                        </a:rPr>
                        <a:t>1</a:t>
                      </a:r>
                      <a:r>
                        <a:rPr lang="en-US" sz="2400">
                          <a:latin typeface="Times New Roman"/>
                          <a:ea typeface="MS Mincho"/>
                          <a:cs typeface="Times New Roman"/>
                        </a:rPr>
                        <a:t>=1</a:t>
                      </a:r>
                    </a:p>
                    <a:p>
                      <a:pPr marL="0" marR="0" algn="just">
                        <a:spcBef>
                          <a:spcPts val="0"/>
                        </a:spcBef>
                        <a:spcAft>
                          <a:spcPts val="0"/>
                        </a:spcAft>
                      </a:pPr>
                      <a:r>
                        <a:rPr lang="en-US" sz="2400">
                          <a:latin typeface="Times New Roman"/>
                          <a:ea typeface="MS Mincho"/>
                          <a:cs typeface="Times New Roman"/>
                        </a:rPr>
                        <a:t>A</a:t>
                      </a:r>
                      <a:r>
                        <a:rPr lang="en-US" sz="2400" baseline="-25000">
                          <a:latin typeface="Times New Roman"/>
                          <a:ea typeface="MS Mincho"/>
                          <a:cs typeface="Times New Roman"/>
                        </a:rPr>
                        <a:t>2</a:t>
                      </a:r>
                      <a:r>
                        <a:rPr lang="en-US" sz="2400">
                          <a:latin typeface="Times New Roman"/>
                          <a:ea typeface="MS Mincho"/>
                          <a:cs typeface="Times New Roman"/>
                        </a:rPr>
                        <a:t>=2</a:t>
                      </a:r>
                    </a:p>
                  </a:txBody>
                  <a:tcPr marL="67945" marR="67945"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gridSpan="2">
                  <a:txBody>
                    <a:bodyPr/>
                    <a:lstStyle/>
                    <a:p>
                      <a:pPr marL="0" marR="0" algn="just">
                        <a:spcBef>
                          <a:spcPts val="0"/>
                        </a:spcBef>
                        <a:spcAft>
                          <a:spcPts val="0"/>
                        </a:spcAft>
                      </a:pPr>
                      <a:r>
                        <a:rPr lang="en-US" sz="2400">
                          <a:latin typeface="Times New Roman"/>
                          <a:ea typeface="MS Mincho"/>
                          <a:cs typeface="Times New Roman"/>
                        </a:rPr>
                        <a:t>0</a:t>
                      </a:r>
                    </a:p>
                  </a:txBody>
                  <a:tcPr marL="67945" marR="67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hMerge="1">
                  <a:txBody>
                    <a:bodyPr/>
                    <a:lstStyle/>
                    <a:p>
                      <a:endParaRPr lang="en-US"/>
                    </a:p>
                  </a:txBody>
                  <a:tcPr/>
                </a:tc>
                <a:tc>
                  <a:txBody>
                    <a:bodyPr/>
                    <a:lstStyle/>
                    <a:p>
                      <a:pPr marL="0" marR="0" algn="just">
                        <a:spcBef>
                          <a:spcPts val="0"/>
                        </a:spcBef>
                        <a:spcAft>
                          <a:spcPts val="0"/>
                        </a:spcAft>
                      </a:pPr>
                      <a:r>
                        <a:rPr lang="en-US" sz="2400" dirty="0">
                          <a:latin typeface="Times New Roman"/>
                          <a:ea typeface="MS Mincho"/>
                          <a:cs typeface="Times New Roman"/>
                        </a:rPr>
                        <a:t>1</a:t>
                      </a:r>
                    </a:p>
                  </a:txBody>
                  <a:tcPr marL="67945" marR="67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dirty="0">
                          <a:latin typeface="Times New Roman"/>
                          <a:ea typeface="MS Mincho"/>
                          <a:cs typeface="Times New Roman"/>
                        </a:rPr>
                        <a:t>2</a:t>
                      </a:r>
                    </a:p>
                  </a:txBody>
                  <a:tcPr marL="67945" marR="67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dirty="0">
                          <a:latin typeface="Times New Roman"/>
                          <a:ea typeface="MS Mincho"/>
                          <a:cs typeface="Times New Roman"/>
                        </a:rPr>
                        <a:t>3</a:t>
                      </a:r>
                    </a:p>
                  </a:txBody>
                  <a:tcPr marL="67945" marR="67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extLst>
                  <a:ext uri="{0D108BD9-81ED-4DB2-BD59-A6C34878D82A}">
                    <a16:rowId xmlns="" xmlns:a16="http://schemas.microsoft.com/office/drawing/2014/main" val="10005"/>
                  </a:ext>
                </a:extLst>
              </a:tr>
              <a:tr h="0">
                <a:tc vMerge="1">
                  <a:txBody>
                    <a:bodyPr/>
                    <a:lstStyle/>
                    <a:p>
                      <a:endParaRPr lang="en-US"/>
                    </a:p>
                  </a:txBody>
                  <a:tcPr/>
                </a:tc>
                <a:tc gridSpan="2">
                  <a:txBody>
                    <a:bodyPr/>
                    <a:lstStyle/>
                    <a:p>
                      <a:pPr marL="0" marR="0" algn="just">
                        <a:spcBef>
                          <a:spcPts val="0"/>
                        </a:spcBef>
                        <a:spcAft>
                          <a:spcPts val="0"/>
                        </a:spcAft>
                      </a:pPr>
                      <a:r>
                        <a:rPr lang="en-US" sz="2400">
                          <a:latin typeface="Times New Roman"/>
                          <a:ea typeface="MS Mincho"/>
                          <a:cs typeface="Times New Roman"/>
                        </a:rPr>
                        <a:t>1</a:t>
                      </a:r>
                    </a:p>
                  </a:txBody>
                  <a:tcPr marL="67945" marR="67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hMerge="1">
                  <a:txBody>
                    <a:bodyPr/>
                    <a:lstStyle/>
                    <a:p>
                      <a:endParaRPr lang="en-US"/>
                    </a:p>
                  </a:txBody>
                  <a:tcPr/>
                </a:tc>
                <a:tc>
                  <a:txBody>
                    <a:bodyPr/>
                    <a:lstStyle/>
                    <a:p>
                      <a:pPr marL="0" marR="0" algn="just">
                        <a:spcBef>
                          <a:spcPts val="0"/>
                        </a:spcBef>
                        <a:spcAft>
                          <a:spcPts val="0"/>
                        </a:spcAft>
                      </a:pPr>
                      <a:r>
                        <a:rPr lang="en-US" sz="2400">
                          <a:latin typeface="Times New Roman"/>
                          <a:ea typeface="MS Mincho"/>
                          <a:cs typeface="Times New Roman"/>
                        </a:rPr>
                        <a:t>A</a:t>
                      </a:r>
                      <a:r>
                        <a:rPr lang="en-US" sz="2400" baseline="-25000">
                          <a:latin typeface="Times New Roman"/>
                          <a:ea typeface="MS Mincho"/>
                          <a:cs typeface="Times New Roman"/>
                        </a:rPr>
                        <a:t>2</a:t>
                      </a:r>
                      <a:endParaRPr lang="en-US" sz="2400">
                        <a:latin typeface="Times New Roman"/>
                        <a:ea typeface="MS Mincho"/>
                        <a:cs typeface="Times New Roman"/>
                      </a:endParaRPr>
                    </a:p>
                  </a:txBody>
                  <a:tcPr marL="67945" marR="67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a:latin typeface="Times New Roman"/>
                          <a:ea typeface="MS Mincho"/>
                          <a:cs typeface="Times New Roman"/>
                        </a:rPr>
                        <a:t>A</a:t>
                      </a:r>
                      <a:r>
                        <a:rPr lang="en-US" sz="2400" baseline="30000">
                          <a:latin typeface="Times New Roman"/>
                          <a:ea typeface="MS Mincho"/>
                          <a:cs typeface="Times New Roman"/>
                        </a:rPr>
                        <a:t>2</a:t>
                      </a:r>
                      <a:r>
                        <a:rPr lang="en-US" sz="2400" baseline="-25000">
                          <a:latin typeface="Times New Roman"/>
                          <a:ea typeface="MS Mincho"/>
                          <a:cs typeface="Times New Roman"/>
                        </a:rPr>
                        <a:t>2</a:t>
                      </a:r>
                      <a:r>
                        <a:rPr lang="en-US" sz="2400">
                          <a:latin typeface="Times New Roman"/>
                          <a:ea typeface="MS Mincho"/>
                          <a:cs typeface="Times New Roman"/>
                        </a:rPr>
                        <a:t>/2!</a:t>
                      </a:r>
                    </a:p>
                  </a:txBody>
                  <a:tcPr marL="67945" marR="67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just">
                        <a:spcBef>
                          <a:spcPts val="0"/>
                        </a:spcBef>
                        <a:spcAft>
                          <a:spcPts val="0"/>
                        </a:spcAft>
                      </a:pPr>
                      <a:r>
                        <a:rPr lang="en-US" sz="2400" dirty="0">
                          <a:latin typeface="Times New Roman"/>
                          <a:ea typeface="MS Mincho"/>
                          <a:cs typeface="Times New Roman"/>
                        </a:rPr>
                        <a:t>A</a:t>
                      </a:r>
                      <a:r>
                        <a:rPr lang="en-US" sz="2400" baseline="30000" dirty="0">
                          <a:latin typeface="Times New Roman"/>
                          <a:ea typeface="MS Mincho"/>
                          <a:cs typeface="Times New Roman"/>
                        </a:rPr>
                        <a:t>3</a:t>
                      </a:r>
                      <a:r>
                        <a:rPr lang="en-US" sz="2400" baseline="-25000" dirty="0">
                          <a:latin typeface="Times New Roman"/>
                          <a:ea typeface="MS Mincho"/>
                          <a:cs typeface="Times New Roman"/>
                        </a:rPr>
                        <a:t>2</a:t>
                      </a:r>
                      <a:r>
                        <a:rPr lang="en-US" sz="2400" dirty="0">
                          <a:latin typeface="Times New Roman"/>
                          <a:ea typeface="MS Mincho"/>
                          <a:cs typeface="Times New Roman"/>
                        </a:rPr>
                        <a:t>/3!</a:t>
                      </a:r>
                    </a:p>
                  </a:txBody>
                  <a:tcPr marL="67945" marR="67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extLst>
                  <a:ext uri="{0D108BD9-81ED-4DB2-BD59-A6C34878D82A}">
                    <a16:rowId xmlns="" xmlns:a16="http://schemas.microsoft.com/office/drawing/2014/main" val="10006"/>
                  </a:ext>
                </a:extLst>
              </a:tr>
            </a:tbl>
          </a:graphicData>
        </a:graphic>
      </p:graphicFrame>
      <p:cxnSp>
        <p:nvCxnSpPr>
          <p:cNvPr id="6" name="Straight Arrow Connector 5"/>
          <p:cNvCxnSpPr/>
          <p:nvPr/>
        </p:nvCxnSpPr>
        <p:spPr>
          <a:xfrm>
            <a:off x="4249883" y="1066800"/>
            <a:ext cx="7620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5469083" y="1371600"/>
            <a:ext cx="7620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5483151" y="1751012"/>
            <a:ext cx="7620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6798479" y="2132012"/>
            <a:ext cx="7620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8059883" y="2513012"/>
            <a:ext cx="7620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5400000" flipH="1" flipV="1">
            <a:off x="3412477" y="608806"/>
            <a:ext cx="457200" cy="1588"/>
          </a:xfrm>
          <a:prstGeom prst="straightConnector1">
            <a:avLst/>
          </a:prstGeom>
          <a:ln>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5400000" flipH="1" flipV="1">
            <a:off x="4326877" y="989806"/>
            <a:ext cx="457200" cy="1588"/>
          </a:xfrm>
          <a:prstGeom prst="straightConnector1">
            <a:avLst/>
          </a:prstGeom>
          <a:ln>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5400000" flipH="1" flipV="1">
            <a:off x="5698477" y="1751806"/>
            <a:ext cx="457200" cy="1588"/>
          </a:xfrm>
          <a:prstGeom prst="straightConnector1">
            <a:avLst/>
          </a:prstGeom>
          <a:ln>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5400000" flipH="1" flipV="1">
            <a:off x="6993877" y="2056606"/>
            <a:ext cx="457200" cy="1588"/>
          </a:xfrm>
          <a:prstGeom prst="straightConnector1">
            <a:avLst/>
          </a:prstGeom>
          <a:ln>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524741" y="4137492"/>
            <a:ext cx="7831282" cy="1938992"/>
          </a:xfrm>
          <a:prstGeom prst="rect">
            <a:avLst/>
          </a:prstGeom>
        </p:spPr>
        <p:txBody>
          <a:bodyPr wrap="square">
            <a:spAutoFit/>
          </a:bodyPr>
          <a:lstStyle/>
          <a:p>
            <a:pPr fontAlgn="t"/>
            <a:r>
              <a:rPr lang="en-US" dirty="0"/>
              <a:t>The blocking probability of A</a:t>
            </a:r>
            <a:r>
              <a:rPr lang="en-US" baseline="-25000" dirty="0"/>
              <a:t>1</a:t>
            </a:r>
            <a:r>
              <a:rPr lang="en-US" dirty="0"/>
              <a:t> traffic, </a:t>
            </a:r>
          </a:p>
          <a:p>
            <a:pPr fontAlgn="t"/>
            <a:r>
              <a:rPr lang="en-US" dirty="0"/>
              <a:t>B</a:t>
            </a:r>
            <a:r>
              <a:rPr lang="en-US" baseline="-25000" dirty="0"/>
              <a:t>1</a:t>
            </a:r>
            <a:r>
              <a:rPr lang="en-US" dirty="0"/>
              <a:t>=</a:t>
            </a:r>
            <a:r>
              <a:rPr lang="en-US" dirty="0">
                <a:latin typeface="Times New Roman"/>
                <a:ea typeface="MS Mincho"/>
                <a:cs typeface="Times New Roman"/>
              </a:rPr>
              <a:t> (1/24+1/3+2+4/3)/13.375 = 3.708/13.375 = 0.277</a:t>
            </a:r>
          </a:p>
          <a:p>
            <a:pPr fontAlgn="t"/>
            <a:endParaRPr lang="en-US" dirty="0">
              <a:latin typeface="Times New Roman"/>
              <a:ea typeface="MS Mincho"/>
              <a:cs typeface="Times New Roman"/>
            </a:endParaRPr>
          </a:p>
          <a:p>
            <a:pPr fontAlgn="t"/>
            <a:r>
              <a:rPr lang="en-US" dirty="0"/>
              <a:t>The blocking probability of A</a:t>
            </a:r>
            <a:r>
              <a:rPr lang="en-US" baseline="-25000" dirty="0"/>
              <a:t>2</a:t>
            </a:r>
            <a:r>
              <a:rPr lang="en-US" dirty="0"/>
              <a:t> traffic, </a:t>
            </a:r>
          </a:p>
          <a:p>
            <a:pPr fontAlgn="t"/>
            <a:r>
              <a:rPr lang="en-US" dirty="0"/>
              <a:t>B</a:t>
            </a:r>
            <a:r>
              <a:rPr lang="en-US" baseline="-25000" dirty="0"/>
              <a:t>2</a:t>
            </a:r>
            <a:r>
              <a:rPr lang="en-US" dirty="0"/>
              <a:t>=</a:t>
            </a:r>
            <a:r>
              <a:rPr lang="en-US" dirty="0">
                <a:latin typeface="Times New Roman"/>
                <a:ea typeface="MS Mincho"/>
                <a:cs typeface="Times New Roman"/>
              </a:rPr>
              <a:t> (1/24+1/3+1+2+4/3)/13.375 = 4.708/13.375 = 0.352</a:t>
            </a:r>
            <a:endParaRPr lang="en-US" dirty="0"/>
          </a:p>
        </p:txBody>
      </p:sp>
    </p:spTree>
    <p:extLst>
      <p:ext uri="{BB962C8B-B14F-4D97-AF65-F5344CB8AC3E}">
        <p14:creationId xmlns:p14="http://schemas.microsoft.com/office/powerpoint/2010/main" val="490873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19</a:t>
            </a:fld>
            <a:endParaRPr lang="en-US"/>
          </a:p>
        </p:txBody>
      </p:sp>
      <p:sp>
        <p:nvSpPr>
          <p:cNvPr id="14" name="TextBox 13"/>
          <p:cNvSpPr txBox="1"/>
          <p:nvPr/>
        </p:nvSpPr>
        <p:spPr>
          <a:xfrm>
            <a:off x="381000" y="457200"/>
            <a:ext cx="8458200" cy="830997"/>
          </a:xfrm>
          <a:prstGeom prst="rect">
            <a:avLst/>
          </a:prstGeom>
          <a:solidFill>
            <a:srgbClr val="FFCCCC"/>
          </a:solidFill>
        </p:spPr>
        <p:txBody>
          <a:bodyPr wrap="square" rtlCol="0">
            <a:spAutoFit/>
          </a:bodyPr>
          <a:lstStyle/>
          <a:p>
            <a:r>
              <a:rPr lang="en-US" dirty="0"/>
              <a:t>Q1. For the traffic of dissimilar bandwidth of figure below determine the blocking probability of individual traffic. </a:t>
            </a:r>
          </a:p>
        </p:txBody>
      </p:sp>
      <p:pic>
        <p:nvPicPr>
          <p:cNvPr id="2" name="Picture 1"/>
          <p:cNvPicPr>
            <a:picLocks noChangeAspect="1"/>
          </p:cNvPicPr>
          <p:nvPr/>
        </p:nvPicPr>
        <p:blipFill>
          <a:blip r:embed="rId2"/>
          <a:stretch>
            <a:fillRect/>
          </a:stretch>
        </p:blipFill>
        <p:spPr>
          <a:xfrm>
            <a:off x="657225" y="2590800"/>
            <a:ext cx="8181975" cy="3467100"/>
          </a:xfrm>
          <a:prstGeom prst="rect">
            <a:avLst/>
          </a:prstGeom>
        </p:spPr>
      </p:pic>
      <p:sp>
        <p:nvSpPr>
          <p:cNvPr id="3" name="TextBox 2"/>
          <p:cNvSpPr txBox="1"/>
          <p:nvPr/>
        </p:nvSpPr>
        <p:spPr>
          <a:xfrm>
            <a:off x="1447800" y="4800600"/>
            <a:ext cx="1524000" cy="338554"/>
          </a:xfrm>
          <a:prstGeom prst="rect">
            <a:avLst/>
          </a:prstGeom>
          <a:solidFill>
            <a:srgbClr val="FFFF66"/>
          </a:solidFill>
        </p:spPr>
        <p:txBody>
          <a:bodyPr wrap="square" rtlCol="0">
            <a:spAutoFit/>
          </a:bodyPr>
          <a:lstStyle/>
          <a:p>
            <a:r>
              <a:rPr lang="en-US" sz="1600" dirty="0"/>
              <a:t>Wideband call</a:t>
            </a:r>
          </a:p>
        </p:txBody>
      </p:sp>
      <p:sp>
        <p:nvSpPr>
          <p:cNvPr id="7" name="TextBox 6"/>
          <p:cNvSpPr txBox="1"/>
          <p:nvPr/>
        </p:nvSpPr>
        <p:spPr>
          <a:xfrm>
            <a:off x="1447800" y="2971800"/>
            <a:ext cx="1676400" cy="338554"/>
          </a:xfrm>
          <a:prstGeom prst="rect">
            <a:avLst/>
          </a:prstGeom>
          <a:solidFill>
            <a:srgbClr val="FFFF66"/>
          </a:solidFill>
        </p:spPr>
        <p:txBody>
          <a:bodyPr wrap="square" rtlCol="0">
            <a:spAutoFit/>
          </a:bodyPr>
          <a:lstStyle/>
          <a:p>
            <a:r>
              <a:rPr lang="en-US" sz="1600" dirty="0"/>
              <a:t>Narrowband call</a:t>
            </a:r>
          </a:p>
        </p:txBody>
      </p:sp>
    </p:spTree>
    <p:extLst>
      <p:ext uri="{BB962C8B-B14F-4D97-AF65-F5344CB8AC3E}">
        <p14:creationId xmlns:p14="http://schemas.microsoft.com/office/powerpoint/2010/main" val="41887789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20</a:t>
            </a:fld>
            <a:endParaRPr lang="en-US"/>
          </a:p>
        </p:txBody>
      </p:sp>
      <p:sp>
        <p:nvSpPr>
          <p:cNvPr id="6" name="TextBox 5"/>
          <p:cNvSpPr txBox="1"/>
          <p:nvPr/>
        </p:nvSpPr>
        <p:spPr>
          <a:xfrm>
            <a:off x="381000" y="457200"/>
            <a:ext cx="8458200" cy="830997"/>
          </a:xfrm>
          <a:prstGeom prst="rect">
            <a:avLst/>
          </a:prstGeom>
          <a:solidFill>
            <a:srgbClr val="FFCCCC"/>
          </a:solidFill>
        </p:spPr>
        <p:txBody>
          <a:bodyPr wrap="square" rtlCol="0">
            <a:spAutoFit/>
          </a:bodyPr>
          <a:lstStyle/>
          <a:p>
            <a:r>
              <a:rPr lang="en-US" dirty="0"/>
              <a:t>Q2. For the traffic of dissimilar bandwidth of figure below determine the blocking probability of individual traffic. </a:t>
            </a:r>
          </a:p>
        </p:txBody>
      </p:sp>
      <p:pic>
        <p:nvPicPr>
          <p:cNvPr id="2" name="Picture 1"/>
          <p:cNvPicPr>
            <a:picLocks noChangeAspect="1"/>
          </p:cNvPicPr>
          <p:nvPr/>
        </p:nvPicPr>
        <p:blipFill>
          <a:blip r:embed="rId2"/>
          <a:stretch>
            <a:fillRect/>
          </a:stretch>
        </p:blipFill>
        <p:spPr>
          <a:xfrm>
            <a:off x="685800" y="2667000"/>
            <a:ext cx="7381875" cy="3067050"/>
          </a:xfrm>
          <a:prstGeom prst="rect">
            <a:avLst/>
          </a:prstGeom>
        </p:spPr>
      </p:pic>
      <p:sp>
        <p:nvSpPr>
          <p:cNvPr id="7" name="TextBox 6"/>
          <p:cNvSpPr txBox="1"/>
          <p:nvPr/>
        </p:nvSpPr>
        <p:spPr>
          <a:xfrm>
            <a:off x="3771900" y="2743200"/>
            <a:ext cx="1676400" cy="338554"/>
          </a:xfrm>
          <a:prstGeom prst="rect">
            <a:avLst/>
          </a:prstGeom>
          <a:solidFill>
            <a:srgbClr val="FFFF66"/>
          </a:solidFill>
        </p:spPr>
        <p:txBody>
          <a:bodyPr wrap="square" rtlCol="0">
            <a:spAutoFit/>
          </a:bodyPr>
          <a:lstStyle/>
          <a:p>
            <a:r>
              <a:rPr lang="en-US" sz="1600" dirty="0"/>
              <a:t>Narrowband call</a:t>
            </a:r>
          </a:p>
        </p:txBody>
      </p:sp>
      <p:sp>
        <p:nvSpPr>
          <p:cNvPr id="8" name="TextBox 7"/>
          <p:cNvSpPr txBox="1"/>
          <p:nvPr/>
        </p:nvSpPr>
        <p:spPr>
          <a:xfrm>
            <a:off x="4038600" y="5029200"/>
            <a:ext cx="1676400" cy="338554"/>
          </a:xfrm>
          <a:prstGeom prst="rect">
            <a:avLst/>
          </a:prstGeom>
          <a:solidFill>
            <a:srgbClr val="FFFF66"/>
          </a:solidFill>
        </p:spPr>
        <p:txBody>
          <a:bodyPr wrap="square" rtlCol="0">
            <a:spAutoFit/>
          </a:bodyPr>
          <a:lstStyle/>
          <a:p>
            <a:r>
              <a:rPr lang="en-US" sz="1600" dirty="0"/>
              <a:t>Wideband call</a:t>
            </a:r>
          </a:p>
        </p:txBody>
      </p:sp>
    </p:spTree>
    <p:extLst>
      <p:ext uri="{BB962C8B-B14F-4D97-AF65-F5344CB8AC3E}">
        <p14:creationId xmlns:p14="http://schemas.microsoft.com/office/powerpoint/2010/main" val="1775720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21</a:t>
            </a:fld>
            <a:endParaRPr lang="en-US"/>
          </a:p>
        </p:txBody>
      </p:sp>
      <p:sp>
        <p:nvSpPr>
          <p:cNvPr id="5" name="TextBox 4"/>
          <p:cNvSpPr txBox="1"/>
          <p:nvPr/>
        </p:nvSpPr>
        <p:spPr>
          <a:xfrm>
            <a:off x="457200" y="381000"/>
            <a:ext cx="7924800" cy="6001643"/>
          </a:xfrm>
          <a:prstGeom prst="rect">
            <a:avLst/>
          </a:prstGeom>
          <a:solidFill>
            <a:srgbClr val="FFCCCC"/>
          </a:solidFill>
        </p:spPr>
        <p:txBody>
          <a:bodyPr wrap="square" rtlCol="0">
            <a:spAutoFit/>
          </a:bodyPr>
          <a:lstStyle/>
          <a:p>
            <a:r>
              <a:rPr lang="en-US" dirty="0" smtClean="0"/>
              <a:t>%Probability states before normalization in matrix form</a:t>
            </a:r>
          </a:p>
          <a:p>
            <a:r>
              <a:rPr lang="en-US" dirty="0" smtClean="0"/>
              <a:t>A1=1; A2=2</a:t>
            </a:r>
            <a:r>
              <a:rPr lang="en-US" dirty="0"/>
              <a:t>;</a:t>
            </a:r>
          </a:p>
          <a:p>
            <a:r>
              <a:rPr lang="en-US" dirty="0"/>
              <a:t>x1=2; x2=3;</a:t>
            </a:r>
          </a:p>
          <a:p>
            <a:r>
              <a:rPr lang="en-US" dirty="0"/>
              <a:t>BW=9; M=ceil(BW/x1); %size of the matrix is M by M</a:t>
            </a:r>
          </a:p>
          <a:p>
            <a:r>
              <a:rPr lang="en-US" dirty="0"/>
              <a:t>for </a:t>
            </a:r>
            <a:r>
              <a:rPr lang="en-US" dirty="0" err="1"/>
              <a:t>i</a:t>
            </a:r>
            <a:r>
              <a:rPr lang="en-US" dirty="0"/>
              <a:t>=1:M</a:t>
            </a:r>
          </a:p>
          <a:p>
            <a:r>
              <a:rPr lang="en-US" dirty="0"/>
              <a:t>for j=1:M</a:t>
            </a:r>
          </a:p>
          <a:p>
            <a:r>
              <a:rPr lang="en-US" dirty="0"/>
              <a:t>e = (i-1)*x1+(j-1)*x2;</a:t>
            </a:r>
          </a:p>
          <a:p>
            <a:r>
              <a:rPr lang="en-US" dirty="0"/>
              <a:t> </a:t>
            </a:r>
          </a:p>
          <a:p>
            <a:r>
              <a:rPr lang="en-US" dirty="0"/>
              <a:t>if e &lt;= 9</a:t>
            </a:r>
          </a:p>
          <a:p>
            <a:r>
              <a:rPr lang="en-US" dirty="0"/>
              <a:t>S(</a:t>
            </a:r>
            <a:r>
              <a:rPr lang="en-US" dirty="0" err="1"/>
              <a:t>i</a:t>
            </a:r>
            <a:r>
              <a:rPr lang="en-US" dirty="0"/>
              <a:t>, j)= ((A1^(i-1))/factorial(i-1))* ((A2^(j-1))/factorial(j-1));</a:t>
            </a:r>
          </a:p>
          <a:p>
            <a:r>
              <a:rPr lang="en-US" dirty="0"/>
              <a:t>else</a:t>
            </a:r>
          </a:p>
          <a:p>
            <a:r>
              <a:rPr lang="en-US" dirty="0"/>
              <a:t>S(</a:t>
            </a:r>
            <a:r>
              <a:rPr lang="en-US" dirty="0" err="1"/>
              <a:t>i</a:t>
            </a:r>
            <a:r>
              <a:rPr lang="en-US" dirty="0"/>
              <a:t>, j)=0;</a:t>
            </a:r>
          </a:p>
          <a:p>
            <a:r>
              <a:rPr lang="en-US" dirty="0"/>
              <a:t>end</a:t>
            </a:r>
          </a:p>
          <a:p>
            <a:r>
              <a:rPr lang="en-US" dirty="0"/>
              <a:t> </a:t>
            </a:r>
          </a:p>
          <a:p>
            <a:r>
              <a:rPr lang="en-US" dirty="0"/>
              <a:t>end</a:t>
            </a:r>
          </a:p>
          <a:p>
            <a:r>
              <a:rPr lang="en-US" dirty="0"/>
              <a:t>end</a:t>
            </a:r>
          </a:p>
        </p:txBody>
      </p:sp>
      <p:pic>
        <p:nvPicPr>
          <p:cNvPr id="2" name="Picture 1"/>
          <p:cNvPicPr>
            <a:picLocks noChangeAspect="1"/>
          </p:cNvPicPr>
          <p:nvPr/>
        </p:nvPicPr>
        <p:blipFill>
          <a:blip r:embed="rId2"/>
          <a:stretch>
            <a:fillRect/>
          </a:stretch>
        </p:blipFill>
        <p:spPr>
          <a:xfrm>
            <a:off x="3505200" y="4305530"/>
            <a:ext cx="4695825" cy="2155203"/>
          </a:xfrm>
          <a:prstGeom prst="rect">
            <a:avLst/>
          </a:prstGeom>
        </p:spPr>
      </p:pic>
    </p:spTree>
    <p:extLst>
      <p:ext uri="{BB962C8B-B14F-4D97-AF65-F5344CB8AC3E}">
        <p14:creationId xmlns:p14="http://schemas.microsoft.com/office/powerpoint/2010/main" val="30393818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22</a:t>
            </a:fld>
            <a:endParaRPr lang="en-US"/>
          </a:p>
        </p:txBody>
      </p:sp>
      <p:sp>
        <p:nvSpPr>
          <p:cNvPr id="5" name="TextBox 4"/>
          <p:cNvSpPr txBox="1"/>
          <p:nvPr/>
        </p:nvSpPr>
        <p:spPr>
          <a:xfrm>
            <a:off x="152400" y="990600"/>
            <a:ext cx="8763000" cy="4893647"/>
          </a:xfrm>
          <a:prstGeom prst="rect">
            <a:avLst/>
          </a:prstGeom>
          <a:solidFill>
            <a:srgbClr val="FFCCCC"/>
          </a:solidFill>
        </p:spPr>
        <p:txBody>
          <a:bodyPr wrap="square" rtlCol="0">
            <a:spAutoFit/>
          </a:bodyPr>
          <a:lstStyle/>
          <a:p>
            <a:r>
              <a:rPr lang="en-US" dirty="0"/>
              <a:t>% rows should be made reversed to cope with Cartesian co-ordinate system</a:t>
            </a:r>
          </a:p>
          <a:p>
            <a:r>
              <a:rPr lang="en-US" dirty="0"/>
              <a:t>for </a:t>
            </a:r>
            <a:r>
              <a:rPr lang="en-US" dirty="0" err="1"/>
              <a:t>i</a:t>
            </a:r>
            <a:r>
              <a:rPr lang="en-US" dirty="0"/>
              <a:t>=1:M</a:t>
            </a:r>
          </a:p>
          <a:p>
            <a:r>
              <a:rPr lang="en-US" dirty="0"/>
              <a:t>for j=1:M</a:t>
            </a:r>
          </a:p>
          <a:p>
            <a:r>
              <a:rPr lang="en-US" dirty="0"/>
              <a:t>k=M-i+1;</a:t>
            </a:r>
          </a:p>
          <a:p>
            <a:r>
              <a:rPr lang="en-US" dirty="0"/>
              <a:t>S1(</a:t>
            </a:r>
            <a:r>
              <a:rPr lang="en-US" dirty="0" err="1"/>
              <a:t>i</a:t>
            </a:r>
            <a:r>
              <a:rPr lang="en-US" dirty="0"/>
              <a:t>, j)=S(k, j</a:t>
            </a:r>
            <a:r>
              <a:rPr lang="en-US" dirty="0" smtClean="0"/>
              <a:t>); %sates are now S1(</a:t>
            </a:r>
            <a:r>
              <a:rPr lang="en-US" dirty="0" err="1" smtClean="0"/>
              <a:t>x,y</a:t>
            </a:r>
            <a:r>
              <a:rPr lang="en-US" dirty="0" smtClean="0"/>
              <a:t>)</a:t>
            </a:r>
            <a:endParaRPr lang="en-US" dirty="0"/>
          </a:p>
          <a:p>
            <a:r>
              <a:rPr lang="en-US" dirty="0"/>
              <a:t>end</a:t>
            </a:r>
          </a:p>
          <a:p>
            <a:r>
              <a:rPr lang="en-US" dirty="0" smtClean="0"/>
              <a:t>end</a:t>
            </a:r>
          </a:p>
          <a:p>
            <a:endParaRPr lang="en-US" dirty="0"/>
          </a:p>
          <a:p>
            <a:endParaRPr lang="en-US" dirty="0" smtClean="0"/>
          </a:p>
          <a:p>
            <a:r>
              <a:rPr lang="en-US" dirty="0"/>
              <a:t>% Normalized states</a:t>
            </a:r>
          </a:p>
          <a:p>
            <a:r>
              <a:rPr lang="en-US" dirty="0"/>
              <a:t>T=sum(sum(S1));</a:t>
            </a:r>
          </a:p>
          <a:p>
            <a:r>
              <a:rPr lang="en-US" dirty="0" err="1"/>
              <a:t>Sn</a:t>
            </a:r>
            <a:r>
              <a:rPr lang="en-US" dirty="0"/>
              <a:t>=S1/T;</a:t>
            </a:r>
          </a:p>
        </p:txBody>
      </p:sp>
    </p:spTree>
    <p:extLst>
      <p:ext uri="{BB962C8B-B14F-4D97-AF65-F5344CB8AC3E}">
        <p14:creationId xmlns:p14="http://schemas.microsoft.com/office/powerpoint/2010/main" val="12124684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23</a:t>
            </a:fld>
            <a:endParaRPr lang="en-US"/>
          </a:p>
        </p:txBody>
      </p:sp>
      <p:sp>
        <p:nvSpPr>
          <p:cNvPr id="5" name="TextBox 4"/>
          <p:cNvSpPr txBox="1"/>
          <p:nvPr/>
        </p:nvSpPr>
        <p:spPr>
          <a:xfrm>
            <a:off x="152400" y="1981200"/>
            <a:ext cx="3657600" cy="3785652"/>
          </a:xfrm>
          <a:prstGeom prst="rect">
            <a:avLst/>
          </a:prstGeom>
          <a:solidFill>
            <a:srgbClr val="CCFFFF"/>
          </a:solidFill>
        </p:spPr>
        <p:txBody>
          <a:bodyPr wrap="square" rtlCol="0">
            <a:spAutoFit/>
          </a:bodyPr>
          <a:lstStyle/>
          <a:p>
            <a:r>
              <a:rPr lang="en-US" dirty="0"/>
              <a:t>%Side open states</a:t>
            </a:r>
          </a:p>
          <a:p>
            <a:r>
              <a:rPr lang="en-US" dirty="0"/>
              <a:t>B2=0;</a:t>
            </a:r>
          </a:p>
          <a:p>
            <a:r>
              <a:rPr lang="en-US" dirty="0"/>
              <a:t>for </a:t>
            </a:r>
            <a:r>
              <a:rPr lang="en-US" dirty="0" err="1"/>
              <a:t>i</a:t>
            </a:r>
            <a:r>
              <a:rPr lang="en-US" dirty="0"/>
              <a:t>=1:M</a:t>
            </a:r>
          </a:p>
          <a:p>
            <a:r>
              <a:rPr lang="en-US" dirty="0"/>
              <a:t>for j=1:M</a:t>
            </a:r>
          </a:p>
          <a:p>
            <a:r>
              <a:rPr lang="en-US" dirty="0"/>
              <a:t>k=j+1;</a:t>
            </a:r>
          </a:p>
          <a:p>
            <a:r>
              <a:rPr lang="en-US" dirty="0"/>
              <a:t>if </a:t>
            </a:r>
            <a:r>
              <a:rPr lang="en-US" dirty="0" err="1"/>
              <a:t>Sn</a:t>
            </a:r>
            <a:r>
              <a:rPr lang="en-US" dirty="0"/>
              <a:t>(</a:t>
            </a:r>
            <a:r>
              <a:rPr lang="en-US" dirty="0" err="1"/>
              <a:t>i</a:t>
            </a:r>
            <a:r>
              <a:rPr lang="en-US" dirty="0"/>
              <a:t>, j)&gt;0 &amp;&amp; </a:t>
            </a:r>
            <a:r>
              <a:rPr lang="en-US" dirty="0" err="1"/>
              <a:t>Sn</a:t>
            </a:r>
            <a:r>
              <a:rPr lang="en-US" dirty="0"/>
              <a:t>(</a:t>
            </a:r>
            <a:r>
              <a:rPr lang="en-US" dirty="0" err="1"/>
              <a:t>i</a:t>
            </a:r>
            <a:r>
              <a:rPr lang="en-US" dirty="0"/>
              <a:t>, k)==0</a:t>
            </a:r>
          </a:p>
          <a:p>
            <a:r>
              <a:rPr lang="en-US" dirty="0"/>
              <a:t>B2= B2+Sn(</a:t>
            </a:r>
            <a:r>
              <a:rPr lang="en-US" dirty="0" err="1"/>
              <a:t>i</a:t>
            </a:r>
            <a:r>
              <a:rPr lang="en-US" dirty="0"/>
              <a:t>, j);</a:t>
            </a:r>
          </a:p>
          <a:p>
            <a:r>
              <a:rPr lang="en-US" dirty="0"/>
              <a:t>end</a:t>
            </a:r>
          </a:p>
          <a:p>
            <a:r>
              <a:rPr lang="en-US" dirty="0"/>
              <a:t>end</a:t>
            </a:r>
          </a:p>
          <a:p>
            <a:r>
              <a:rPr lang="en-US" dirty="0" smtClean="0"/>
              <a:t>end</a:t>
            </a:r>
            <a:endParaRPr lang="en-US" dirty="0"/>
          </a:p>
        </p:txBody>
      </p:sp>
      <p:sp>
        <p:nvSpPr>
          <p:cNvPr id="6" name="TextBox 5"/>
          <p:cNvSpPr txBox="1"/>
          <p:nvPr/>
        </p:nvSpPr>
        <p:spPr>
          <a:xfrm>
            <a:off x="3810000" y="457200"/>
            <a:ext cx="5334000" cy="5632311"/>
          </a:xfrm>
          <a:prstGeom prst="rect">
            <a:avLst/>
          </a:prstGeom>
          <a:solidFill>
            <a:srgbClr val="FFCCCC"/>
          </a:solidFill>
        </p:spPr>
        <p:txBody>
          <a:bodyPr wrap="square" rtlCol="0">
            <a:spAutoFit/>
          </a:bodyPr>
          <a:lstStyle/>
          <a:p>
            <a:r>
              <a:rPr lang="en-US" dirty="0"/>
              <a:t>% open states of roof</a:t>
            </a:r>
          </a:p>
          <a:p>
            <a:r>
              <a:rPr lang="en-US" dirty="0"/>
              <a:t>B1</a:t>
            </a:r>
            <a:r>
              <a:rPr lang="en-US" dirty="0" smtClean="0"/>
              <a:t>= 0</a:t>
            </a:r>
            <a:r>
              <a:rPr lang="en-US" dirty="0"/>
              <a:t>;</a:t>
            </a:r>
          </a:p>
          <a:p>
            <a:r>
              <a:rPr lang="en-US" dirty="0"/>
              <a:t>for </a:t>
            </a:r>
            <a:r>
              <a:rPr lang="en-US" dirty="0" err="1" smtClean="0"/>
              <a:t>i</a:t>
            </a:r>
            <a:r>
              <a:rPr lang="en-US" dirty="0" smtClean="0"/>
              <a:t> = 2:M    </a:t>
            </a:r>
          </a:p>
          <a:p>
            <a:r>
              <a:rPr lang="en-US" dirty="0" smtClean="0"/>
              <a:t>%</a:t>
            </a:r>
            <a:r>
              <a:rPr lang="en-US" dirty="0"/>
              <a:t>index of row with </a:t>
            </a:r>
            <a:r>
              <a:rPr lang="en-US" dirty="0" smtClean="0"/>
              <a:t>k = i-1 </a:t>
            </a:r>
            <a:r>
              <a:rPr lang="en-US" dirty="0"/>
              <a:t>cannot be 0</a:t>
            </a:r>
          </a:p>
          <a:p>
            <a:r>
              <a:rPr lang="en-US" dirty="0"/>
              <a:t>for j=1:M</a:t>
            </a:r>
          </a:p>
          <a:p>
            <a:r>
              <a:rPr lang="en-US" dirty="0"/>
              <a:t>k=i-1;</a:t>
            </a:r>
          </a:p>
          <a:p>
            <a:r>
              <a:rPr lang="en-US" dirty="0"/>
              <a:t>if </a:t>
            </a:r>
            <a:r>
              <a:rPr lang="en-US" dirty="0" err="1"/>
              <a:t>Sn</a:t>
            </a:r>
            <a:r>
              <a:rPr lang="en-US" dirty="0"/>
              <a:t>(</a:t>
            </a:r>
            <a:r>
              <a:rPr lang="en-US" dirty="0" err="1"/>
              <a:t>i</a:t>
            </a:r>
            <a:r>
              <a:rPr lang="en-US" dirty="0"/>
              <a:t>, j)&gt;0 &amp;&amp; </a:t>
            </a:r>
            <a:r>
              <a:rPr lang="en-US" dirty="0" err="1"/>
              <a:t>Sn</a:t>
            </a:r>
            <a:r>
              <a:rPr lang="en-US" dirty="0"/>
              <a:t>(k, j)==0</a:t>
            </a:r>
          </a:p>
          <a:p>
            <a:r>
              <a:rPr lang="en-US" dirty="0"/>
              <a:t>B1= B1+Sn(</a:t>
            </a:r>
            <a:r>
              <a:rPr lang="en-US" dirty="0" err="1"/>
              <a:t>i</a:t>
            </a:r>
            <a:r>
              <a:rPr lang="en-US" dirty="0"/>
              <a:t>, j);</a:t>
            </a:r>
          </a:p>
          <a:p>
            <a:r>
              <a:rPr lang="en-US" dirty="0"/>
              <a:t>end</a:t>
            </a:r>
          </a:p>
          <a:p>
            <a:r>
              <a:rPr lang="en-US" dirty="0"/>
              <a:t> </a:t>
            </a:r>
          </a:p>
          <a:p>
            <a:r>
              <a:rPr lang="en-US" dirty="0"/>
              <a:t>end</a:t>
            </a:r>
          </a:p>
          <a:p>
            <a:r>
              <a:rPr lang="en-US" dirty="0"/>
              <a:t>end</a:t>
            </a:r>
          </a:p>
          <a:p>
            <a:r>
              <a:rPr lang="en-US" dirty="0"/>
              <a:t> </a:t>
            </a:r>
          </a:p>
          <a:p>
            <a:r>
              <a:rPr lang="en-US" dirty="0"/>
              <a:t>% </a:t>
            </a:r>
            <a:r>
              <a:rPr lang="en-US" dirty="0" err="1"/>
              <a:t>Sn</a:t>
            </a:r>
            <a:r>
              <a:rPr lang="en-US" dirty="0"/>
              <a:t>(1,1) is the default open state of roof</a:t>
            </a:r>
          </a:p>
          <a:p>
            <a:r>
              <a:rPr lang="en-US" dirty="0"/>
              <a:t>B1=B1+Sn(1,1);</a:t>
            </a:r>
          </a:p>
        </p:txBody>
      </p:sp>
    </p:spTree>
    <p:extLst>
      <p:ext uri="{BB962C8B-B14F-4D97-AF65-F5344CB8AC3E}">
        <p14:creationId xmlns:p14="http://schemas.microsoft.com/office/powerpoint/2010/main" val="35518893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24</a:t>
            </a:fld>
            <a:endParaRPr lang="en-US"/>
          </a:p>
        </p:txBody>
      </p:sp>
      <p:sp>
        <p:nvSpPr>
          <p:cNvPr id="5" name="TextBox 4"/>
          <p:cNvSpPr txBox="1"/>
          <p:nvPr/>
        </p:nvSpPr>
        <p:spPr>
          <a:xfrm>
            <a:off x="1371600" y="133423"/>
            <a:ext cx="6400800" cy="6370975"/>
          </a:xfrm>
          <a:prstGeom prst="rect">
            <a:avLst/>
          </a:prstGeom>
          <a:solidFill>
            <a:srgbClr val="00B0F0"/>
          </a:solidFill>
        </p:spPr>
        <p:txBody>
          <a:bodyPr wrap="square" rtlCol="0">
            <a:spAutoFit/>
          </a:bodyPr>
          <a:lstStyle/>
          <a:p>
            <a:r>
              <a:rPr lang="en-US" dirty="0"/>
              <a:t>S1 =</a:t>
            </a:r>
          </a:p>
          <a:p>
            <a:r>
              <a:rPr lang="en-US" dirty="0"/>
              <a:t> </a:t>
            </a:r>
            <a:r>
              <a:rPr lang="en-US" dirty="0" smtClean="0"/>
              <a:t>    </a:t>
            </a:r>
            <a:r>
              <a:rPr lang="en-US" dirty="0"/>
              <a:t>0.0417         0             0             0         0</a:t>
            </a:r>
          </a:p>
          <a:p>
            <a:r>
              <a:rPr lang="en-US" dirty="0"/>
              <a:t>    0.1667    0.3333         0             0         0</a:t>
            </a:r>
          </a:p>
          <a:p>
            <a:r>
              <a:rPr lang="en-US" dirty="0"/>
              <a:t>    0.5000    1.0000         0             0         0</a:t>
            </a:r>
          </a:p>
          <a:p>
            <a:r>
              <a:rPr lang="en-US" dirty="0"/>
              <a:t>    1.0000    2.0000    2.0000         0         0</a:t>
            </a:r>
          </a:p>
          <a:p>
            <a:r>
              <a:rPr lang="en-US" dirty="0"/>
              <a:t>    1.0000    2.0000    2.0000    1.3333     0</a:t>
            </a:r>
          </a:p>
          <a:p>
            <a:r>
              <a:rPr lang="en-US" dirty="0"/>
              <a:t>  </a:t>
            </a:r>
            <a:endParaRPr lang="en-US" dirty="0" smtClean="0"/>
          </a:p>
          <a:p>
            <a:r>
              <a:rPr lang="en-US" dirty="0" err="1" smtClean="0"/>
              <a:t>Sn</a:t>
            </a:r>
            <a:r>
              <a:rPr lang="en-US" dirty="0" smtClean="0"/>
              <a:t> </a:t>
            </a:r>
            <a:r>
              <a:rPr lang="en-US" dirty="0"/>
              <a:t>=</a:t>
            </a:r>
          </a:p>
          <a:p>
            <a:r>
              <a:rPr lang="en-US" dirty="0"/>
              <a:t> </a:t>
            </a:r>
            <a:r>
              <a:rPr lang="en-US" dirty="0" smtClean="0"/>
              <a:t>    </a:t>
            </a:r>
            <a:r>
              <a:rPr lang="en-US" dirty="0"/>
              <a:t>0.0031         0           </a:t>
            </a:r>
            <a:r>
              <a:rPr lang="en-US" dirty="0" smtClean="0"/>
              <a:t> 0         </a:t>
            </a:r>
            <a:r>
              <a:rPr lang="en-US" dirty="0"/>
              <a:t>0         0</a:t>
            </a:r>
          </a:p>
          <a:p>
            <a:r>
              <a:rPr lang="en-US" dirty="0"/>
              <a:t>    0.0125    0.0249         0         0         0</a:t>
            </a:r>
          </a:p>
          <a:p>
            <a:r>
              <a:rPr lang="en-US" dirty="0"/>
              <a:t>    0.0374    0.0748         0         0        </a:t>
            </a:r>
            <a:r>
              <a:rPr lang="en-US" dirty="0" smtClean="0"/>
              <a:t> </a:t>
            </a:r>
            <a:r>
              <a:rPr lang="en-US" dirty="0"/>
              <a:t>0</a:t>
            </a:r>
          </a:p>
          <a:p>
            <a:r>
              <a:rPr lang="en-US" dirty="0"/>
              <a:t>    0.0748    0.1495    0.1495     </a:t>
            </a:r>
            <a:r>
              <a:rPr lang="en-US" dirty="0" smtClean="0"/>
              <a:t>0         0</a:t>
            </a:r>
            <a:endParaRPr lang="en-US" dirty="0"/>
          </a:p>
          <a:p>
            <a:r>
              <a:rPr lang="en-US" dirty="0"/>
              <a:t>    0.0748    0.1495    0.1495    0.0997 </a:t>
            </a:r>
            <a:r>
              <a:rPr lang="en-US" dirty="0" smtClean="0"/>
              <a:t>0</a:t>
            </a:r>
            <a:endParaRPr lang="en-US" dirty="0"/>
          </a:p>
          <a:p>
            <a:r>
              <a:rPr lang="en-US" dirty="0"/>
              <a:t> </a:t>
            </a:r>
          </a:p>
          <a:p>
            <a:r>
              <a:rPr lang="en-US" dirty="0" smtClean="0"/>
              <a:t>  </a:t>
            </a:r>
            <a:r>
              <a:rPr lang="en-US" dirty="0"/>
              <a:t> </a:t>
            </a:r>
            <a:r>
              <a:rPr lang="en-US" dirty="0" smtClean="0"/>
              <a:t>B1 </a:t>
            </a:r>
            <a:r>
              <a:rPr lang="en-US" dirty="0"/>
              <a:t>= 0.2773</a:t>
            </a:r>
          </a:p>
          <a:p>
            <a:r>
              <a:rPr lang="en-US" dirty="0" smtClean="0"/>
              <a:t>   B2 </a:t>
            </a:r>
            <a:r>
              <a:rPr lang="en-US" dirty="0"/>
              <a:t>= 0.3520</a:t>
            </a:r>
          </a:p>
          <a:p>
            <a:endParaRPr lang="en-US" dirty="0"/>
          </a:p>
        </p:txBody>
      </p:sp>
    </p:spTree>
    <p:extLst>
      <p:ext uri="{BB962C8B-B14F-4D97-AF65-F5344CB8AC3E}">
        <p14:creationId xmlns:p14="http://schemas.microsoft.com/office/powerpoint/2010/main" val="32846854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meo"/>
          <p:cNvPicPr>
            <a:picLocks noGrp="1" noChangeAspect="1" noChangeArrowheads="1"/>
          </p:cNvPicPr>
          <p:nvPr>
            <p:ph sz="half" idx="4294967295"/>
          </p:nvPr>
        </p:nvPicPr>
        <p:blipFill>
          <a:blip r:embed="rId2"/>
          <a:srcRect/>
          <a:stretch>
            <a:fillRect/>
          </a:stretch>
        </p:blipFill>
        <p:spPr>
          <a:xfrm>
            <a:off x="4648200" y="2667000"/>
            <a:ext cx="4495800" cy="3454910"/>
          </a:xfrm>
          <a:prstGeom prst="rect">
            <a:avLst/>
          </a:prstGeom>
          <a:noFill/>
        </p:spPr>
      </p:pic>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25</a:t>
            </a:fld>
            <a:endParaRPr lang="en-US"/>
          </a:p>
        </p:txBody>
      </p:sp>
      <p:sp>
        <p:nvSpPr>
          <p:cNvPr id="5" name="TextBox 4"/>
          <p:cNvSpPr txBox="1"/>
          <p:nvPr/>
        </p:nvSpPr>
        <p:spPr>
          <a:xfrm>
            <a:off x="0" y="762000"/>
            <a:ext cx="9144000" cy="1569660"/>
          </a:xfrm>
          <a:prstGeom prst="rect">
            <a:avLst/>
          </a:prstGeom>
          <a:solidFill>
            <a:srgbClr val="CCFFFF"/>
          </a:solidFill>
        </p:spPr>
        <p:txBody>
          <a:bodyPr wrap="square" rtlCol="0">
            <a:spAutoFit/>
          </a:bodyPr>
          <a:lstStyle/>
          <a:p>
            <a:pPr algn="just"/>
            <a:r>
              <a:rPr lang="en-US" dirty="0">
                <a:cs typeface="Times New Roman" pitchFamily="18" charset="0"/>
              </a:rPr>
              <a:t>To support a wide range of services and provide superior service quality comparable to that available from terrestrial wireless and wired networks, constellations of satellites operating in low earth orbit (LEO) or medium earth orbit (MEO) are considered more suitable. </a:t>
            </a:r>
            <a:endParaRPr lang="en-US" dirty="0"/>
          </a:p>
        </p:txBody>
      </p:sp>
      <p:pic>
        <p:nvPicPr>
          <p:cNvPr id="6" name="Picture 4" descr="leo"/>
          <p:cNvPicPr>
            <a:picLocks noGrp="1" noChangeAspect="1" noChangeArrowheads="1"/>
          </p:cNvPicPr>
          <p:nvPr>
            <p:ph sz="half" idx="4294967295"/>
          </p:nvPr>
        </p:nvPicPr>
        <p:blipFill>
          <a:blip r:embed="rId3"/>
          <a:srcRect/>
          <a:stretch>
            <a:fillRect/>
          </a:stretch>
        </p:blipFill>
        <p:spPr>
          <a:xfrm>
            <a:off x="0" y="2797834"/>
            <a:ext cx="4953000" cy="3831566"/>
          </a:xfrm>
          <a:prstGeom prst="rect">
            <a:avLst/>
          </a:prstGeom>
          <a:noFill/>
        </p:spPr>
      </p:pic>
      <p:sp>
        <p:nvSpPr>
          <p:cNvPr id="8" name="Text Box 5"/>
          <p:cNvSpPr txBox="1">
            <a:spLocks noChangeArrowheads="1"/>
          </p:cNvSpPr>
          <p:nvPr/>
        </p:nvSpPr>
        <p:spPr bwMode="auto">
          <a:xfrm>
            <a:off x="609600" y="0"/>
            <a:ext cx="8001000" cy="707886"/>
          </a:xfrm>
          <a:prstGeom prst="rect">
            <a:avLst/>
          </a:prstGeom>
          <a:solidFill>
            <a:schemeClr val="accent1"/>
          </a:solidFill>
          <a:ln w="9525">
            <a:noFill/>
            <a:miter lim="800000"/>
            <a:headEnd/>
            <a:tailEnd/>
          </a:ln>
        </p:spPr>
        <p:txBody>
          <a:bodyPr>
            <a:spAutoFit/>
          </a:bodyPr>
          <a:lstStyle/>
          <a:p>
            <a:pPr algn="ctr">
              <a:spcBef>
                <a:spcPct val="50000"/>
              </a:spcBef>
            </a:pPr>
            <a:r>
              <a:rPr lang="en-US" sz="4000" dirty="0"/>
              <a:t>Global Mobile Satellite System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26</a:t>
            </a:fld>
            <a:endParaRPr lang="en-US"/>
          </a:p>
        </p:txBody>
      </p:sp>
      <p:sp>
        <p:nvSpPr>
          <p:cNvPr id="5" name="Text Box 4"/>
          <p:cNvSpPr txBox="1">
            <a:spLocks noChangeArrowheads="1"/>
          </p:cNvSpPr>
          <p:nvPr/>
        </p:nvSpPr>
        <p:spPr bwMode="auto">
          <a:xfrm>
            <a:off x="304800" y="838200"/>
            <a:ext cx="8610600" cy="1200329"/>
          </a:xfrm>
          <a:prstGeom prst="rect">
            <a:avLst/>
          </a:prstGeom>
          <a:solidFill>
            <a:srgbClr val="FFFF00"/>
          </a:solidFill>
          <a:ln w="9525">
            <a:noFill/>
            <a:miter lim="800000"/>
            <a:headEnd/>
            <a:tailEnd/>
          </a:ln>
        </p:spPr>
        <p:txBody>
          <a:bodyPr>
            <a:spAutoFit/>
          </a:bodyPr>
          <a:lstStyle/>
          <a:p>
            <a:pPr algn="just">
              <a:spcBef>
                <a:spcPct val="50000"/>
              </a:spcBef>
              <a:buFont typeface="Wingdings" pitchFamily="2" charset="2"/>
              <a:buChar char="Ø"/>
            </a:pPr>
            <a:r>
              <a:rPr lang="en-US" sz="2400" dirty="0">
                <a:latin typeface="Times New Roman" pitchFamily="18" charset="0"/>
                <a:cs typeface="Times New Roman" pitchFamily="18" charset="0"/>
              </a:rPr>
              <a:t> In </a:t>
            </a:r>
            <a:r>
              <a:rPr lang="en-US" b="1" dirty="0">
                <a:solidFill>
                  <a:schemeClr val="accent2"/>
                </a:solidFill>
                <a:cs typeface="Times New Roman" pitchFamily="18" charset="0"/>
              </a:rPr>
              <a:t>Iridium </a:t>
            </a:r>
            <a:r>
              <a:rPr lang="en-US" sz="2400" dirty="0">
                <a:latin typeface="Times New Roman" pitchFamily="18" charset="0"/>
                <a:cs typeface="Times New Roman" pitchFamily="18" charset="0"/>
              </a:rPr>
              <a:t>66 satellites are grouped in six orbital planes; there are 11 active satellites in each plane with uniform nominal spacing 31.6</a:t>
            </a:r>
            <a:r>
              <a:rPr lang="en-US" sz="2400" baseline="30000" dirty="0">
                <a:latin typeface="Times New Roman" pitchFamily="18" charset="0"/>
                <a:cs typeface="Times New Roman" pitchFamily="18" charset="0"/>
              </a:rPr>
              <a:t>0</a:t>
            </a:r>
            <a:r>
              <a:rPr lang="en-US" sz="2400" dirty="0">
                <a:latin typeface="Times New Roman" pitchFamily="18" charset="0"/>
                <a:cs typeface="Times New Roman" pitchFamily="18" charset="0"/>
              </a:rPr>
              <a:t>. The satellites have circular orbits at an altitude of 783Km.</a:t>
            </a:r>
          </a:p>
        </p:txBody>
      </p:sp>
      <p:grpSp>
        <p:nvGrpSpPr>
          <p:cNvPr id="6" name="Group 5"/>
          <p:cNvGrpSpPr>
            <a:grpSpLocks/>
          </p:cNvGrpSpPr>
          <p:nvPr/>
        </p:nvGrpSpPr>
        <p:grpSpPr bwMode="auto">
          <a:xfrm>
            <a:off x="1295400" y="2286000"/>
            <a:ext cx="6248400" cy="3581400"/>
            <a:chOff x="432" y="624"/>
            <a:chExt cx="3936" cy="2256"/>
          </a:xfrm>
        </p:grpSpPr>
        <p:sp>
          <p:nvSpPr>
            <p:cNvPr id="7" name="Oval 6"/>
            <p:cNvSpPr>
              <a:spLocks noChangeArrowheads="1"/>
            </p:cNvSpPr>
            <p:nvPr/>
          </p:nvSpPr>
          <p:spPr bwMode="auto">
            <a:xfrm>
              <a:off x="1248" y="624"/>
              <a:ext cx="2304" cy="2256"/>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8" name="Oval 7"/>
            <p:cNvSpPr>
              <a:spLocks noChangeArrowheads="1"/>
            </p:cNvSpPr>
            <p:nvPr/>
          </p:nvSpPr>
          <p:spPr bwMode="auto">
            <a:xfrm>
              <a:off x="2400" y="1440"/>
              <a:ext cx="240" cy="240"/>
            </a:xfrm>
            <a:prstGeom prst="ellipse">
              <a:avLst/>
            </a:prstGeom>
            <a:solidFill>
              <a:schemeClr val="tx1"/>
            </a:solidFill>
            <a:ln w="9525">
              <a:solidFill>
                <a:schemeClr val="tx1"/>
              </a:solidFill>
              <a:round/>
              <a:headEnd/>
              <a:tailEnd/>
            </a:ln>
          </p:spPr>
          <p:txBody>
            <a:bodyPr wrap="none" anchor="ctr"/>
            <a:lstStyle/>
            <a:p>
              <a:endParaRPr lang="en-US"/>
            </a:p>
          </p:txBody>
        </p:sp>
        <p:sp>
          <p:nvSpPr>
            <p:cNvPr id="9" name="Line 8"/>
            <p:cNvSpPr>
              <a:spLocks noChangeShapeType="1"/>
            </p:cNvSpPr>
            <p:nvPr/>
          </p:nvSpPr>
          <p:spPr bwMode="auto">
            <a:xfrm flipV="1">
              <a:off x="1584" y="864"/>
              <a:ext cx="1536" cy="1680"/>
            </a:xfrm>
            <a:prstGeom prst="line">
              <a:avLst/>
            </a:prstGeom>
            <a:noFill/>
            <a:ln w="28575">
              <a:solidFill>
                <a:schemeClr val="tx1"/>
              </a:solidFill>
              <a:round/>
              <a:headEnd/>
              <a:tailEnd type="triangle" w="med" len="med"/>
            </a:ln>
          </p:spPr>
          <p:txBody>
            <a:bodyPr/>
            <a:lstStyle/>
            <a:p>
              <a:endParaRPr lang="en-US"/>
            </a:p>
          </p:txBody>
        </p:sp>
        <p:sp>
          <p:nvSpPr>
            <p:cNvPr id="10" name="Line 9"/>
            <p:cNvSpPr>
              <a:spLocks noChangeShapeType="1"/>
            </p:cNvSpPr>
            <p:nvPr/>
          </p:nvSpPr>
          <p:spPr bwMode="auto">
            <a:xfrm flipH="1" flipV="1">
              <a:off x="1248" y="1440"/>
              <a:ext cx="2256" cy="240"/>
            </a:xfrm>
            <a:prstGeom prst="line">
              <a:avLst/>
            </a:prstGeom>
            <a:noFill/>
            <a:ln w="28575">
              <a:solidFill>
                <a:schemeClr val="tx1"/>
              </a:solidFill>
              <a:round/>
              <a:headEnd/>
              <a:tailEnd type="triangle" w="med" len="med"/>
            </a:ln>
          </p:spPr>
          <p:txBody>
            <a:bodyPr/>
            <a:lstStyle/>
            <a:p>
              <a:endParaRPr lang="en-US"/>
            </a:p>
          </p:txBody>
        </p:sp>
        <p:sp>
          <p:nvSpPr>
            <p:cNvPr id="11" name="Line 10"/>
            <p:cNvSpPr>
              <a:spLocks noChangeShapeType="1"/>
            </p:cNvSpPr>
            <p:nvPr/>
          </p:nvSpPr>
          <p:spPr bwMode="auto">
            <a:xfrm flipV="1">
              <a:off x="1248" y="1248"/>
              <a:ext cx="2208" cy="672"/>
            </a:xfrm>
            <a:prstGeom prst="line">
              <a:avLst/>
            </a:prstGeom>
            <a:noFill/>
            <a:ln w="28575">
              <a:solidFill>
                <a:schemeClr val="tx1"/>
              </a:solidFill>
              <a:round/>
              <a:headEnd/>
              <a:tailEnd type="triangle" w="med" len="med"/>
            </a:ln>
          </p:spPr>
          <p:txBody>
            <a:bodyPr/>
            <a:lstStyle/>
            <a:p>
              <a:endParaRPr lang="en-US"/>
            </a:p>
          </p:txBody>
        </p:sp>
        <p:sp>
          <p:nvSpPr>
            <p:cNvPr id="12" name="Oval 11"/>
            <p:cNvSpPr>
              <a:spLocks noChangeArrowheads="1"/>
            </p:cNvSpPr>
            <p:nvPr/>
          </p:nvSpPr>
          <p:spPr bwMode="auto">
            <a:xfrm>
              <a:off x="2112" y="1776"/>
              <a:ext cx="144" cy="192"/>
            </a:xfrm>
            <a:prstGeom prst="ellipse">
              <a:avLst/>
            </a:prstGeom>
            <a:solidFill>
              <a:srgbClr val="FFFF00"/>
            </a:solidFill>
            <a:ln w="9525">
              <a:solidFill>
                <a:schemeClr val="tx1"/>
              </a:solidFill>
              <a:round/>
              <a:headEnd/>
              <a:tailEnd/>
            </a:ln>
          </p:spPr>
          <p:txBody>
            <a:bodyPr wrap="none" anchor="ctr"/>
            <a:lstStyle/>
            <a:p>
              <a:endParaRPr lang="en-US"/>
            </a:p>
          </p:txBody>
        </p:sp>
        <p:sp>
          <p:nvSpPr>
            <p:cNvPr id="13" name="Oval 12"/>
            <p:cNvSpPr>
              <a:spLocks noChangeArrowheads="1"/>
            </p:cNvSpPr>
            <p:nvPr/>
          </p:nvSpPr>
          <p:spPr bwMode="auto">
            <a:xfrm>
              <a:off x="1728" y="2256"/>
              <a:ext cx="144" cy="192"/>
            </a:xfrm>
            <a:prstGeom prst="ellipse">
              <a:avLst/>
            </a:prstGeom>
            <a:solidFill>
              <a:srgbClr val="FFFF00"/>
            </a:solidFill>
            <a:ln w="9525">
              <a:solidFill>
                <a:schemeClr val="tx1"/>
              </a:solidFill>
              <a:round/>
              <a:headEnd/>
              <a:tailEnd/>
            </a:ln>
          </p:spPr>
          <p:txBody>
            <a:bodyPr wrap="none" anchor="ctr"/>
            <a:lstStyle/>
            <a:p>
              <a:endParaRPr lang="en-US"/>
            </a:p>
          </p:txBody>
        </p:sp>
        <p:sp>
          <p:nvSpPr>
            <p:cNvPr id="14" name="Oval 13"/>
            <p:cNvSpPr>
              <a:spLocks noChangeArrowheads="1"/>
            </p:cNvSpPr>
            <p:nvPr/>
          </p:nvSpPr>
          <p:spPr bwMode="auto">
            <a:xfrm>
              <a:off x="2640" y="1248"/>
              <a:ext cx="144" cy="192"/>
            </a:xfrm>
            <a:prstGeom prst="ellipse">
              <a:avLst/>
            </a:prstGeom>
            <a:solidFill>
              <a:srgbClr val="FFFF00"/>
            </a:solidFill>
            <a:ln w="9525">
              <a:solidFill>
                <a:schemeClr val="tx1"/>
              </a:solidFill>
              <a:round/>
              <a:headEnd/>
              <a:tailEnd/>
            </a:ln>
          </p:spPr>
          <p:txBody>
            <a:bodyPr wrap="none" anchor="ctr"/>
            <a:lstStyle/>
            <a:p>
              <a:endParaRPr lang="en-US"/>
            </a:p>
          </p:txBody>
        </p:sp>
        <p:sp>
          <p:nvSpPr>
            <p:cNvPr id="15" name="Oval 14"/>
            <p:cNvSpPr>
              <a:spLocks noChangeArrowheads="1"/>
            </p:cNvSpPr>
            <p:nvPr/>
          </p:nvSpPr>
          <p:spPr bwMode="auto">
            <a:xfrm>
              <a:off x="2832" y="1008"/>
              <a:ext cx="144" cy="192"/>
            </a:xfrm>
            <a:prstGeom prst="ellipse">
              <a:avLst/>
            </a:prstGeom>
            <a:solidFill>
              <a:srgbClr val="FFFF00"/>
            </a:solidFill>
            <a:ln w="9525">
              <a:solidFill>
                <a:schemeClr val="tx1"/>
              </a:solidFill>
              <a:round/>
              <a:headEnd/>
              <a:tailEnd/>
            </a:ln>
          </p:spPr>
          <p:txBody>
            <a:bodyPr wrap="none" anchor="ctr"/>
            <a:lstStyle/>
            <a:p>
              <a:endParaRPr lang="en-US"/>
            </a:p>
          </p:txBody>
        </p:sp>
        <p:sp>
          <p:nvSpPr>
            <p:cNvPr id="16" name="Oval 15"/>
            <p:cNvSpPr>
              <a:spLocks noChangeArrowheads="1"/>
            </p:cNvSpPr>
            <p:nvPr/>
          </p:nvSpPr>
          <p:spPr bwMode="auto">
            <a:xfrm>
              <a:off x="3120" y="672"/>
              <a:ext cx="144" cy="192"/>
            </a:xfrm>
            <a:prstGeom prst="ellipse">
              <a:avLst/>
            </a:prstGeom>
            <a:solidFill>
              <a:srgbClr val="FFFF00"/>
            </a:solidFill>
            <a:ln w="9525">
              <a:solidFill>
                <a:schemeClr val="tx1"/>
              </a:solidFill>
              <a:round/>
              <a:headEnd/>
              <a:tailEnd/>
            </a:ln>
          </p:spPr>
          <p:txBody>
            <a:bodyPr wrap="none" anchor="ctr"/>
            <a:lstStyle/>
            <a:p>
              <a:endParaRPr lang="en-US"/>
            </a:p>
          </p:txBody>
        </p:sp>
        <p:sp>
          <p:nvSpPr>
            <p:cNvPr id="17" name="Oval 16"/>
            <p:cNvSpPr>
              <a:spLocks noChangeArrowheads="1"/>
            </p:cNvSpPr>
            <p:nvPr/>
          </p:nvSpPr>
          <p:spPr bwMode="auto">
            <a:xfrm>
              <a:off x="3456" y="1584"/>
              <a:ext cx="144" cy="192"/>
            </a:xfrm>
            <a:prstGeom prst="ellipse">
              <a:avLst/>
            </a:prstGeom>
            <a:solidFill>
              <a:srgbClr val="FFFF00"/>
            </a:solidFill>
            <a:ln w="9525">
              <a:solidFill>
                <a:schemeClr val="tx1"/>
              </a:solidFill>
              <a:round/>
              <a:headEnd/>
              <a:tailEnd/>
            </a:ln>
          </p:spPr>
          <p:txBody>
            <a:bodyPr wrap="none" anchor="ctr"/>
            <a:lstStyle/>
            <a:p>
              <a:endParaRPr lang="en-US"/>
            </a:p>
          </p:txBody>
        </p:sp>
        <p:sp>
          <p:nvSpPr>
            <p:cNvPr id="18" name="Oval 17"/>
            <p:cNvSpPr>
              <a:spLocks noChangeArrowheads="1"/>
            </p:cNvSpPr>
            <p:nvPr/>
          </p:nvSpPr>
          <p:spPr bwMode="auto">
            <a:xfrm>
              <a:off x="2976" y="1536"/>
              <a:ext cx="144" cy="192"/>
            </a:xfrm>
            <a:prstGeom prst="ellipse">
              <a:avLst/>
            </a:prstGeom>
            <a:solidFill>
              <a:srgbClr val="FFFF00"/>
            </a:solidFill>
            <a:ln w="9525">
              <a:solidFill>
                <a:schemeClr val="tx1"/>
              </a:solidFill>
              <a:round/>
              <a:headEnd/>
              <a:tailEnd/>
            </a:ln>
          </p:spPr>
          <p:txBody>
            <a:bodyPr wrap="none" anchor="ctr"/>
            <a:lstStyle/>
            <a:p>
              <a:endParaRPr lang="en-US"/>
            </a:p>
          </p:txBody>
        </p:sp>
        <p:sp>
          <p:nvSpPr>
            <p:cNvPr id="19" name="Oval 18"/>
            <p:cNvSpPr>
              <a:spLocks noChangeArrowheads="1"/>
            </p:cNvSpPr>
            <p:nvPr/>
          </p:nvSpPr>
          <p:spPr bwMode="auto">
            <a:xfrm>
              <a:off x="2448" y="1470"/>
              <a:ext cx="144" cy="192"/>
            </a:xfrm>
            <a:prstGeom prst="ellipse">
              <a:avLst/>
            </a:prstGeom>
            <a:solidFill>
              <a:srgbClr val="FFFF00"/>
            </a:solidFill>
            <a:ln w="9525">
              <a:solidFill>
                <a:schemeClr val="tx1"/>
              </a:solidFill>
              <a:round/>
              <a:headEnd/>
              <a:tailEnd/>
            </a:ln>
          </p:spPr>
          <p:txBody>
            <a:bodyPr wrap="none" anchor="ctr"/>
            <a:lstStyle/>
            <a:p>
              <a:endParaRPr lang="en-US"/>
            </a:p>
          </p:txBody>
        </p:sp>
        <p:sp>
          <p:nvSpPr>
            <p:cNvPr id="20" name="Oval 19"/>
            <p:cNvSpPr>
              <a:spLocks noChangeArrowheads="1"/>
            </p:cNvSpPr>
            <p:nvPr/>
          </p:nvSpPr>
          <p:spPr bwMode="auto">
            <a:xfrm>
              <a:off x="1920" y="1440"/>
              <a:ext cx="144" cy="192"/>
            </a:xfrm>
            <a:prstGeom prst="ellipse">
              <a:avLst/>
            </a:prstGeom>
            <a:solidFill>
              <a:srgbClr val="FFFF00"/>
            </a:solidFill>
            <a:ln w="9525">
              <a:solidFill>
                <a:schemeClr val="tx1"/>
              </a:solidFill>
              <a:round/>
              <a:headEnd/>
              <a:tailEnd/>
            </a:ln>
          </p:spPr>
          <p:txBody>
            <a:bodyPr wrap="none" anchor="ctr"/>
            <a:lstStyle/>
            <a:p>
              <a:endParaRPr lang="en-US"/>
            </a:p>
          </p:txBody>
        </p:sp>
        <p:sp>
          <p:nvSpPr>
            <p:cNvPr id="21" name="Oval 20"/>
            <p:cNvSpPr>
              <a:spLocks noChangeArrowheads="1"/>
            </p:cNvSpPr>
            <p:nvPr/>
          </p:nvSpPr>
          <p:spPr bwMode="auto">
            <a:xfrm>
              <a:off x="1344" y="1344"/>
              <a:ext cx="144" cy="192"/>
            </a:xfrm>
            <a:prstGeom prst="ellipse">
              <a:avLst/>
            </a:prstGeom>
            <a:solidFill>
              <a:srgbClr val="FFFF00"/>
            </a:solidFill>
            <a:ln w="9525">
              <a:solidFill>
                <a:schemeClr val="tx1"/>
              </a:solidFill>
              <a:round/>
              <a:headEnd/>
              <a:tailEnd/>
            </a:ln>
          </p:spPr>
          <p:txBody>
            <a:bodyPr wrap="none" anchor="ctr"/>
            <a:lstStyle/>
            <a:p>
              <a:endParaRPr lang="en-US"/>
            </a:p>
          </p:txBody>
        </p:sp>
        <p:sp>
          <p:nvSpPr>
            <p:cNvPr id="22" name="Oval 21"/>
            <p:cNvSpPr>
              <a:spLocks noChangeArrowheads="1"/>
            </p:cNvSpPr>
            <p:nvPr/>
          </p:nvSpPr>
          <p:spPr bwMode="auto">
            <a:xfrm>
              <a:off x="1248" y="1776"/>
              <a:ext cx="144" cy="192"/>
            </a:xfrm>
            <a:prstGeom prst="ellipse">
              <a:avLst/>
            </a:prstGeom>
            <a:solidFill>
              <a:srgbClr val="FFFF00"/>
            </a:solidFill>
            <a:ln w="9525">
              <a:solidFill>
                <a:schemeClr val="tx1"/>
              </a:solidFill>
              <a:round/>
              <a:headEnd/>
              <a:tailEnd/>
            </a:ln>
          </p:spPr>
          <p:txBody>
            <a:bodyPr wrap="none" anchor="ctr"/>
            <a:lstStyle/>
            <a:p>
              <a:endParaRPr lang="en-US"/>
            </a:p>
          </p:txBody>
        </p:sp>
        <p:sp>
          <p:nvSpPr>
            <p:cNvPr id="23" name="Oval 22"/>
            <p:cNvSpPr>
              <a:spLocks noChangeArrowheads="1"/>
            </p:cNvSpPr>
            <p:nvPr/>
          </p:nvSpPr>
          <p:spPr bwMode="auto">
            <a:xfrm>
              <a:off x="1680" y="1680"/>
              <a:ext cx="144" cy="192"/>
            </a:xfrm>
            <a:prstGeom prst="ellipse">
              <a:avLst/>
            </a:prstGeom>
            <a:solidFill>
              <a:srgbClr val="FFFF00"/>
            </a:solidFill>
            <a:ln w="9525">
              <a:solidFill>
                <a:schemeClr val="tx1"/>
              </a:solidFill>
              <a:round/>
              <a:headEnd/>
              <a:tailEnd/>
            </a:ln>
          </p:spPr>
          <p:txBody>
            <a:bodyPr wrap="none" anchor="ctr"/>
            <a:lstStyle/>
            <a:p>
              <a:endParaRPr lang="en-US"/>
            </a:p>
          </p:txBody>
        </p:sp>
        <p:sp>
          <p:nvSpPr>
            <p:cNvPr id="24" name="Oval 23"/>
            <p:cNvSpPr>
              <a:spLocks noChangeArrowheads="1"/>
            </p:cNvSpPr>
            <p:nvPr/>
          </p:nvSpPr>
          <p:spPr bwMode="auto">
            <a:xfrm>
              <a:off x="2112" y="1536"/>
              <a:ext cx="144" cy="192"/>
            </a:xfrm>
            <a:prstGeom prst="ellipse">
              <a:avLst/>
            </a:prstGeom>
            <a:solidFill>
              <a:srgbClr val="FFFF00"/>
            </a:solidFill>
            <a:ln w="9525">
              <a:solidFill>
                <a:schemeClr val="tx1"/>
              </a:solidFill>
              <a:round/>
              <a:headEnd/>
              <a:tailEnd/>
            </a:ln>
          </p:spPr>
          <p:txBody>
            <a:bodyPr wrap="none" anchor="ctr"/>
            <a:lstStyle/>
            <a:p>
              <a:endParaRPr lang="en-US"/>
            </a:p>
          </p:txBody>
        </p:sp>
        <p:sp>
          <p:nvSpPr>
            <p:cNvPr id="25" name="Oval 24"/>
            <p:cNvSpPr>
              <a:spLocks noChangeArrowheads="1"/>
            </p:cNvSpPr>
            <p:nvPr/>
          </p:nvSpPr>
          <p:spPr bwMode="auto">
            <a:xfrm>
              <a:off x="2832" y="1344"/>
              <a:ext cx="144" cy="192"/>
            </a:xfrm>
            <a:prstGeom prst="ellipse">
              <a:avLst/>
            </a:prstGeom>
            <a:solidFill>
              <a:srgbClr val="FFFF00"/>
            </a:solidFill>
            <a:ln w="9525">
              <a:solidFill>
                <a:schemeClr val="tx1"/>
              </a:solidFill>
              <a:round/>
              <a:headEnd/>
              <a:tailEnd/>
            </a:ln>
          </p:spPr>
          <p:txBody>
            <a:bodyPr wrap="none" anchor="ctr"/>
            <a:lstStyle/>
            <a:p>
              <a:endParaRPr lang="en-US"/>
            </a:p>
          </p:txBody>
        </p:sp>
        <p:sp>
          <p:nvSpPr>
            <p:cNvPr id="26" name="Oval 25"/>
            <p:cNvSpPr>
              <a:spLocks noChangeArrowheads="1"/>
            </p:cNvSpPr>
            <p:nvPr/>
          </p:nvSpPr>
          <p:spPr bwMode="auto">
            <a:xfrm>
              <a:off x="3120" y="1200"/>
              <a:ext cx="144" cy="192"/>
            </a:xfrm>
            <a:prstGeom prst="ellipse">
              <a:avLst/>
            </a:prstGeom>
            <a:solidFill>
              <a:srgbClr val="FFFF00"/>
            </a:solidFill>
            <a:ln w="9525">
              <a:solidFill>
                <a:schemeClr val="tx1"/>
              </a:solidFill>
              <a:round/>
              <a:headEnd/>
              <a:tailEnd/>
            </a:ln>
          </p:spPr>
          <p:txBody>
            <a:bodyPr wrap="none" anchor="ctr"/>
            <a:lstStyle/>
            <a:p>
              <a:endParaRPr lang="en-US"/>
            </a:p>
          </p:txBody>
        </p:sp>
        <p:sp>
          <p:nvSpPr>
            <p:cNvPr id="27" name="Text Box 26"/>
            <p:cNvSpPr txBox="1">
              <a:spLocks noChangeArrowheads="1"/>
            </p:cNvSpPr>
            <p:nvPr/>
          </p:nvSpPr>
          <p:spPr bwMode="auto">
            <a:xfrm>
              <a:off x="432" y="1296"/>
              <a:ext cx="720" cy="231"/>
            </a:xfrm>
            <a:prstGeom prst="rect">
              <a:avLst/>
            </a:prstGeom>
            <a:noFill/>
            <a:ln w="9525">
              <a:noFill/>
              <a:miter lim="800000"/>
              <a:headEnd/>
              <a:tailEnd/>
            </a:ln>
          </p:spPr>
          <p:txBody>
            <a:bodyPr>
              <a:spAutoFit/>
            </a:bodyPr>
            <a:lstStyle/>
            <a:p>
              <a:pPr>
                <a:spcBef>
                  <a:spcPct val="50000"/>
                </a:spcBef>
              </a:pPr>
              <a:r>
                <a:rPr lang="en-US"/>
                <a:t>Plane-1</a:t>
              </a:r>
            </a:p>
          </p:txBody>
        </p:sp>
        <p:sp>
          <p:nvSpPr>
            <p:cNvPr id="28" name="Text Box 27"/>
            <p:cNvSpPr txBox="1">
              <a:spLocks noChangeArrowheads="1"/>
            </p:cNvSpPr>
            <p:nvPr/>
          </p:nvSpPr>
          <p:spPr bwMode="auto">
            <a:xfrm>
              <a:off x="960" y="2592"/>
              <a:ext cx="720" cy="231"/>
            </a:xfrm>
            <a:prstGeom prst="rect">
              <a:avLst/>
            </a:prstGeom>
            <a:noFill/>
            <a:ln w="9525">
              <a:noFill/>
              <a:miter lim="800000"/>
              <a:headEnd/>
              <a:tailEnd/>
            </a:ln>
          </p:spPr>
          <p:txBody>
            <a:bodyPr>
              <a:spAutoFit/>
            </a:bodyPr>
            <a:lstStyle/>
            <a:p>
              <a:pPr>
                <a:spcBef>
                  <a:spcPct val="50000"/>
                </a:spcBef>
              </a:pPr>
              <a:r>
                <a:rPr lang="en-US"/>
                <a:t>Plane-5</a:t>
              </a:r>
            </a:p>
          </p:txBody>
        </p:sp>
        <p:sp>
          <p:nvSpPr>
            <p:cNvPr id="29" name="Text Box 28"/>
            <p:cNvSpPr txBox="1">
              <a:spLocks noChangeArrowheads="1"/>
            </p:cNvSpPr>
            <p:nvPr/>
          </p:nvSpPr>
          <p:spPr bwMode="auto">
            <a:xfrm>
              <a:off x="432" y="1776"/>
              <a:ext cx="720" cy="231"/>
            </a:xfrm>
            <a:prstGeom prst="rect">
              <a:avLst/>
            </a:prstGeom>
            <a:noFill/>
            <a:ln w="9525">
              <a:noFill/>
              <a:miter lim="800000"/>
              <a:headEnd/>
              <a:tailEnd/>
            </a:ln>
          </p:spPr>
          <p:txBody>
            <a:bodyPr>
              <a:spAutoFit/>
            </a:bodyPr>
            <a:lstStyle/>
            <a:p>
              <a:pPr>
                <a:spcBef>
                  <a:spcPct val="50000"/>
                </a:spcBef>
              </a:pPr>
              <a:r>
                <a:rPr lang="en-US"/>
                <a:t>Plane-6</a:t>
              </a:r>
            </a:p>
          </p:txBody>
        </p:sp>
        <p:sp>
          <p:nvSpPr>
            <p:cNvPr id="30" name="Text Box 29"/>
            <p:cNvSpPr txBox="1">
              <a:spLocks noChangeArrowheads="1"/>
            </p:cNvSpPr>
            <p:nvPr/>
          </p:nvSpPr>
          <p:spPr bwMode="auto">
            <a:xfrm>
              <a:off x="3360" y="768"/>
              <a:ext cx="720" cy="231"/>
            </a:xfrm>
            <a:prstGeom prst="rect">
              <a:avLst/>
            </a:prstGeom>
            <a:noFill/>
            <a:ln w="9525">
              <a:noFill/>
              <a:miter lim="800000"/>
              <a:headEnd/>
              <a:tailEnd/>
            </a:ln>
          </p:spPr>
          <p:txBody>
            <a:bodyPr>
              <a:spAutoFit/>
            </a:bodyPr>
            <a:lstStyle/>
            <a:p>
              <a:pPr>
                <a:spcBef>
                  <a:spcPct val="50000"/>
                </a:spcBef>
              </a:pPr>
              <a:r>
                <a:rPr lang="en-US"/>
                <a:t>31.6</a:t>
              </a:r>
              <a:r>
                <a:rPr lang="en-US" baseline="30000"/>
                <a:t>0</a:t>
              </a:r>
            </a:p>
          </p:txBody>
        </p:sp>
        <p:sp>
          <p:nvSpPr>
            <p:cNvPr id="31" name="Text Box 30"/>
            <p:cNvSpPr txBox="1">
              <a:spLocks noChangeArrowheads="1"/>
            </p:cNvSpPr>
            <p:nvPr/>
          </p:nvSpPr>
          <p:spPr bwMode="auto">
            <a:xfrm>
              <a:off x="3648" y="1248"/>
              <a:ext cx="720" cy="231"/>
            </a:xfrm>
            <a:prstGeom prst="rect">
              <a:avLst/>
            </a:prstGeom>
            <a:noFill/>
            <a:ln w="9525">
              <a:noFill/>
              <a:miter lim="800000"/>
              <a:headEnd/>
              <a:tailEnd/>
            </a:ln>
          </p:spPr>
          <p:txBody>
            <a:bodyPr>
              <a:spAutoFit/>
            </a:bodyPr>
            <a:lstStyle/>
            <a:p>
              <a:pPr>
                <a:spcBef>
                  <a:spcPct val="50000"/>
                </a:spcBef>
              </a:pPr>
              <a:r>
                <a:rPr lang="en-US"/>
                <a:t>22</a:t>
              </a:r>
              <a:r>
                <a:rPr lang="en-US" baseline="30000"/>
                <a:t>0</a:t>
              </a:r>
            </a:p>
          </p:txBody>
        </p:sp>
        <p:sp>
          <p:nvSpPr>
            <p:cNvPr id="32" name="Text Box 31"/>
            <p:cNvSpPr txBox="1">
              <a:spLocks noChangeArrowheads="1"/>
            </p:cNvSpPr>
            <p:nvPr/>
          </p:nvSpPr>
          <p:spPr bwMode="auto">
            <a:xfrm>
              <a:off x="2400" y="1776"/>
              <a:ext cx="384" cy="231"/>
            </a:xfrm>
            <a:prstGeom prst="rect">
              <a:avLst/>
            </a:prstGeom>
            <a:noFill/>
            <a:ln w="9525">
              <a:noFill/>
              <a:miter lim="800000"/>
              <a:headEnd/>
              <a:tailEnd/>
            </a:ln>
          </p:spPr>
          <p:txBody>
            <a:bodyPr>
              <a:spAutoFit/>
            </a:bodyPr>
            <a:lstStyle/>
            <a:p>
              <a:pPr>
                <a:spcBef>
                  <a:spcPct val="50000"/>
                </a:spcBef>
              </a:pPr>
              <a:r>
                <a:rPr lang="en-US"/>
                <a:t>NP</a:t>
              </a:r>
            </a:p>
          </p:txBody>
        </p:sp>
      </p:grpSp>
      <p:sp>
        <p:nvSpPr>
          <p:cNvPr id="33" name="Text Box 6"/>
          <p:cNvSpPr txBox="1">
            <a:spLocks noChangeArrowheads="1"/>
          </p:cNvSpPr>
          <p:nvPr/>
        </p:nvSpPr>
        <p:spPr bwMode="auto">
          <a:xfrm>
            <a:off x="2286000" y="0"/>
            <a:ext cx="4114800" cy="646331"/>
          </a:xfrm>
          <a:prstGeom prst="rect">
            <a:avLst/>
          </a:prstGeom>
          <a:solidFill>
            <a:schemeClr val="hlink"/>
          </a:solidFill>
          <a:ln w="9525">
            <a:noFill/>
            <a:miter lim="800000"/>
            <a:headEnd/>
            <a:tailEnd/>
          </a:ln>
        </p:spPr>
        <p:txBody>
          <a:bodyPr wrap="square">
            <a:spAutoFit/>
          </a:bodyPr>
          <a:lstStyle/>
          <a:p>
            <a:pPr>
              <a:spcBef>
                <a:spcPct val="50000"/>
              </a:spcBef>
            </a:pPr>
            <a:r>
              <a:rPr lang="en-US" sz="3600" b="1" dirty="0">
                <a:solidFill>
                  <a:srgbClr val="FF0000"/>
                </a:solidFill>
              </a:rPr>
              <a:t>The Iridium System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27</a:t>
            </a:fld>
            <a:endParaRPr lang="en-US"/>
          </a:p>
        </p:txBody>
      </p:sp>
      <p:sp>
        <p:nvSpPr>
          <p:cNvPr id="5" name="Text Box 4"/>
          <p:cNvSpPr txBox="1">
            <a:spLocks noChangeArrowheads="1"/>
          </p:cNvSpPr>
          <p:nvPr/>
        </p:nvSpPr>
        <p:spPr bwMode="auto">
          <a:xfrm>
            <a:off x="266700" y="1371600"/>
            <a:ext cx="8610600" cy="3231654"/>
          </a:xfrm>
          <a:prstGeom prst="rect">
            <a:avLst/>
          </a:prstGeom>
          <a:solidFill>
            <a:srgbClr val="FFFF00"/>
          </a:solidFill>
          <a:ln w="9525">
            <a:noFill/>
            <a:miter lim="800000"/>
            <a:headEnd/>
            <a:tailEnd/>
          </a:ln>
        </p:spPr>
        <p:txBody>
          <a:bodyPr wrap="square">
            <a:spAutoFit/>
          </a:bodyPr>
          <a:lstStyle/>
          <a:p>
            <a:pPr algn="justLow">
              <a:spcBef>
                <a:spcPct val="50000"/>
              </a:spcBef>
              <a:buFont typeface="Wingdings" pitchFamily="2" charset="2"/>
              <a:buChar char="Ø"/>
            </a:pPr>
            <a:r>
              <a:rPr lang="en-US" sz="2400" dirty="0">
                <a:latin typeface="Times New Roman" pitchFamily="18" charset="0"/>
                <a:cs typeface="Times New Roman" pitchFamily="18" charset="0"/>
              </a:rPr>
              <a:t>Each Iridium satellite uses a 48-beam antenna pattern, and each beam, which has minimum diameter of 600 Km, can be individually switched. </a:t>
            </a:r>
          </a:p>
          <a:p>
            <a:pPr algn="justLow">
              <a:spcBef>
                <a:spcPct val="50000"/>
              </a:spcBef>
              <a:buFont typeface="Wingdings" pitchFamily="2" charset="2"/>
              <a:buChar char="Ø"/>
            </a:pPr>
            <a:r>
              <a:rPr lang="en-US" sz="2400" dirty="0">
                <a:latin typeface="Times New Roman" pitchFamily="18" charset="0"/>
                <a:cs typeface="Times New Roman" pitchFamily="18" charset="0"/>
              </a:rPr>
              <a:t>Only about 2/3 of the beams will be active at any given time because some of the beams will be switched off when the satellites are in the vicinity of the poles, where beam patterns tend to overlap, or when the satellites are over countries or region in which, Iridium does not have regulatory management to operate.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p:cNvSpPr>
            <a:spLocks noGrp="1"/>
          </p:cNvSpPr>
          <p:nvPr>
            <p:ph type="sldNum" sz="quarter" idx="12"/>
          </p:nvPr>
        </p:nvSpPr>
        <p:spPr>
          <a:noFill/>
        </p:spPr>
        <p:txBody>
          <a:bodyPr/>
          <a:lstStyle/>
          <a:p>
            <a:fld id="{79B6A9FA-6B40-44BA-97FE-D9C0D8A7736D}" type="slidenum">
              <a:rPr lang="en-US" smtClean="0">
                <a:latin typeface="Arial" pitchFamily="34" charset="0"/>
                <a:cs typeface="Arial" pitchFamily="34" charset="0"/>
              </a:rPr>
              <a:pPr/>
              <a:t>28</a:t>
            </a:fld>
            <a:endParaRPr lang="en-US">
              <a:latin typeface="Arial" pitchFamily="34" charset="0"/>
              <a:cs typeface="Arial" pitchFamily="34" charset="0"/>
            </a:endParaRPr>
          </a:p>
        </p:txBody>
      </p:sp>
      <p:grpSp>
        <p:nvGrpSpPr>
          <p:cNvPr id="2" name="Group 36"/>
          <p:cNvGrpSpPr>
            <a:grpSpLocks/>
          </p:cNvGrpSpPr>
          <p:nvPr/>
        </p:nvGrpSpPr>
        <p:grpSpPr bwMode="auto">
          <a:xfrm>
            <a:off x="457200" y="304800"/>
            <a:ext cx="8153400" cy="5486400"/>
            <a:chOff x="288" y="192"/>
            <a:chExt cx="5136" cy="3456"/>
          </a:xfrm>
        </p:grpSpPr>
        <p:pic>
          <p:nvPicPr>
            <p:cNvPr id="13317" name="Picture 5"/>
            <p:cNvPicPr>
              <a:picLocks noChangeAspect="1" noChangeArrowheads="1"/>
            </p:cNvPicPr>
            <p:nvPr/>
          </p:nvPicPr>
          <p:blipFill>
            <a:blip r:embed="rId2"/>
            <a:srcRect/>
            <a:stretch>
              <a:fillRect/>
            </a:stretch>
          </p:blipFill>
          <p:spPr bwMode="auto">
            <a:xfrm>
              <a:off x="482" y="417"/>
              <a:ext cx="678" cy="223"/>
            </a:xfrm>
            <a:prstGeom prst="rect">
              <a:avLst/>
            </a:prstGeom>
            <a:noFill/>
            <a:ln w="9525">
              <a:noFill/>
              <a:miter lim="800000"/>
              <a:headEnd/>
              <a:tailEnd/>
            </a:ln>
          </p:spPr>
        </p:pic>
        <p:pic>
          <p:nvPicPr>
            <p:cNvPr id="13318" name="Picture 6"/>
            <p:cNvPicPr>
              <a:picLocks noChangeAspect="1" noChangeArrowheads="1"/>
            </p:cNvPicPr>
            <p:nvPr/>
          </p:nvPicPr>
          <p:blipFill>
            <a:blip r:embed="rId3"/>
            <a:srcRect/>
            <a:stretch>
              <a:fillRect/>
            </a:stretch>
          </p:blipFill>
          <p:spPr bwMode="auto">
            <a:xfrm>
              <a:off x="4649" y="1767"/>
              <a:ext cx="268" cy="675"/>
            </a:xfrm>
            <a:prstGeom prst="rect">
              <a:avLst/>
            </a:prstGeom>
            <a:noFill/>
            <a:ln w="9525">
              <a:noFill/>
              <a:miter lim="800000"/>
              <a:headEnd/>
              <a:tailEnd/>
            </a:ln>
          </p:spPr>
        </p:pic>
        <p:pic>
          <p:nvPicPr>
            <p:cNvPr id="13319" name="Picture 7"/>
            <p:cNvPicPr>
              <a:picLocks noChangeAspect="1" noChangeArrowheads="1"/>
            </p:cNvPicPr>
            <p:nvPr/>
          </p:nvPicPr>
          <p:blipFill>
            <a:blip r:embed="rId4"/>
            <a:srcRect/>
            <a:stretch>
              <a:fillRect/>
            </a:stretch>
          </p:blipFill>
          <p:spPr bwMode="auto">
            <a:xfrm>
              <a:off x="482" y="2104"/>
              <a:ext cx="353" cy="450"/>
            </a:xfrm>
            <a:prstGeom prst="rect">
              <a:avLst/>
            </a:prstGeom>
            <a:noFill/>
            <a:ln w="9525">
              <a:noFill/>
              <a:miter lim="800000"/>
              <a:headEnd/>
              <a:tailEnd/>
            </a:ln>
          </p:spPr>
        </p:pic>
        <p:sp>
          <p:nvSpPr>
            <p:cNvPr id="13320" name="Line 8"/>
            <p:cNvSpPr>
              <a:spLocks noChangeShapeType="1"/>
            </p:cNvSpPr>
            <p:nvPr/>
          </p:nvSpPr>
          <p:spPr bwMode="auto">
            <a:xfrm>
              <a:off x="676" y="754"/>
              <a:ext cx="0" cy="1238"/>
            </a:xfrm>
            <a:prstGeom prst="line">
              <a:avLst/>
            </a:prstGeom>
            <a:noFill/>
            <a:ln w="19050">
              <a:solidFill>
                <a:schemeClr val="accent2"/>
              </a:solidFill>
              <a:round/>
              <a:headEnd type="triangle" w="med" len="med"/>
              <a:tailEnd type="triangle" w="med" len="med"/>
            </a:ln>
          </p:spPr>
          <p:txBody>
            <a:bodyPr/>
            <a:lstStyle/>
            <a:p>
              <a:endParaRPr lang="en-US"/>
            </a:p>
          </p:txBody>
        </p:sp>
        <p:sp>
          <p:nvSpPr>
            <p:cNvPr id="13321" name="Text Box 9"/>
            <p:cNvSpPr txBox="1">
              <a:spLocks noChangeArrowheads="1"/>
            </p:cNvSpPr>
            <p:nvPr/>
          </p:nvSpPr>
          <p:spPr bwMode="auto">
            <a:xfrm>
              <a:off x="676" y="1092"/>
              <a:ext cx="678" cy="337"/>
            </a:xfrm>
            <a:prstGeom prst="rect">
              <a:avLst/>
            </a:prstGeom>
            <a:solidFill>
              <a:srgbClr val="FFFFFF">
                <a:alpha val="0"/>
              </a:srgbClr>
            </a:solidFill>
            <a:ln w="9525">
              <a:noFill/>
              <a:miter lim="800000"/>
              <a:headEnd/>
              <a:tailEnd/>
            </a:ln>
          </p:spPr>
          <p:txBody>
            <a:bodyPr/>
            <a:lstStyle/>
            <a:p>
              <a:r>
                <a:rPr lang="en-US" altLang="ja-JP" sz="1600">
                  <a:latin typeface="Times New Roman" pitchFamily="18" charset="0"/>
                  <a:ea typeface="MS Mincho" pitchFamily="49" charset="-128"/>
                </a:rPr>
                <a:t>Ka band</a:t>
              </a:r>
              <a:endParaRPr lang="en-US" sz="1600">
                <a:latin typeface="Times New Roman" pitchFamily="18" charset="0"/>
              </a:endParaRPr>
            </a:p>
          </p:txBody>
        </p:sp>
        <p:pic>
          <p:nvPicPr>
            <p:cNvPr id="13322" name="Picture 10"/>
            <p:cNvPicPr>
              <a:picLocks noChangeAspect="1" noChangeArrowheads="1"/>
            </p:cNvPicPr>
            <p:nvPr/>
          </p:nvPicPr>
          <p:blipFill>
            <a:blip r:embed="rId2"/>
            <a:srcRect/>
            <a:stretch>
              <a:fillRect/>
            </a:stretch>
          </p:blipFill>
          <p:spPr bwMode="auto">
            <a:xfrm>
              <a:off x="2032" y="417"/>
              <a:ext cx="679" cy="223"/>
            </a:xfrm>
            <a:prstGeom prst="rect">
              <a:avLst/>
            </a:prstGeom>
            <a:noFill/>
            <a:ln w="9525">
              <a:noFill/>
              <a:miter lim="800000"/>
              <a:headEnd/>
              <a:tailEnd/>
            </a:ln>
          </p:spPr>
        </p:pic>
        <p:pic>
          <p:nvPicPr>
            <p:cNvPr id="13323" name="Picture 11"/>
            <p:cNvPicPr>
              <a:picLocks noChangeAspect="1" noChangeArrowheads="1"/>
            </p:cNvPicPr>
            <p:nvPr/>
          </p:nvPicPr>
          <p:blipFill>
            <a:blip r:embed="rId2"/>
            <a:srcRect/>
            <a:stretch>
              <a:fillRect/>
            </a:stretch>
          </p:blipFill>
          <p:spPr bwMode="auto">
            <a:xfrm>
              <a:off x="3583" y="417"/>
              <a:ext cx="678" cy="223"/>
            </a:xfrm>
            <a:prstGeom prst="rect">
              <a:avLst/>
            </a:prstGeom>
            <a:noFill/>
            <a:ln w="9525">
              <a:noFill/>
              <a:miter lim="800000"/>
              <a:headEnd/>
              <a:tailEnd/>
            </a:ln>
          </p:spPr>
        </p:pic>
        <p:pic>
          <p:nvPicPr>
            <p:cNvPr id="13324" name="Picture 12"/>
            <p:cNvPicPr>
              <a:picLocks noChangeAspect="1" noChangeArrowheads="1"/>
            </p:cNvPicPr>
            <p:nvPr/>
          </p:nvPicPr>
          <p:blipFill>
            <a:blip r:embed="rId4"/>
            <a:srcRect/>
            <a:stretch>
              <a:fillRect/>
            </a:stretch>
          </p:blipFill>
          <p:spPr bwMode="auto">
            <a:xfrm>
              <a:off x="2711" y="1317"/>
              <a:ext cx="353" cy="450"/>
            </a:xfrm>
            <a:prstGeom prst="rect">
              <a:avLst/>
            </a:prstGeom>
            <a:noFill/>
            <a:ln w="9525">
              <a:noFill/>
              <a:miter lim="800000"/>
              <a:headEnd/>
              <a:tailEnd/>
            </a:ln>
          </p:spPr>
        </p:pic>
        <p:sp>
          <p:nvSpPr>
            <p:cNvPr id="13325" name="Line 13"/>
            <p:cNvSpPr>
              <a:spLocks noChangeShapeType="1"/>
            </p:cNvSpPr>
            <p:nvPr/>
          </p:nvSpPr>
          <p:spPr bwMode="auto">
            <a:xfrm>
              <a:off x="2517" y="642"/>
              <a:ext cx="387" cy="562"/>
            </a:xfrm>
            <a:prstGeom prst="line">
              <a:avLst/>
            </a:prstGeom>
            <a:noFill/>
            <a:ln w="9525">
              <a:solidFill>
                <a:schemeClr val="accent2"/>
              </a:solidFill>
              <a:round/>
              <a:headEnd type="triangle" w="med" len="med"/>
              <a:tailEnd type="triangle" w="med" len="med"/>
            </a:ln>
          </p:spPr>
          <p:txBody>
            <a:bodyPr/>
            <a:lstStyle/>
            <a:p>
              <a:endParaRPr lang="en-US"/>
            </a:p>
          </p:txBody>
        </p:sp>
        <p:sp>
          <p:nvSpPr>
            <p:cNvPr id="13326" name="Line 14"/>
            <p:cNvSpPr>
              <a:spLocks noChangeShapeType="1"/>
            </p:cNvSpPr>
            <p:nvPr/>
          </p:nvSpPr>
          <p:spPr bwMode="auto">
            <a:xfrm flipV="1">
              <a:off x="3001" y="642"/>
              <a:ext cx="485" cy="562"/>
            </a:xfrm>
            <a:prstGeom prst="line">
              <a:avLst/>
            </a:prstGeom>
            <a:noFill/>
            <a:ln w="9525">
              <a:solidFill>
                <a:schemeClr val="accent2"/>
              </a:solidFill>
              <a:round/>
              <a:headEnd type="triangle" w="med" len="med"/>
              <a:tailEnd type="triangle" w="med" len="med"/>
            </a:ln>
          </p:spPr>
          <p:txBody>
            <a:bodyPr/>
            <a:lstStyle/>
            <a:p>
              <a:endParaRPr lang="en-US"/>
            </a:p>
          </p:txBody>
        </p:sp>
        <p:sp>
          <p:nvSpPr>
            <p:cNvPr id="13327" name="Text Box 15"/>
            <p:cNvSpPr txBox="1">
              <a:spLocks noChangeArrowheads="1"/>
            </p:cNvSpPr>
            <p:nvPr/>
          </p:nvSpPr>
          <p:spPr bwMode="auto">
            <a:xfrm>
              <a:off x="2711" y="754"/>
              <a:ext cx="678" cy="338"/>
            </a:xfrm>
            <a:prstGeom prst="rect">
              <a:avLst/>
            </a:prstGeom>
            <a:solidFill>
              <a:srgbClr val="FFFFFF">
                <a:alpha val="0"/>
              </a:srgbClr>
            </a:solidFill>
            <a:ln w="9525">
              <a:noFill/>
              <a:miter lim="800000"/>
              <a:headEnd/>
              <a:tailEnd/>
            </a:ln>
          </p:spPr>
          <p:txBody>
            <a:bodyPr/>
            <a:lstStyle/>
            <a:p>
              <a:r>
                <a:rPr lang="en-US" altLang="ja-JP" sz="1600">
                  <a:latin typeface="Times New Roman" pitchFamily="18" charset="0"/>
                  <a:ea typeface="MS Mincho" pitchFamily="49" charset="-128"/>
                </a:rPr>
                <a:t>Ka band</a:t>
              </a:r>
              <a:endParaRPr lang="en-US" sz="1600">
                <a:latin typeface="Times New Roman" pitchFamily="18" charset="0"/>
              </a:endParaRPr>
            </a:p>
          </p:txBody>
        </p:sp>
        <p:sp>
          <p:nvSpPr>
            <p:cNvPr id="13328" name="Text Box 16"/>
            <p:cNvSpPr txBox="1">
              <a:spLocks noChangeArrowheads="1"/>
            </p:cNvSpPr>
            <p:nvPr/>
          </p:nvSpPr>
          <p:spPr bwMode="auto">
            <a:xfrm>
              <a:off x="2711" y="279"/>
              <a:ext cx="678" cy="338"/>
            </a:xfrm>
            <a:prstGeom prst="rect">
              <a:avLst/>
            </a:prstGeom>
            <a:solidFill>
              <a:srgbClr val="FFFFFF">
                <a:alpha val="0"/>
              </a:srgbClr>
            </a:solidFill>
            <a:ln w="9525">
              <a:noFill/>
              <a:miter lim="800000"/>
              <a:headEnd/>
              <a:tailEnd/>
            </a:ln>
          </p:spPr>
          <p:txBody>
            <a:bodyPr/>
            <a:lstStyle/>
            <a:p>
              <a:r>
                <a:rPr lang="en-US" altLang="ja-JP" sz="1600">
                  <a:latin typeface="Times New Roman" pitchFamily="18" charset="0"/>
                  <a:ea typeface="MS Mincho" pitchFamily="49" charset="-128"/>
                </a:rPr>
                <a:t>Ka band</a:t>
              </a:r>
              <a:endParaRPr lang="en-US" sz="1600">
                <a:latin typeface="Times New Roman" pitchFamily="18" charset="0"/>
              </a:endParaRPr>
            </a:p>
          </p:txBody>
        </p:sp>
        <p:sp>
          <p:nvSpPr>
            <p:cNvPr id="13329" name="Line 17"/>
            <p:cNvSpPr>
              <a:spLocks noChangeShapeType="1"/>
            </p:cNvSpPr>
            <p:nvPr/>
          </p:nvSpPr>
          <p:spPr bwMode="auto">
            <a:xfrm>
              <a:off x="2711" y="529"/>
              <a:ext cx="775" cy="0"/>
            </a:xfrm>
            <a:prstGeom prst="line">
              <a:avLst/>
            </a:prstGeom>
            <a:noFill/>
            <a:ln w="9525">
              <a:solidFill>
                <a:schemeClr val="accent2"/>
              </a:solidFill>
              <a:round/>
              <a:headEnd type="triangle" w="med" len="med"/>
              <a:tailEnd type="triangle" w="med" len="med"/>
            </a:ln>
          </p:spPr>
          <p:txBody>
            <a:bodyPr/>
            <a:lstStyle/>
            <a:p>
              <a:endParaRPr lang="en-US"/>
            </a:p>
          </p:txBody>
        </p:sp>
        <p:sp>
          <p:nvSpPr>
            <p:cNvPr id="13330" name="Line 18"/>
            <p:cNvSpPr>
              <a:spLocks noChangeShapeType="1"/>
            </p:cNvSpPr>
            <p:nvPr/>
          </p:nvSpPr>
          <p:spPr bwMode="auto">
            <a:xfrm>
              <a:off x="3970" y="642"/>
              <a:ext cx="679" cy="1237"/>
            </a:xfrm>
            <a:prstGeom prst="line">
              <a:avLst/>
            </a:prstGeom>
            <a:noFill/>
            <a:ln w="9525">
              <a:solidFill>
                <a:srgbClr val="FF3300"/>
              </a:solidFill>
              <a:round/>
              <a:headEnd type="triangle" w="med" len="med"/>
              <a:tailEnd type="triangle" w="med" len="med"/>
            </a:ln>
          </p:spPr>
          <p:txBody>
            <a:bodyPr/>
            <a:lstStyle/>
            <a:p>
              <a:endParaRPr lang="en-US"/>
            </a:p>
          </p:txBody>
        </p:sp>
        <p:sp>
          <p:nvSpPr>
            <p:cNvPr id="13331" name="Text Box 19"/>
            <p:cNvSpPr txBox="1">
              <a:spLocks noChangeArrowheads="1"/>
            </p:cNvSpPr>
            <p:nvPr/>
          </p:nvSpPr>
          <p:spPr bwMode="auto">
            <a:xfrm>
              <a:off x="3680" y="1092"/>
              <a:ext cx="678" cy="337"/>
            </a:xfrm>
            <a:prstGeom prst="rect">
              <a:avLst/>
            </a:prstGeom>
            <a:solidFill>
              <a:srgbClr val="FFFFFF">
                <a:alpha val="0"/>
              </a:srgbClr>
            </a:solidFill>
            <a:ln w="9525">
              <a:noFill/>
              <a:miter lim="800000"/>
              <a:headEnd/>
              <a:tailEnd/>
            </a:ln>
          </p:spPr>
          <p:txBody>
            <a:bodyPr/>
            <a:lstStyle/>
            <a:p>
              <a:r>
                <a:rPr lang="en-US" altLang="ja-JP" sz="1600">
                  <a:latin typeface="Times New Roman" pitchFamily="18" charset="0"/>
                  <a:ea typeface="MS Mincho" pitchFamily="49" charset="-128"/>
                </a:rPr>
                <a:t>L band</a:t>
              </a:r>
              <a:endParaRPr lang="en-US" sz="1600">
                <a:latin typeface="Times New Roman" pitchFamily="18" charset="0"/>
              </a:endParaRPr>
            </a:p>
          </p:txBody>
        </p:sp>
        <p:sp>
          <p:nvSpPr>
            <p:cNvPr id="13332" name="AutoShape 20"/>
            <p:cNvSpPr>
              <a:spLocks noChangeArrowheads="1"/>
            </p:cNvSpPr>
            <p:nvPr/>
          </p:nvSpPr>
          <p:spPr bwMode="auto">
            <a:xfrm>
              <a:off x="1742" y="2217"/>
              <a:ext cx="678" cy="450"/>
            </a:xfrm>
            <a:prstGeom prst="cloudCallout">
              <a:avLst>
                <a:gd name="adj1" fmla="val -21509"/>
                <a:gd name="adj2" fmla="val 20000"/>
              </a:avLst>
            </a:prstGeom>
            <a:solidFill>
              <a:srgbClr val="00CCFF"/>
            </a:solidFill>
            <a:ln w="9525">
              <a:solidFill>
                <a:srgbClr val="000000"/>
              </a:solidFill>
              <a:round/>
              <a:headEnd/>
              <a:tailEnd/>
            </a:ln>
          </p:spPr>
          <p:txBody>
            <a:bodyPr/>
            <a:lstStyle/>
            <a:p>
              <a:r>
                <a:rPr lang="en-US" altLang="ja-JP" sz="1600">
                  <a:latin typeface="Times New Roman" pitchFamily="18" charset="0"/>
                  <a:ea typeface="MS Mincho" pitchFamily="49" charset="-128"/>
                </a:rPr>
                <a:t>SS7</a:t>
              </a:r>
              <a:endParaRPr lang="en-US" sz="1600">
                <a:latin typeface="Times New Roman" pitchFamily="18" charset="0"/>
              </a:endParaRPr>
            </a:p>
          </p:txBody>
        </p:sp>
        <p:sp>
          <p:nvSpPr>
            <p:cNvPr id="13333" name="AutoShape 21"/>
            <p:cNvSpPr>
              <a:spLocks noChangeArrowheads="1"/>
            </p:cNvSpPr>
            <p:nvPr/>
          </p:nvSpPr>
          <p:spPr bwMode="auto">
            <a:xfrm>
              <a:off x="869" y="2892"/>
              <a:ext cx="679" cy="450"/>
            </a:xfrm>
            <a:prstGeom prst="cloudCallout">
              <a:avLst>
                <a:gd name="adj1" fmla="val -21509"/>
                <a:gd name="adj2" fmla="val 20000"/>
              </a:avLst>
            </a:prstGeom>
            <a:solidFill>
              <a:srgbClr val="00CCFF"/>
            </a:solidFill>
            <a:ln w="9525">
              <a:solidFill>
                <a:srgbClr val="000000"/>
              </a:solidFill>
              <a:round/>
              <a:headEnd/>
              <a:tailEnd/>
            </a:ln>
          </p:spPr>
          <p:txBody>
            <a:bodyPr/>
            <a:lstStyle/>
            <a:p>
              <a:r>
                <a:rPr lang="en-US" altLang="ja-JP" sz="1600">
                  <a:latin typeface="Times New Roman" pitchFamily="18" charset="0"/>
                  <a:ea typeface="MS Mincho" pitchFamily="49" charset="-128"/>
                </a:rPr>
                <a:t>PSTN</a:t>
              </a:r>
              <a:endParaRPr lang="en-US" sz="1600">
                <a:latin typeface="Times New Roman" pitchFamily="18" charset="0"/>
              </a:endParaRPr>
            </a:p>
          </p:txBody>
        </p:sp>
        <p:sp>
          <p:nvSpPr>
            <p:cNvPr id="13334" name="AutoShape 22"/>
            <p:cNvSpPr>
              <a:spLocks noChangeArrowheads="1"/>
            </p:cNvSpPr>
            <p:nvPr/>
          </p:nvSpPr>
          <p:spPr bwMode="auto">
            <a:xfrm>
              <a:off x="3337" y="2734"/>
              <a:ext cx="678" cy="450"/>
            </a:xfrm>
            <a:prstGeom prst="cloudCallout">
              <a:avLst>
                <a:gd name="adj1" fmla="val -21509"/>
                <a:gd name="adj2" fmla="val 20000"/>
              </a:avLst>
            </a:prstGeom>
            <a:solidFill>
              <a:srgbClr val="00CCFF"/>
            </a:solidFill>
            <a:ln w="9525">
              <a:solidFill>
                <a:srgbClr val="000000"/>
              </a:solidFill>
              <a:round/>
              <a:headEnd/>
              <a:tailEnd/>
            </a:ln>
          </p:spPr>
          <p:txBody>
            <a:bodyPr/>
            <a:lstStyle/>
            <a:p>
              <a:r>
                <a:rPr lang="en-US" altLang="ja-JP" sz="1600">
                  <a:latin typeface="Times New Roman" pitchFamily="18" charset="0"/>
                  <a:ea typeface="MS Mincho" pitchFamily="49" charset="-128"/>
                </a:rPr>
                <a:t>GSM</a:t>
              </a:r>
              <a:endParaRPr lang="en-US" sz="1600">
                <a:latin typeface="Times New Roman" pitchFamily="18" charset="0"/>
              </a:endParaRPr>
            </a:p>
          </p:txBody>
        </p:sp>
        <p:sp>
          <p:nvSpPr>
            <p:cNvPr id="13335" name="Line 23"/>
            <p:cNvSpPr>
              <a:spLocks noChangeShapeType="1"/>
            </p:cNvSpPr>
            <p:nvPr/>
          </p:nvSpPr>
          <p:spPr bwMode="auto">
            <a:xfrm flipV="1">
              <a:off x="3970" y="2217"/>
              <a:ext cx="679" cy="562"/>
            </a:xfrm>
            <a:prstGeom prst="line">
              <a:avLst/>
            </a:prstGeom>
            <a:noFill/>
            <a:ln w="9525">
              <a:solidFill>
                <a:srgbClr val="000000"/>
              </a:solidFill>
              <a:round/>
              <a:headEnd type="triangle" w="med" len="med"/>
              <a:tailEnd type="triangle" w="med" len="med"/>
            </a:ln>
          </p:spPr>
          <p:txBody>
            <a:bodyPr/>
            <a:lstStyle/>
            <a:p>
              <a:endParaRPr lang="en-US"/>
            </a:p>
          </p:txBody>
        </p:sp>
        <p:sp>
          <p:nvSpPr>
            <p:cNvPr id="13336" name="Text Box 24"/>
            <p:cNvSpPr txBox="1">
              <a:spLocks noChangeArrowheads="1"/>
            </p:cNvSpPr>
            <p:nvPr/>
          </p:nvSpPr>
          <p:spPr bwMode="auto">
            <a:xfrm>
              <a:off x="4455" y="2442"/>
              <a:ext cx="969" cy="562"/>
            </a:xfrm>
            <a:prstGeom prst="rect">
              <a:avLst/>
            </a:prstGeom>
            <a:solidFill>
              <a:srgbClr val="FFFFFF">
                <a:alpha val="0"/>
              </a:srgbClr>
            </a:solidFill>
            <a:ln w="9525">
              <a:noFill/>
              <a:miter lim="800000"/>
              <a:headEnd/>
              <a:tailEnd/>
            </a:ln>
          </p:spPr>
          <p:txBody>
            <a:bodyPr/>
            <a:lstStyle/>
            <a:p>
              <a:r>
                <a:rPr lang="en-US" altLang="ja-JP" sz="1600">
                  <a:latin typeface="Times New Roman" pitchFamily="18" charset="0"/>
                  <a:ea typeface="MS Mincho" pitchFamily="49" charset="-128"/>
                </a:rPr>
                <a:t>ISU</a:t>
              </a:r>
            </a:p>
            <a:p>
              <a:r>
                <a:rPr lang="en-US" altLang="ja-JP" sz="1600">
                  <a:latin typeface="Times New Roman" pitchFamily="18" charset="0"/>
                  <a:ea typeface="MS Mincho" pitchFamily="49" charset="-128"/>
                </a:rPr>
                <a:t>Iridium Subscriber Unit</a:t>
              </a:r>
              <a:endParaRPr lang="en-US" sz="1600">
                <a:latin typeface="Times New Roman" pitchFamily="18" charset="0"/>
              </a:endParaRPr>
            </a:p>
          </p:txBody>
        </p:sp>
        <p:sp>
          <p:nvSpPr>
            <p:cNvPr id="13337" name="Line 25"/>
            <p:cNvSpPr>
              <a:spLocks noChangeShapeType="1"/>
            </p:cNvSpPr>
            <p:nvPr/>
          </p:nvSpPr>
          <p:spPr bwMode="auto">
            <a:xfrm>
              <a:off x="869" y="2329"/>
              <a:ext cx="873" cy="0"/>
            </a:xfrm>
            <a:prstGeom prst="line">
              <a:avLst/>
            </a:prstGeom>
            <a:noFill/>
            <a:ln w="9525">
              <a:solidFill>
                <a:srgbClr val="000000"/>
              </a:solidFill>
              <a:round/>
              <a:headEnd type="triangle" w="med" len="med"/>
              <a:tailEnd type="triangle" w="med" len="med"/>
            </a:ln>
          </p:spPr>
          <p:txBody>
            <a:bodyPr/>
            <a:lstStyle/>
            <a:p>
              <a:endParaRPr lang="en-US"/>
            </a:p>
          </p:txBody>
        </p:sp>
        <p:sp>
          <p:nvSpPr>
            <p:cNvPr id="13338" name="Line 26"/>
            <p:cNvSpPr>
              <a:spLocks noChangeShapeType="1"/>
            </p:cNvSpPr>
            <p:nvPr/>
          </p:nvSpPr>
          <p:spPr bwMode="auto">
            <a:xfrm>
              <a:off x="869" y="2554"/>
              <a:ext cx="291" cy="338"/>
            </a:xfrm>
            <a:prstGeom prst="line">
              <a:avLst/>
            </a:prstGeom>
            <a:noFill/>
            <a:ln w="9525">
              <a:solidFill>
                <a:srgbClr val="000000"/>
              </a:solidFill>
              <a:round/>
              <a:headEnd type="triangle" w="med" len="med"/>
              <a:tailEnd type="triangle" w="med" len="med"/>
            </a:ln>
          </p:spPr>
          <p:txBody>
            <a:bodyPr/>
            <a:lstStyle/>
            <a:p>
              <a:endParaRPr lang="en-US"/>
            </a:p>
          </p:txBody>
        </p:sp>
        <p:sp>
          <p:nvSpPr>
            <p:cNvPr id="13339" name="Line 27"/>
            <p:cNvSpPr>
              <a:spLocks noChangeShapeType="1"/>
            </p:cNvSpPr>
            <p:nvPr/>
          </p:nvSpPr>
          <p:spPr bwMode="auto">
            <a:xfrm flipV="1">
              <a:off x="1548" y="2667"/>
              <a:ext cx="290" cy="225"/>
            </a:xfrm>
            <a:prstGeom prst="line">
              <a:avLst/>
            </a:prstGeom>
            <a:noFill/>
            <a:ln w="9525">
              <a:solidFill>
                <a:srgbClr val="000000"/>
              </a:solidFill>
              <a:round/>
              <a:headEnd type="triangle" w="med" len="med"/>
              <a:tailEnd type="triangle" w="med" len="med"/>
            </a:ln>
          </p:spPr>
          <p:txBody>
            <a:bodyPr/>
            <a:lstStyle/>
            <a:p>
              <a:endParaRPr lang="en-US"/>
            </a:p>
          </p:txBody>
        </p:sp>
        <p:sp>
          <p:nvSpPr>
            <p:cNvPr id="13340" name="Line 28"/>
            <p:cNvSpPr>
              <a:spLocks noChangeShapeType="1"/>
            </p:cNvSpPr>
            <p:nvPr/>
          </p:nvSpPr>
          <p:spPr bwMode="auto">
            <a:xfrm>
              <a:off x="2517" y="2554"/>
              <a:ext cx="775" cy="338"/>
            </a:xfrm>
            <a:prstGeom prst="line">
              <a:avLst/>
            </a:prstGeom>
            <a:noFill/>
            <a:ln w="9525">
              <a:solidFill>
                <a:srgbClr val="000000"/>
              </a:solidFill>
              <a:round/>
              <a:headEnd type="triangle" w="med" len="med"/>
              <a:tailEnd type="triangle" w="med" len="med"/>
            </a:ln>
          </p:spPr>
          <p:txBody>
            <a:bodyPr/>
            <a:lstStyle/>
            <a:p>
              <a:endParaRPr lang="en-US"/>
            </a:p>
          </p:txBody>
        </p:sp>
        <p:sp>
          <p:nvSpPr>
            <p:cNvPr id="13341" name="Line 29"/>
            <p:cNvSpPr>
              <a:spLocks noChangeShapeType="1"/>
            </p:cNvSpPr>
            <p:nvPr/>
          </p:nvSpPr>
          <p:spPr bwMode="auto">
            <a:xfrm>
              <a:off x="1160" y="529"/>
              <a:ext cx="775" cy="0"/>
            </a:xfrm>
            <a:prstGeom prst="line">
              <a:avLst/>
            </a:prstGeom>
            <a:noFill/>
            <a:ln w="9525">
              <a:solidFill>
                <a:schemeClr val="accent2"/>
              </a:solidFill>
              <a:round/>
              <a:headEnd type="triangle" w="med" len="med"/>
              <a:tailEnd type="triangle" w="med" len="med"/>
            </a:ln>
          </p:spPr>
          <p:txBody>
            <a:bodyPr/>
            <a:lstStyle/>
            <a:p>
              <a:endParaRPr lang="en-US"/>
            </a:p>
          </p:txBody>
        </p:sp>
        <p:sp>
          <p:nvSpPr>
            <p:cNvPr id="13342" name="Text Box 30"/>
            <p:cNvSpPr txBox="1">
              <a:spLocks noChangeArrowheads="1"/>
            </p:cNvSpPr>
            <p:nvPr/>
          </p:nvSpPr>
          <p:spPr bwMode="auto">
            <a:xfrm>
              <a:off x="1257" y="192"/>
              <a:ext cx="678" cy="337"/>
            </a:xfrm>
            <a:prstGeom prst="rect">
              <a:avLst/>
            </a:prstGeom>
            <a:solidFill>
              <a:srgbClr val="FFFFFF">
                <a:alpha val="0"/>
              </a:srgbClr>
            </a:solidFill>
            <a:ln w="9525">
              <a:noFill/>
              <a:miter lim="800000"/>
              <a:headEnd/>
              <a:tailEnd/>
            </a:ln>
          </p:spPr>
          <p:txBody>
            <a:bodyPr/>
            <a:lstStyle/>
            <a:p>
              <a:r>
                <a:rPr lang="en-US" altLang="ja-JP" sz="1600">
                  <a:latin typeface="Times New Roman" pitchFamily="18" charset="0"/>
                  <a:ea typeface="MS Mincho" pitchFamily="49" charset="-128"/>
                </a:rPr>
                <a:t>Ka band</a:t>
              </a:r>
              <a:endParaRPr lang="en-US" sz="1600">
                <a:latin typeface="Times New Roman" pitchFamily="18" charset="0"/>
              </a:endParaRPr>
            </a:p>
          </p:txBody>
        </p:sp>
        <p:pic>
          <p:nvPicPr>
            <p:cNvPr id="13343" name="Picture 31"/>
            <p:cNvPicPr>
              <a:picLocks noChangeAspect="1" noChangeArrowheads="1"/>
            </p:cNvPicPr>
            <p:nvPr/>
          </p:nvPicPr>
          <p:blipFill>
            <a:blip r:embed="rId5"/>
            <a:srcRect/>
            <a:stretch>
              <a:fillRect/>
            </a:stretch>
          </p:blipFill>
          <p:spPr bwMode="auto">
            <a:xfrm>
              <a:off x="1898" y="3273"/>
              <a:ext cx="484" cy="375"/>
            </a:xfrm>
            <a:prstGeom prst="rect">
              <a:avLst/>
            </a:prstGeom>
            <a:noFill/>
            <a:ln w="9525">
              <a:noFill/>
              <a:miter lim="800000"/>
              <a:headEnd/>
              <a:tailEnd/>
            </a:ln>
          </p:spPr>
        </p:pic>
        <p:sp>
          <p:nvSpPr>
            <p:cNvPr id="13344" name="Line 32"/>
            <p:cNvSpPr>
              <a:spLocks noChangeShapeType="1"/>
            </p:cNvSpPr>
            <p:nvPr/>
          </p:nvSpPr>
          <p:spPr bwMode="auto">
            <a:xfrm>
              <a:off x="1564" y="3117"/>
              <a:ext cx="484" cy="225"/>
            </a:xfrm>
            <a:prstGeom prst="line">
              <a:avLst/>
            </a:prstGeom>
            <a:noFill/>
            <a:ln w="9525">
              <a:solidFill>
                <a:srgbClr val="000000"/>
              </a:solidFill>
              <a:round/>
              <a:headEnd type="triangle" w="med" len="med"/>
              <a:tailEnd type="triangle" w="med" len="med"/>
            </a:ln>
          </p:spPr>
          <p:txBody>
            <a:bodyPr/>
            <a:lstStyle/>
            <a:p>
              <a:endParaRPr lang="en-US"/>
            </a:p>
          </p:txBody>
        </p:sp>
        <p:sp>
          <p:nvSpPr>
            <p:cNvPr id="13345" name="Text Box 33"/>
            <p:cNvSpPr txBox="1">
              <a:spLocks noChangeArrowheads="1"/>
            </p:cNvSpPr>
            <p:nvPr/>
          </p:nvSpPr>
          <p:spPr bwMode="auto">
            <a:xfrm>
              <a:off x="288" y="2554"/>
              <a:ext cx="581" cy="450"/>
            </a:xfrm>
            <a:prstGeom prst="rect">
              <a:avLst/>
            </a:prstGeom>
            <a:solidFill>
              <a:srgbClr val="FFFFFF">
                <a:alpha val="0"/>
              </a:srgbClr>
            </a:solidFill>
            <a:ln w="9525">
              <a:noFill/>
              <a:miter lim="800000"/>
              <a:headEnd/>
              <a:tailEnd/>
            </a:ln>
          </p:spPr>
          <p:txBody>
            <a:bodyPr/>
            <a:lstStyle/>
            <a:p>
              <a:r>
                <a:rPr lang="en-US" altLang="ja-JP" sz="1600">
                  <a:latin typeface="Times New Roman" pitchFamily="18" charset="0"/>
                  <a:ea typeface="MS Mincho" pitchFamily="49" charset="-128"/>
                </a:rPr>
                <a:t>Earth Station</a:t>
              </a:r>
              <a:endParaRPr lang="en-US" sz="1600">
                <a:latin typeface="Times New Roman" pitchFamily="18" charset="0"/>
              </a:endParaRPr>
            </a:p>
          </p:txBody>
        </p:sp>
        <p:sp>
          <p:nvSpPr>
            <p:cNvPr id="13346" name="Text Box 34"/>
            <p:cNvSpPr txBox="1">
              <a:spLocks noChangeArrowheads="1"/>
            </p:cNvSpPr>
            <p:nvPr/>
          </p:nvSpPr>
          <p:spPr bwMode="auto">
            <a:xfrm>
              <a:off x="2323" y="1767"/>
              <a:ext cx="1260" cy="450"/>
            </a:xfrm>
            <a:prstGeom prst="rect">
              <a:avLst/>
            </a:prstGeom>
            <a:solidFill>
              <a:srgbClr val="FFFFFF">
                <a:alpha val="0"/>
              </a:srgbClr>
            </a:solidFill>
            <a:ln w="9525">
              <a:noFill/>
              <a:miter lim="800000"/>
              <a:headEnd/>
              <a:tailEnd/>
            </a:ln>
          </p:spPr>
          <p:txBody>
            <a:bodyPr/>
            <a:lstStyle/>
            <a:p>
              <a:r>
                <a:rPr lang="en-US" altLang="ja-JP" sz="1600" dirty="0">
                  <a:latin typeface="Times New Roman" pitchFamily="18" charset="0"/>
                  <a:ea typeface="MS Mincho" pitchFamily="49" charset="-128"/>
                </a:rPr>
                <a:t>TT &amp;C (Telemetry tracking and control)</a:t>
              </a:r>
              <a:endParaRPr lang="en-US" sz="1600" dirty="0">
                <a:latin typeface="Times New Roman" pitchFamily="18" charset="0"/>
              </a:endParaRPr>
            </a:p>
          </p:txBody>
        </p:sp>
      </p:grpSp>
      <p:sp>
        <p:nvSpPr>
          <p:cNvPr id="13316" name="Text Box 35"/>
          <p:cNvSpPr txBox="1">
            <a:spLocks noChangeArrowheads="1"/>
          </p:cNvSpPr>
          <p:nvPr/>
        </p:nvSpPr>
        <p:spPr bwMode="auto">
          <a:xfrm>
            <a:off x="1143000" y="6172200"/>
            <a:ext cx="6705600" cy="461665"/>
          </a:xfrm>
          <a:prstGeom prst="rect">
            <a:avLst/>
          </a:prstGeom>
          <a:solidFill>
            <a:srgbClr val="FFFF00"/>
          </a:solidFill>
          <a:ln w="9525">
            <a:noFill/>
            <a:miter lim="800000"/>
            <a:headEnd/>
            <a:tailEnd/>
          </a:ln>
        </p:spPr>
        <p:txBody>
          <a:bodyPr wrap="square">
            <a:spAutoFit/>
          </a:bodyPr>
          <a:lstStyle/>
          <a:p>
            <a:pPr>
              <a:spcBef>
                <a:spcPct val="50000"/>
              </a:spcBef>
            </a:pPr>
            <a:r>
              <a:rPr lang="en-US" sz="2400" dirty="0">
                <a:latin typeface="Times New Roman" pitchFamily="18" charset="0"/>
                <a:cs typeface="Times New Roman" pitchFamily="18" charset="0"/>
              </a:rPr>
              <a:t>High level network architecture for </a:t>
            </a:r>
            <a:r>
              <a:rPr lang="en-US" sz="2400" b="1" dirty="0">
                <a:solidFill>
                  <a:schemeClr val="accent2"/>
                </a:solidFill>
                <a:latin typeface="Times New Roman" pitchFamily="18" charset="0"/>
                <a:cs typeface="Times New Roman" pitchFamily="18" charset="0"/>
              </a:rPr>
              <a:t>Iridium</a:t>
            </a:r>
            <a:r>
              <a:rPr lang="en-US" sz="2400" dirty="0">
                <a:latin typeface="Times New Roman" pitchFamily="18" charset="0"/>
                <a:cs typeface="Times New Roman" pitchFamily="18" charset="0"/>
              </a:rPr>
              <a:t> system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29</a:t>
            </a:fld>
            <a:endParaRPr lang="en-US"/>
          </a:p>
        </p:txBody>
      </p:sp>
      <p:sp>
        <p:nvSpPr>
          <p:cNvPr id="5" name="Text Box 2"/>
          <p:cNvSpPr txBox="1">
            <a:spLocks noChangeArrowheads="1"/>
          </p:cNvSpPr>
          <p:nvPr/>
        </p:nvSpPr>
        <p:spPr bwMode="auto">
          <a:xfrm>
            <a:off x="304800" y="1295400"/>
            <a:ext cx="8610600" cy="4893647"/>
          </a:xfrm>
          <a:prstGeom prst="rect">
            <a:avLst/>
          </a:prstGeom>
          <a:solidFill>
            <a:srgbClr val="FFFF00"/>
          </a:solidFill>
          <a:ln w="9525">
            <a:noFill/>
            <a:miter lim="800000"/>
            <a:headEnd/>
            <a:tailEnd/>
          </a:ln>
        </p:spPr>
        <p:txBody>
          <a:bodyPr wrap="square">
            <a:spAutoFit/>
          </a:bodyPr>
          <a:lstStyle/>
          <a:p>
            <a:pPr algn="justLow">
              <a:spcBef>
                <a:spcPct val="50000"/>
              </a:spcBef>
              <a:buFont typeface="Wingdings" pitchFamily="2" charset="2"/>
              <a:buChar char="q"/>
            </a:pPr>
            <a:r>
              <a:rPr lang="en-US" sz="2400" dirty="0" err="1">
                <a:latin typeface="Times New Roman" pitchFamily="18" charset="0"/>
                <a:cs typeface="Times New Roman" pitchFamily="18" charset="0"/>
              </a:rPr>
              <a:t>Globalstar</a:t>
            </a:r>
            <a:r>
              <a:rPr lang="en-US" sz="2400" dirty="0">
                <a:latin typeface="Times New Roman" pitchFamily="18" charset="0"/>
                <a:cs typeface="Times New Roman" pitchFamily="18" charset="0"/>
              </a:rPr>
              <a:t> is a global mobile satellite system based on constellation of </a:t>
            </a:r>
            <a:r>
              <a:rPr lang="en-US" sz="2400">
                <a:latin typeface="Times New Roman" pitchFamily="18" charset="0"/>
                <a:cs typeface="Times New Roman" pitchFamily="18" charset="0"/>
              </a:rPr>
              <a:t>48 MEO </a:t>
            </a:r>
            <a:r>
              <a:rPr lang="en-US" sz="2400" dirty="0">
                <a:latin typeface="Times New Roman" pitchFamily="18" charset="0"/>
                <a:cs typeface="Times New Roman" pitchFamily="18" charset="0"/>
              </a:rPr>
              <a:t>satellites. Unlike the Iridium system, </a:t>
            </a:r>
            <a:r>
              <a:rPr lang="en-US" sz="2400" dirty="0" err="1">
                <a:latin typeface="Times New Roman" pitchFamily="18" charset="0"/>
                <a:cs typeface="Times New Roman" pitchFamily="18" charset="0"/>
              </a:rPr>
              <a:t>Globalstar</a:t>
            </a:r>
            <a:r>
              <a:rPr lang="en-US" sz="2400" dirty="0">
                <a:latin typeface="Times New Roman" pitchFamily="18" charset="0"/>
                <a:cs typeface="Times New Roman" pitchFamily="18" charset="0"/>
              </a:rPr>
              <a:t> system does not use </a:t>
            </a:r>
            <a:r>
              <a:rPr lang="en-US" sz="2400" dirty="0" err="1">
                <a:latin typeface="Times New Roman" pitchFamily="18" charset="0"/>
                <a:cs typeface="Times New Roman" pitchFamily="18" charset="0"/>
              </a:rPr>
              <a:t>intersatellite</a:t>
            </a:r>
            <a:r>
              <a:rPr lang="en-US" sz="2400" dirty="0">
                <a:latin typeface="Times New Roman" pitchFamily="18" charset="0"/>
                <a:cs typeface="Times New Roman" pitchFamily="18" charset="0"/>
              </a:rPr>
              <a:t> links but rather depends on a large number of interconnected earth stations or gateway for efficient call routing and delivery over the terrestrial network. </a:t>
            </a:r>
          </a:p>
          <a:p>
            <a:pPr algn="justLow">
              <a:spcBef>
                <a:spcPct val="50000"/>
              </a:spcBef>
              <a:buFont typeface="Wingdings" pitchFamily="2" charset="2"/>
              <a:buChar char="q"/>
            </a:pPr>
            <a:r>
              <a:rPr lang="en-US" sz="2400" dirty="0" err="1">
                <a:latin typeface="Times New Roman" pitchFamily="18" charset="0"/>
                <a:cs typeface="Times New Roman" pitchFamily="18" charset="0"/>
              </a:rPr>
              <a:t>Globalstar’s</a:t>
            </a:r>
            <a:r>
              <a:rPr lang="en-US" sz="2400" dirty="0">
                <a:latin typeface="Times New Roman" pitchFamily="18" charset="0"/>
                <a:cs typeface="Times New Roman" pitchFamily="18" charset="0"/>
              </a:rPr>
              <a:t> constellation of 48 LEO satellites is designed to orbit at an altitude of 1414 Km above earth’s surface in eight orbital planes inclined at 52</a:t>
            </a:r>
            <a:r>
              <a:rPr lang="en-US" sz="2400" baseline="30000" dirty="0">
                <a:latin typeface="Times New Roman" pitchFamily="18" charset="0"/>
                <a:cs typeface="Times New Roman" pitchFamily="18" charset="0"/>
              </a:rPr>
              <a:t>0</a:t>
            </a:r>
            <a:r>
              <a:rPr lang="en-US" sz="2400" dirty="0">
                <a:latin typeface="Times New Roman" pitchFamily="18" charset="0"/>
                <a:cs typeface="Times New Roman" pitchFamily="18" charset="0"/>
              </a:rPr>
              <a:t>.</a:t>
            </a:r>
          </a:p>
          <a:p>
            <a:pPr algn="justLow">
              <a:spcBef>
                <a:spcPct val="50000"/>
              </a:spcBef>
              <a:buFont typeface="Wingdings" pitchFamily="2" charset="2"/>
              <a:buChar char="q"/>
            </a:pPr>
            <a:r>
              <a:rPr lang="en-US" sz="2400" dirty="0">
                <a:latin typeface="Times New Roman" pitchFamily="18" charset="0"/>
                <a:cs typeface="Times New Roman" pitchFamily="18" charset="0"/>
              </a:rPr>
              <a:t>Each satellite supports a 16-beam antenna patterns with an average beam diameter of 2250km. To mitigate blocking and shadowing, </a:t>
            </a:r>
            <a:r>
              <a:rPr lang="en-US" sz="2400" dirty="0" err="1">
                <a:latin typeface="Times New Roman" pitchFamily="18" charset="0"/>
                <a:cs typeface="Times New Roman" pitchFamily="18" charset="0"/>
              </a:rPr>
              <a:t>Globalstar</a:t>
            </a:r>
            <a:r>
              <a:rPr lang="en-US" sz="2400" dirty="0">
                <a:latin typeface="Times New Roman" pitchFamily="18" charset="0"/>
                <a:cs typeface="Times New Roman" pitchFamily="18" charset="0"/>
              </a:rPr>
              <a:t> will deploy path diversity, whereby multiple satellites may be used to complete a call. </a:t>
            </a:r>
          </a:p>
        </p:txBody>
      </p:sp>
      <p:sp>
        <p:nvSpPr>
          <p:cNvPr id="6" name="Text Box 3"/>
          <p:cNvSpPr txBox="1">
            <a:spLocks noChangeArrowheads="1"/>
          </p:cNvSpPr>
          <p:nvPr/>
        </p:nvSpPr>
        <p:spPr bwMode="auto">
          <a:xfrm>
            <a:off x="1981200" y="228600"/>
            <a:ext cx="4572000" cy="641350"/>
          </a:xfrm>
          <a:prstGeom prst="rect">
            <a:avLst/>
          </a:prstGeom>
          <a:solidFill>
            <a:srgbClr val="66CCFF"/>
          </a:solidFill>
          <a:ln w="9525">
            <a:noFill/>
            <a:miter lim="800000"/>
            <a:headEnd/>
            <a:tailEnd/>
          </a:ln>
        </p:spPr>
        <p:txBody>
          <a:bodyPr>
            <a:spAutoFit/>
          </a:bodyPr>
          <a:lstStyle/>
          <a:p>
            <a:pPr>
              <a:spcBef>
                <a:spcPct val="50000"/>
              </a:spcBef>
            </a:pPr>
            <a:r>
              <a:rPr lang="en-US" sz="3600" dirty="0">
                <a:latin typeface="Times New Roman" pitchFamily="18" charset="0"/>
                <a:cs typeface="Times New Roman" pitchFamily="18" charset="0"/>
              </a:rPr>
              <a:t>The </a:t>
            </a:r>
            <a:r>
              <a:rPr lang="en-US" sz="3600" dirty="0" err="1">
                <a:latin typeface="Times New Roman" pitchFamily="18" charset="0"/>
                <a:cs typeface="Times New Roman" pitchFamily="18" charset="0"/>
              </a:rPr>
              <a:t>Globalstar</a:t>
            </a:r>
            <a:r>
              <a:rPr lang="en-US" sz="3600" dirty="0">
                <a:latin typeface="Times New Roman" pitchFamily="18" charset="0"/>
                <a:cs typeface="Times New Roman" pitchFamily="18" charset="0"/>
              </a:rPr>
              <a:t> System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p:cNvSpPr>
            <a:spLocks noGrp="1"/>
          </p:cNvSpPr>
          <p:nvPr>
            <p:ph type="sldNum" sz="quarter" idx="12"/>
          </p:nvPr>
        </p:nvSpPr>
        <p:spPr>
          <a:noFill/>
        </p:spPr>
        <p:txBody>
          <a:bodyPr/>
          <a:lstStyle/>
          <a:p>
            <a:fld id="{17AD644F-E06E-4CDC-9AE9-E232B1C4548A}" type="slidenum">
              <a:rPr lang="en-US" smtClean="0">
                <a:latin typeface="Arial" pitchFamily="34" charset="0"/>
                <a:cs typeface="Arial" pitchFamily="34" charset="0"/>
              </a:rPr>
              <a:pPr/>
              <a:t>30</a:t>
            </a:fld>
            <a:endParaRPr lang="en-US">
              <a:latin typeface="Arial" pitchFamily="34" charset="0"/>
              <a:cs typeface="Arial" pitchFamily="34" charset="0"/>
            </a:endParaRPr>
          </a:p>
        </p:txBody>
      </p:sp>
      <p:grpSp>
        <p:nvGrpSpPr>
          <p:cNvPr id="2" name="Group 43"/>
          <p:cNvGrpSpPr>
            <a:grpSpLocks/>
          </p:cNvGrpSpPr>
          <p:nvPr/>
        </p:nvGrpSpPr>
        <p:grpSpPr bwMode="auto">
          <a:xfrm>
            <a:off x="0" y="914400"/>
            <a:ext cx="9115425" cy="5943600"/>
            <a:chOff x="222" y="576"/>
            <a:chExt cx="5520" cy="3744"/>
          </a:xfrm>
        </p:grpSpPr>
        <p:pic>
          <p:nvPicPr>
            <p:cNvPr id="18437" name="Picture 3"/>
            <p:cNvPicPr>
              <a:picLocks noChangeAspect="1" noChangeArrowheads="1"/>
            </p:cNvPicPr>
            <p:nvPr/>
          </p:nvPicPr>
          <p:blipFill>
            <a:blip r:embed="rId2"/>
            <a:srcRect/>
            <a:stretch>
              <a:fillRect/>
            </a:stretch>
          </p:blipFill>
          <p:spPr bwMode="auto">
            <a:xfrm>
              <a:off x="826" y="998"/>
              <a:ext cx="604" cy="168"/>
            </a:xfrm>
            <a:prstGeom prst="rect">
              <a:avLst/>
            </a:prstGeom>
            <a:noFill/>
            <a:ln w="9525">
              <a:noFill/>
              <a:miter lim="800000"/>
              <a:headEnd/>
              <a:tailEnd/>
            </a:ln>
          </p:spPr>
        </p:pic>
        <p:pic>
          <p:nvPicPr>
            <p:cNvPr id="18438" name="Picture 4"/>
            <p:cNvPicPr>
              <a:picLocks noChangeAspect="1" noChangeArrowheads="1"/>
            </p:cNvPicPr>
            <p:nvPr/>
          </p:nvPicPr>
          <p:blipFill>
            <a:blip r:embed="rId3"/>
            <a:srcRect/>
            <a:stretch>
              <a:fillRect/>
            </a:stretch>
          </p:blipFill>
          <p:spPr bwMode="auto">
            <a:xfrm>
              <a:off x="4966" y="2349"/>
              <a:ext cx="238" cy="507"/>
            </a:xfrm>
            <a:prstGeom prst="rect">
              <a:avLst/>
            </a:prstGeom>
            <a:noFill/>
            <a:ln w="9525">
              <a:noFill/>
              <a:miter lim="800000"/>
              <a:headEnd/>
              <a:tailEnd/>
            </a:ln>
          </p:spPr>
        </p:pic>
        <p:pic>
          <p:nvPicPr>
            <p:cNvPr id="18439" name="Picture 5"/>
            <p:cNvPicPr>
              <a:picLocks noChangeAspect="1" noChangeArrowheads="1"/>
            </p:cNvPicPr>
            <p:nvPr/>
          </p:nvPicPr>
          <p:blipFill>
            <a:blip r:embed="rId4"/>
            <a:srcRect/>
            <a:stretch>
              <a:fillRect/>
            </a:stretch>
          </p:blipFill>
          <p:spPr bwMode="auto">
            <a:xfrm>
              <a:off x="1775" y="2265"/>
              <a:ext cx="314" cy="338"/>
            </a:xfrm>
            <a:prstGeom prst="rect">
              <a:avLst/>
            </a:prstGeom>
            <a:noFill/>
            <a:ln w="9525">
              <a:noFill/>
              <a:miter lim="800000"/>
              <a:headEnd/>
              <a:tailEnd/>
            </a:ln>
          </p:spPr>
        </p:pic>
        <p:pic>
          <p:nvPicPr>
            <p:cNvPr id="18440" name="Picture 6"/>
            <p:cNvPicPr>
              <a:picLocks noChangeAspect="1" noChangeArrowheads="1"/>
            </p:cNvPicPr>
            <p:nvPr/>
          </p:nvPicPr>
          <p:blipFill>
            <a:blip r:embed="rId2"/>
            <a:srcRect/>
            <a:stretch>
              <a:fillRect/>
            </a:stretch>
          </p:blipFill>
          <p:spPr bwMode="auto">
            <a:xfrm>
              <a:off x="2637" y="745"/>
              <a:ext cx="604" cy="167"/>
            </a:xfrm>
            <a:prstGeom prst="rect">
              <a:avLst/>
            </a:prstGeom>
            <a:noFill/>
            <a:ln w="9525">
              <a:noFill/>
              <a:miter lim="800000"/>
              <a:headEnd/>
              <a:tailEnd/>
            </a:ln>
          </p:spPr>
        </p:pic>
        <p:pic>
          <p:nvPicPr>
            <p:cNvPr id="18441" name="Picture 7"/>
            <p:cNvPicPr>
              <a:picLocks noChangeAspect="1" noChangeArrowheads="1"/>
            </p:cNvPicPr>
            <p:nvPr/>
          </p:nvPicPr>
          <p:blipFill>
            <a:blip r:embed="rId2"/>
            <a:srcRect/>
            <a:stretch>
              <a:fillRect/>
            </a:stretch>
          </p:blipFill>
          <p:spPr bwMode="auto">
            <a:xfrm>
              <a:off x="4621" y="576"/>
              <a:ext cx="604" cy="167"/>
            </a:xfrm>
            <a:prstGeom prst="rect">
              <a:avLst/>
            </a:prstGeom>
            <a:noFill/>
            <a:ln w="9525">
              <a:noFill/>
              <a:miter lim="800000"/>
              <a:headEnd/>
              <a:tailEnd/>
            </a:ln>
          </p:spPr>
        </p:pic>
        <p:pic>
          <p:nvPicPr>
            <p:cNvPr id="18442" name="Picture 8"/>
            <p:cNvPicPr>
              <a:picLocks noChangeAspect="1" noChangeArrowheads="1"/>
            </p:cNvPicPr>
            <p:nvPr/>
          </p:nvPicPr>
          <p:blipFill>
            <a:blip r:embed="rId4"/>
            <a:srcRect/>
            <a:stretch>
              <a:fillRect/>
            </a:stretch>
          </p:blipFill>
          <p:spPr bwMode="auto">
            <a:xfrm>
              <a:off x="4190" y="1336"/>
              <a:ext cx="314" cy="338"/>
            </a:xfrm>
            <a:prstGeom prst="rect">
              <a:avLst/>
            </a:prstGeom>
            <a:noFill/>
            <a:ln w="9525">
              <a:noFill/>
              <a:miter lim="800000"/>
              <a:headEnd/>
              <a:tailEnd/>
            </a:ln>
          </p:spPr>
        </p:pic>
        <p:sp>
          <p:nvSpPr>
            <p:cNvPr id="18443" name="AutoShape 9"/>
            <p:cNvSpPr>
              <a:spLocks noChangeArrowheads="1"/>
            </p:cNvSpPr>
            <p:nvPr/>
          </p:nvSpPr>
          <p:spPr bwMode="auto">
            <a:xfrm>
              <a:off x="481" y="3363"/>
              <a:ext cx="862" cy="422"/>
            </a:xfrm>
            <a:prstGeom prst="cloudCallout">
              <a:avLst>
                <a:gd name="adj1" fmla="val -30056"/>
                <a:gd name="adj2" fmla="val 6000"/>
              </a:avLst>
            </a:prstGeom>
            <a:solidFill>
              <a:srgbClr val="33CC33"/>
            </a:solidFill>
            <a:ln w="9525">
              <a:solidFill>
                <a:srgbClr val="000000"/>
              </a:solidFill>
              <a:round/>
              <a:headEnd/>
              <a:tailEnd/>
            </a:ln>
          </p:spPr>
          <p:txBody>
            <a:bodyPr/>
            <a:lstStyle/>
            <a:p>
              <a:r>
                <a:rPr lang="en-US" altLang="ja-JP" sz="1600">
                  <a:latin typeface="Times New Roman" pitchFamily="18" charset="0"/>
                  <a:ea typeface="MS Mincho" pitchFamily="49" charset="-128"/>
                </a:rPr>
                <a:t>ANSI-41</a:t>
              </a:r>
              <a:endParaRPr lang="en-US" sz="1600"/>
            </a:p>
          </p:txBody>
        </p:sp>
        <p:sp>
          <p:nvSpPr>
            <p:cNvPr id="18444" name="AutoShape 10"/>
            <p:cNvSpPr>
              <a:spLocks noChangeArrowheads="1"/>
            </p:cNvSpPr>
            <p:nvPr/>
          </p:nvSpPr>
          <p:spPr bwMode="auto">
            <a:xfrm>
              <a:off x="2438" y="3333"/>
              <a:ext cx="703" cy="425"/>
            </a:xfrm>
            <a:prstGeom prst="cloudCallout">
              <a:avLst>
                <a:gd name="adj1" fmla="val -25532"/>
                <a:gd name="adj2" fmla="val 26236"/>
              </a:avLst>
            </a:prstGeom>
            <a:solidFill>
              <a:srgbClr val="33CC33"/>
            </a:solidFill>
            <a:ln w="9525">
              <a:solidFill>
                <a:srgbClr val="000000"/>
              </a:solidFill>
              <a:round/>
              <a:headEnd/>
              <a:tailEnd/>
            </a:ln>
          </p:spPr>
          <p:txBody>
            <a:bodyPr/>
            <a:lstStyle/>
            <a:p>
              <a:r>
                <a:rPr lang="en-US" altLang="ja-JP" sz="1600">
                  <a:latin typeface="Times New Roman" pitchFamily="18" charset="0"/>
                  <a:ea typeface="MS Mincho" pitchFamily="49" charset="-128"/>
                </a:rPr>
                <a:t>PSTN</a:t>
              </a:r>
              <a:endParaRPr lang="en-US" sz="1600"/>
            </a:p>
          </p:txBody>
        </p:sp>
        <p:sp>
          <p:nvSpPr>
            <p:cNvPr id="18445" name="AutoShape 11"/>
            <p:cNvSpPr>
              <a:spLocks noChangeArrowheads="1"/>
            </p:cNvSpPr>
            <p:nvPr/>
          </p:nvSpPr>
          <p:spPr bwMode="auto">
            <a:xfrm>
              <a:off x="3986" y="3469"/>
              <a:ext cx="745" cy="404"/>
            </a:xfrm>
            <a:prstGeom prst="cloudCallout">
              <a:avLst>
                <a:gd name="adj1" fmla="val -26912"/>
                <a:gd name="adj2" fmla="val 8662"/>
              </a:avLst>
            </a:prstGeom>
            <a:solidFill>
              <a:srgbClr val="33CC33"/>
            </a:solidFill>
            <a:ln w="9525">
              <a:solidFill>
                <a:srgbClr val="000000"/>
              </a:solidFill>
              <a:round/>
              <a:headEnd/>
              <a:tailEnd/>
            </a:ln>
          </p:spPr>
          <p:txBody>
            <a:bodyPr/>
            <a:lstStyle/>
            <a:p>
              <a:r>
                <a:rPr lang="en-US" altLang="ja-JP" sz="1600">
                  <a:latin typeface="Times New Roman" pitchFamily="18" charset="0"/>
                  <a:ea typeface="MS Mincho" pitchFamily="49" charset="-128"/>
                </a:rPr>
                <a:t>GSM</a:t>
              </a:r>
              <a:endParaRPr lang="en-US" sz="1600"/>
            </a:p>
          </p:txBody>
        </p:sp>
        <p:sp>
          <p:nvSpPr>
            <p:cNvPr id="18446" name="Text Box 12"/>
            <p:cNvSpPr txBox="1">
              <a:spLocks noChangeArrowheads="1"/>
            </p:cNvSpPr>
            <p:nvPr/>
          </p:nvSpPr>
          <p:spPr bwMode="auto">
            <a:xfrm>
              <a:off x="4793" y="2856"/>
              <a:ext cx="863" cy="422"/>
            </a:xfrm>
            <a:prstGeom prst="rect">
              <a:avLst/>
            </a:prstGeom>
            <a:solidFill>
              <a:srgbClr val="FFFFFF">
                <a:alpha val="0"/>
              </a:srgbClr>
            </a:solidFill>
            <a:ln w="9525">
              <a:noFill/>
              <a:miter lim="800000"/>
              <a:headEnd/>
              <a:tailEnd/>
            </a:ln>
          </p:spPr>
          <p:txBody>
            <a:bodyPr/>
            <a:lstStyle/>
            <a:p>
              <a:r>
                <a:rPr lang="en-US" altLang="ja-JP" sz="1600">
                  <a:latin typeface="Times New Roman" pitchFamily="18" charset="0"/>
                  <a:ea typeface="MS Mincho" pitchFamily="49" charset="-128"/>
                </a:rPr>
                <a:t>Globalstar Subscriber Unit</a:t>
              </a:r>
            </a:p>
            <a:p>
              <a:r>
                <a:rPr lang="en-US" altLang="ja-JP" sz="1600">
                  <a:latin typeface="Times New Roman" pitchFamily="18" charset="0"/>
                  <a:ea typeface="MS Mincho" pitchFamily="49" charset="-128"/>
                </a:rPr>
                <a:t>GSU</a:t>
              </a:r>
              <a:endParaRPr lang="en-US" sz="1600"/>
            </a:p>
          </p:txBody>
        </p:sp>
        <p:pic>
          <p:nvPicPr>
            <p:cNvPr id="18447" name="Picture 13"/>
            <p:cNvPicPr>
              <a:picLocks noChangeAspect="1" noChangeArrowheads="1"/>
            </p:cNvPicPr>
            <p:nvPr/>
          </p:nvPicPr>
          <p:blipFill>
            <a:blip r:embed="rId5"/>
            <a:srcRect/>
            <a:stretch>
              <a:fillRect/>
            </a:stretch>
          </p:blipFill>
          <p:spPr bwMode="auto">
            <a:xfrm>
              <a:off x="3155" y="4038"/>
              <a:ext cx="431" cy="282"/>
            </a:xfrm>
            <a:prstGeom prst="rect">
              <a:avLst/>
            </a:prstGeom>
            <a:noFill/>
            <a:ln w="9525">
              <a:noFill/>
              <a:miter lim="800000"/>
              <a:headEnd/>
              <a:tailEnd/>
            </a:ln>
          </p:spPr>
        </p:pic>
        <p:sp>
          <p:nvSpPr>
            <p:cNvPr id="18448" name="Text Box 14"/>
            <p:cNvSpPr txBox="1">
              <a:spLocks noChangeArrowheads="1"/>
            </p:cNvSpPr>
            <p:nvPr/>
          </p:nvSpPr>
          <p:spPr bwMode="auto">
            <a:xfrm>
              <a:off x="1688" y="2603"/>
              <a:ext cx="690" cy="422"/>
            </a:xfrm>
            <a:prstGeom prst="rect">
              <a:avLst/>
            </a:prstGeom>
            <a:solidFill>
              <a:srgbClr val="FFFFFF">
                <a:alpha val="0"/>
              </a:srgbClr>
            </a:solidFill>
            <a:ln w="9525">
              <a:noFill/>
              <a:miter lim="800000"/>
              <a:headEnd/>
              <a:tailEnd/>
            </a:ln>
          </p:spPr>
          <p:txBody>
            <a:bodyPr/>
            <a:lstStyle/>
            <a:p>
              <a:r>
                <a:rPr lang="en-US" altLang="ja-JP" sz="1600">
                  <a:latin typeface="Times New Roman" pitchFamily="18" charset="0"/>
                  <a:ea typeface="MS Mincho" pitchFamily="49" charset="-128"/>
                </a:rPr>
                <a:t>Globalstar Gateway</a:t>
              </a:r>
              <a:endParaRPr lang="en-US" sz="1600"/>
            </a:p>
          </p:txBody>
        </p:sp>
        <p:sp>
          <p:nvSpPr>
            <p:cNvPr id="18449" name="Line 15"/>
            <p:cNvSpPr>
              <a:spLocks noChangeShapeType="1"/>
            </p:cNvSpPr>
            <p:nvPr/>
          </p:nvSpPr>
          <p:spPr bwMode="auto">
            <a:xfrm>
              <a:off x="2982" y="3701"/>
              <a:ext cx="259" cy="337"/>
            </a:xfrm>
            <a:prstGeom prst="line">
              <a:avLst/>
            </a:prstGeom>
            <a:noFill/>
            <a:ln w="9525">
              <a:solidFill>
                <a:srgbClr val="000000"/>
              </a:solidFill>
              <a:round/>
              <a:headEnd/>
              <a:tailEnd/>
            </a:ln>
          </p:spPr>
          <p:txBody>
            <a:bodyPr/>
            <a:lstStyle/>
            <a:p>
              <a:endParaRPr lang="en-US"/>
            </a:p>
          </p:txBody>
        </p:sp>
        <p:sp>
          <p:nvSpPr>
            <p:cNvPr id="18450" name="Line 16"/>
            <p:cNvSpPr>
              <a:spLocks noChangeShapeType="1"/>
            </p:cNvSpPr>
            <p:nvPr/>
          </p:nvSpPr>
          <p:spPr bwMode="auto">
            <a:xfrm>
              <a:off x="1430" y="3616"/>
              <a:ext cx="948" cy="0"/>
            </a:xfrm>
            <a:prstGeom prst="line">
              <a:avLst/>
            </a:prstGeom>
            <a:noFill/>
            <a:ln w="9525">
              <a:solidFill>
                <a:srgbClr val="000000"/>
              </a:solidFill>
              <a:round/>
              <a:headEnd type="triangle" w="med" len="med"/>
              <a:tailEnd type="triangle" w="med" len="med"/>
            </a:ln>
          </p:spPr>
          <p:txBody>
            <a:bodyPr/>
            <a:lstStyle/>
            <a:p>
              <a:endParaRPr lang="en-US"/>
            </a:p>
          </p:txBody>
        </p:sp>
        <p:sp>
          <p:nvSpPr>
            <p:cNvPr id="18451" name="Line 17"/>
            <p:cNvSpPr>
              <a:spLocks noChangeShapeType="1"/>
            </p:cNvSpPr>
            <p:nvPr/>
          </p:nvSpPr>
          <p:spPr bwMode="auto">
            <a:xfrm>
              <a:off x="3155" y="3616"/>
              <a:ext cx="862" cy="0"/>
            </a:xfrm>
            <a:prstGeom prst="line">
              <a:avLst/>
            </a:prstGeom>
            <a:noFill/>
            <a:ln w="9525">
              <a:solidFill>
                <a:srgbClr val="000000"/>
              </a:solidFill>
              <a:round/>
              <a:headEnd type="triangle" w="med" len="med"/>
              <a:tailEnd type="triangle" w="med" len="med"/>
            </a:ln>
          </p:spPr>
          <p:txBody>
            <a:bodyPr/>
            <a:lstStyle/>
            <a:p>
              <a:endParaRPr lang="en-US"/>
            </a:p>
          </p:txBody>
        </p:sp>
        <p:sp>
          <p:nvSpPr>
            <p:cNvPr id="18452" name="Line 18"/>
            <p:cNvSpPr>
              <a:spLocks noChangeShapeType="1"/>
            </p:cNvSpPr>
            <p:nvPr/>
          </p:nvSpPr>
          <p:spPr bwMode="auto">
            <a:xfrm flipV="1">
              <a:off x="4391" y="2779"/>
              <a:ext cx="517" cy="675"/>
            </a:xfrm>
            <a:prstGeom prst="line">
              <a:avLst/>
            </a:prstGeom>
            <a:noFill/>
            <a:ln w="9525">
              <a:solidFill>
                <a:srgbClr val="000000"/>
              </a:solidFill>
              <a:round/>
              <a:headEnd type="triangle" w="med" len="med"/>
              <a:tailEnd type="triangle" w="med" len="med"/>
            </a:ln>
          </p:spPr>
          <p:txBody>
            <a:bodyPr/>
            <a:lstStyle/>
            <a:p>
              <a:endParaRPr lang="en-US"/>
            </a:p>
          </p:txBody>
        </p:sp>
        <p:pic>
          <p:nvPicPr>
            <p:cNvPr id="18453" name="Picture 19"/>
            <p:cNvPicPr>
              <a:picLocks noChangeAspect="1" noChangeArrowheads="1"/>
            </p:cNvPicPr>
            <p:nvPr/>
          </p:nvPicPr>
          <p:blipFill>
            <a:blip r:embed="rId3"/>
            <a:srcRect/>
            <a:stretch>
              <a:fillRect/>
            </a:stretch>
          </p:blipFill>
          <p:spPr bwMode="auto">
            <a:xfrm>
              <a:off x="395" y="2012"/>
              <a:ext cx="238" cy="506"/>
            </a:xfrm>
            <a:prstGeom prst="rect">
              <a:avLst/>
            </a:prstGeom>
            <a:noFill/>
            <a:ln w="9525">
              <a:noFill/>
              <a:miter lim="800000"/>
              <a:headEnd/>
              <a:tailEnd/>
            </a:ln>
          </p:spPr>
        </p:pic>
        <p:sp>
          <p:nvSpPr>
            <p:cNvPr id="18454" name="Text Box 20"/>
            <p:cNvSpPr txBox="1">
              <a:spLocks noChangeArrowheads="1"/>
            </p:cNvSpPr>
            <p:nvPr/>
          </p:nvSpPr>
          <p:spPr bwMode="auto">
            <a:xfrm>
              <a:off x="222" y="2518"/>
              <a:ext cx="863" cy="423"/>
            </a:xfrm>
            <a:prstGeom prst="rect">
              <a:avLst/>
            </a:prstGeom>
            <a:solidFill>
              <a:srgbClr val="FFFFFF">
                <a:alpha val="0"/>
              </a:srgbClr>
            </a:solidFill>
            <a:ln w="9525">
              <a:noFill/>
              <a:miter lim="800000"/>
              <a:headEnd/>
              <a:tailEnd/>
            </a:ln>
          </p:spPr>
          <p:txBody>
            <a:bodyPr/>
            <a:lstStyle/>
            <a:p>
              <a:r>
                <a:rPr lang="en-US" altLang="ja-JP" sz="1600">
                  <a:latin typeface="Times New Roman" pitchFamily="18" charset="0"/>
                  <a:ea typeface="MS Mincho" pitchFamily="49" charset="-128"/>
                </a:rPr>
                <a:t>Globalstar Subscriber Unit</a:t>
              </a:r>
            </a:p>
            <a:p>
              <a:r>
                <a:rPr lang="en-US" altLang="ja-JP" sz="1600">
                  <a:latin typeface="Times New Roman" pitchFamily="18" charset="0"/>
                  <a:ea typeface="MS Mincho" pitchFamily="49" charset="-128"/>
                </a:rPr>
                <a:t>GSU</a:t>
              </a:r>
              <a:endParaRPr lang="en-US" sz="1600"/>
            </a:p>
          </p:txBody>
        </p:sp>
        <p:pic>
          <p:nvPicPr>
            <p:cNvPr id="18455" name="Picture 21"/>
            <p:cNvPicPr>
              <a:picLocks noChangeAspect="1" noChangeArrowheads="1"/>
            </p:cNvPicPr>
            <p:nvPr/>
          </p:nvPicPr>
          <p:blipFill>
            <a:blip r:embed="rId4"/>
            <a:srcRect/>
            <a:stretch>
              <a:fillRect/>
            </a:stretch>
          </p:blipFill>
          <p:spPr bwMode="auto">
            <a:xfrm>
              <a:off x="3377" y="2131"/>
              <a:ext cx="315" cy="338"/>
            </a:xfrm>
            <a:prstGeom prst="rect">
              <a:avLst/>
            </a:prstGeom>
            <a:noFill/>
            <a:ln w="9525">
              <a:noFill/>
              <a:miter lim="800000"/>
              <a:headEnd/>
              <a:tailEnd/>
            </a:ln>
          </p:spPr>
        </p:pic>
        <p:sp>
          <p:nvSpPr>
            <p:cNvPr id="18456" name="Line 22"/>
            <p:cNvSpPr>
              <a:spLocks noChangeShapeType="1"/>
            </p:cNvSpPr>
            <p:nvPr/>
          </p:nvSpPr>
          <p:spPr bwMode="auto">
            <a:xfrm flipH="1" flipV="1">
              <a:off x="567" y="2856"/>
              <a:ext cx="173" cy="422"/>
            </a:xfrm>
            <a:prstGeom prst="line">
              <a:avLst/>
            </a:prstGeom>
            <a:noFill/>
            <a:ln w="9525">
              <a:solidFill>
                <a:srgbClr val="000000"/>
              </a:solidFill>
              <a:round/>
              <a:headEnd type="triangle" w="med" len="med"/>
              <a:tailEnd type="triangle" w="med" len="med"/>
            </a:ln>
          </p:spPr>
          <p:txBody>
            <a:bodyPr/>
            <a:lstStyle/>
            <a:p>
              <a:endParaRPr lang="en-US"/>
            </a:p>
          </p:txBody>
        </p:sp>
        <p:sp>
          <p:nvSpPr>
            <p:cNvPr id="18457" name="Line 23"/>
            <p:cNvSpPr>
              <a:spLocks noChangeShapeType="1"/>
            </p:cNvSpPr>
            <p:nvPr/>
          </p:nvSpPr>
          <p:spPr bwMode="auto">
            <a:xfrm flipH="1">
              <a:off x="567" y="1252"/>
              <a:ext cx="431" cy="591"/>
            </a:xfrm>
            <a:prstGeom prst="line">
              <a:avLst/>
            </a:prstGeom>
            <a:noFill/>
            <a:ln w="9525">
              <a:solidFill>
                <a:srgbClr val="FF3300"/>
              </a:solidFill>
              <a:round/>
              <a:headEnd type="triangle" w="med" len="med"/>
              <a:tailEnd type="triangle" w="med" len="med"/>
            </a:ln>
          </p:spPr>
          <p:txBody>
            <a:bodyPr/>
            <a:lstStyle/>
            <a:p>
              <a:endParaRPr lang="en-US"/>
            </a:p>
          </p:txBody>
        </p:sp>
        <p:sp>
          <p:nvSpPr>
            <p:cNvPr id="18458" name="Text Box 24"/>
            <p:cNvSpPr txBox="1">
              <a:spLocks noChangeArrowheads="1"/>
            </p:cNvSpPr>
            <p:nvPr/>
          </p:nvSpPr>
          <p:spPr bwMode="auto">
            <a:xfrm>
              <a:off x="308" y="1336"/>
              <a:ext cx="690" cy="253"/>
            </a:xfrm>
            <a:prstGeom prst="rect">
              <a:avLst/>
            </a:prstGeom>
            <a:solidFill>
              <a:srgbClr val="FFFFFF">
                <a:alpha val="0"/>
              </a:srgbClr>
            </a:solidFill>
            <a:ln w="9525">
              <a:noFill/>
              <a:miter lim="800000"/>
              <a:headEnd/>
              <a:tailEnd/>
            </a:ln>
          </p:spPr>
          <p:txBody>
            <a:bodyPr/>
            <a:lstStyle/>
            <a:p>
              <a:r>
                <a:rPr lang="en-US" altLang="ja-JP" sz="1600">
                  <a:latin typeface="Times New Roman" pitchFamily="18" charset="0"/>
                  <a:ea typeface="MS Mincho" pitchFamily="49" charset="-128"/>
                </a:rPr>
                <a:t>L/S band</a:t>
              </a:r>
              <a:endParaRPr lang="en-US" sz="1600"/>
            </a:p>
          </p:txBody>
        </p:sp>
        <p:sp>
          <p:nvSpPr>
            <p:cNvPr id="18459" name="Line 25"/>
            <p:cNvSpPr>
              <a:spLocks noChangeShapeType="1"/>
            </p:cNvSpPr>
            <p:nvPr/>
          </p:nvSpPr>
          <p:spPr bwMode="auto">
            <a:xfrm>
              <a:off x="1257" y="1167"/>
              <a:ext cx="604" cy="1014"/>
            </a:xfrm>
            <a:prstGeom prst="line">
              <a:avLst/>
            </a:prstGeom>
            <a:noFill/>
            <a:ln w="9525">
              <a:solidFill>
                <a:schemeClr val="accent2"/>
              </a:solidFill>
              <a:round/>
              <a:headEnd type="triangle" w="med" len="med"/>
              <a:tailEnd type="triangle" w="med" len="med"/>
            </a:ln>
          </p:spPr>
          <p:txBody>
            <a:bodyPr/>
            <a:lstStyle/>
            <a:p>
              <a:endParaRPr lang="en-US"/>
            </a:p>
          </p:txBody>
        </p:sp>
        <p:sp>
          <p:nvSpPr>
            <p:cNvPr id="18460" name="Text Box 26"/>
            <p:cNvSpPr txBox="1">
              <a:spLocks noChangeArrowheads="1"/>
            </p:cNvSpPr>
            <p:nvPr/>
          </p:nvSpPr>
          <p:spPr bwMode="auto">
            <a:xfrm>
              <a:off x="1085" y="1589"/>
              <a:ext cx="690" cy="254"/>
            </a:xfrm>
            <a:prstGeom prst="rect">
              <a:avLst/>
            </a:prstGeom>
            <a:solidFill>
              <a:srgbClr val="FFFFFF">
                <a:alpha val="0"/>
              </a:srgbClr>
            </a:solidFill>
            <a:ln w="9525">
              <a:noFill/>
              <a:miter lim="800000"/>
              <a:headEnd/>
              <a:tailEnd/>
            </a:ln>
          </p:spPr>
          <p:txBody>
            <a:bodyPr/>
            <a:lstStyle/>
            <a:p>
              <a:r>
                <a:rPr lang="en-US" altLang="ja-JP" sz="1600">
                  <a:latin typeface="Times New Roman" pitchFamily="18" charset="0"/>
                  <a:ea typeface="MS Mincho" pitchFamily="49" charset="-128"/>
                </a:rPr>
                <a:t>C band</a:t>
              </a:r>
              <a:endParaRPr lang="en-US" sz="1600"/>
            </a:p>
          </p:txBody>
        </p:sp>
        <p:sp>
          <p:nvSpPr>
            <p:cNvPr id="18461" name="Line 27"/>
            <p:cNvSpPr>
              <a:spLocks noChangeShapeType="1"/>
            </p:cNvSpPr>
            <p:nvPr/>
          </p:nvSpPr>
          <p:spPr bwMode="auto">
            <a:xfrm flipV="1">
              <a:off x="1171" y="2856"/>
              <a:ext cx="517" cy="422"/>
            </a:xfrm>
            <a:prstGeom prst="line">
              <a:avLst/>
            </a:prstGeom>
            <a:noFill/>
            <a:ln w="9525">
              <a:solidFill>
                <a:srgbClr val="000000"/>
              </a:solidFill>
              <a:round/>
              <a:headEnd type="triangle" w="med" len="med"/>
              <a:tailEnd type="triangle" w="med" len="med"/>
            </a:ln>
          </p:spPr>
          <p:txBody>
            <a:bodyPr/>
            <a:lstStyle/>
            <a:p>
              <a:endParaRPr lang="en-US"/>
            </a:p>
          </p:txBody>
        </p:sp>
        <p:sp>
          <p:nvSpPr>
            <p:cNvPr id="18462" name="Line 28"/>
            <p:cNvSpPr>
              <a:spLocks noChangeShapeType="1"/>
            </p:cNvSpPr>
            <p:nvPr/>
          </p:nvSpPr>
          <p:spPr bwMode="auto">
            <a:xfrm>
              <a:off x="2206" y="2941"/>
              <a:ext cx="431" cy="422"/>
            </a:xfrm>
            <a:prstGeom prst="line">
              <a:avLst/>
            </a:prstGeom>
            <a:noFill/>
            <a:ln w="9525">
              <a:solidFill>
                <a:srgbClr val="000000"/>
              </a:solidFill>
              <a:round/>
              <a:headEnd type="triangle" w="med" len="med"/>
              <a:tailEnd type="triangle" w="med" len="med"/>
            </a:ln>
          </p:spPr>
          <p:txBody>
            <a:bodyPr/>
            <a:lstStyle/>
            <a:p>
              <a:endParaRPr lang="en-US"/>
            </a:p>
          </p:txBody>
        </p:sp>
        <p:sp>
          <p:nvSpPr>
            <p:cNvPr id="18463" name="Line 29"/>
            <p:cNvSpPr>
              <a:spLocks noChangeShapeType="1"/>
            </p:cNvSpPr>
            <p:nvPr/>
          </p:nvSpPr>
          <p:spPr bwMode="auto">
            <a:xfrm flipV="1">
              <a:off x="2120" y="1083"/>
              <a:ext cx="690" cy="1098"/>
            </a:xfrm>
            <a:prstGeom prst="line">
              <a:avLst/>
            </a:prstGeom>
            <a:noFill/>
            <a:ln w="9525">
              <a:solidFill>
                <a:schemeClr val="accent2"/>
              </a:solidFill>
              <a:round/>
              <a:headEnd type="triangle" w="med" len="med"/>
              <a:tailEnd type="triangle" w="med" len="med"/>
            </a:ln>
          </p:spPr>
          <p:txBody>
            <a:bodyPr/>
            <a:lstStyle/>
            <a:p>
              <a:endParaRPr lang="en-US"/>
            </a:p>
          </p:txBody>
        </p:sp>
        <p:sp>
          <p:nvSpPr>
            <p:cNvPr id="18464" name="Text Box 30"/>
            <p:cNvSpPr txBox="1">
              <a:spLocks noChangeArrowheads="1"/>
            </p:cNvSpPr>
            <p:nvPr/>
          </p:nvSpPr>
          <p:spPr bwMode="auto">
            <a:xfrm>
              <a:off x="2206" y="1252"/>
              <a:ext cx="690" cy="253"/>
            </a:xfrm>
            <a:prstGeom prst="rect">
              <a:avLst/>
            </a:prstGeom>
            <a:solidFill>
              <a:srgbClr val="FFFFFF">
                <a:alpha val="0"/>
              </a:srgbClr>
            </a:solidFill>
            <a:ln w="9525">
              <a:noFill/>
              <a:miter lim="800000"/>
              <a:headEnd/>
              <a:tailEnd/>
            </a:ln>
          </p:spPr>
          <p:txBody>
            <a:bodyPr/>
            <a:lstStyle/>
            <a:p>
              <a:r>
                <a:rPr lang="en-US" altLang="ja-JP" sz="1600">
                  <a:latin typeface="Times New Roman" pitchFamily="18" charset="0"/>
                  <a:ea typeface="MS Mincho" pitchFamily="49" charset="-128"/>
                </a:rPr>
                <a:t>C band</a:t>
              </a:r>
              <a:endParaRPr lang="en-US" sz="1600"/>
            </a:p>
          </p:txBody>
        </p:sp>
        <p:sp>
          <p:nvSpPr>
            <p:cNvPr id="18465" name="Line 31"/>
            <p:cNvSpPr>
              <a:spLocks noChangeShapeType="1"/>
            </p:cNvSpPr>
            <p:nvPr/>
          </p:nvSpPr>
          <p:spPr bwMode="auto">
            <a:xfrm>
              <a:off x="2982" y="1083"/>
              <a:ext cx="431" cy="929"/>
            </a:xfrm>
            <a:prstGeom prst="line">
              <a:avLst/>
            </a:prstGeom>
            <a:noFill/>
            <a:ln w="9525">
              <a:solidFill>
                <a:schemeClr val="accent2"/>
              </a:solidFill>
              <a:round/>
              <a:headEnd type="triangle" w="med" len="med"/>
              <a:tailEnd type="triangle" w="med" len="med"/>
            </a:ln>
          </p:spPr>
          <p:txBody>
            <a:bodyPr/>
            <a:lstStyle/>
            <a:p>
              <a:endParaRPr lang="en-US"/>
            </a:p>
          </p:txBody>
        </p:sp>
        <p:sp>
          <p:nvSpPr>
            <p:cNvPr id="18466" name="Text Box 32"/>
            <p:cNvSpPr txBox="1">
              <a:spLocks noChangeArrowheads="1"/>
            </p:cNvSpPr>
            <p:nvPr/>
          </p:nvSpPr>
          <p:spPr bwMode="auto">
            <a:xfrm>
              <a:off x="3155" y="1336"/>
              <a:ext cx="690" cy="253"/>
            </a:xfrm>
            <a:prstGeom prst="rect">
              <a:avLst/>
            </a:prstGeom>
            <a:solidFill>
              <a:srgbClr val="FFFFFF">
                <a:alpha val="0"/>
              </a:srgbClr>
            </a:solidFill>
            <a:ln w="9525">
              <a:noFill/>
              <a:miter lim="800000"/>
              <a:headEnd/>
              <a:tailEnd/>
            </a:ln>
          </p:spPr>
          <p:txBody>
            <a:bodyPr/>
            <a:lstStyle/>
            <a:p>
              <a:r>
                <a:rPr lang="en-US" altLang="ja-JP" sz="1600">
                  <a:latin typeface="Times New Roman" pitchFamily="18" charset="0"/>
                  <a:ea typeface="MS Mincho" pitchFamily="49" charset="-128"/>
                </a:rPr>
                <a:t>C band</a:t>
              </a:r>
              <a:endParaRPr lang="en-US" sz="1600"/>
            </a:p>
          </p:txBody>
        </p:sp>
        <p:sp>
          <p:nvSpPr>
            <p:cNvPr id="18467" name="Text Box 33"/>
            <p:cNvSpPr txBox="1">
              <a:spLocks noChangeArrowheads="1"/>
            </p:cNvSpPr>
            <p:nvPr/>
          </p:nvSpPr>
          <p:spPr bwMode="auto">
            <a:xfrm>
              <a:off x="3845" y="1674"/>
              <a:ext cx="1121" cy="338"/>
            </a:xfrm>
            <a:prstGeom prst="rect">
              <a:avLst/>
            </a:prstGeom>
            <a:solidFill>
              <a:srgbClr val="FFFFFF">
                <a:alpha val="0"/>
              </a:srgbClr>
            </a:solidFill>
            <a:ln w="9525">
              <a:noFill/>
              <a:miter lim="800000"/>
              <a:headEnd/>
              <a:tailEnd/>
            </a:ln>
          </p:spPr>
          <p:txBody>
            <a:bodyPr/>
            <a:lstStyle/>
            <a:p>
              <a:r>
                <a:rPr lang="en-US" altLang="ja-JP" sz="1600">
                  <a:latin typeface="Times New Roman" pitchFamily="18" charset="0"/>
                  <a:ea typeface="MS Mincho" pitchFamily="49" charset="-128"/>
                </a:rPr>
                <a:t>TT &amp;C (Telemetry tracking and control</a:t>
              </a:r>
              <a:endParaRPr lang="en-US" sz="1600"/>
            </a:p>
          </p:txBody>
        </p:sp>
        <p:sp>
          <p:nvSpPr>
            <p:cNvPr id="18468" name="Text Box 34"/>
            <p:cNvSpPr txBox="1">
              <a:spLocks noChangeArrowheads="1"/>
            </p:cNvSpPr>
            <p:nvPr/>
          </p:nvSpPr>
          <p:spPr bwMode="auto">
            <a:xfrm>
              <a:off x="3155" y="2434"/>
              <a:ext cx="690" cy="422"/>
            </a:xfrm>
            <a:prstGeom prst="rect">
              <a:avLst/>
            </a:prstGeom>
            <a:solidFill>
              <a:srgbClr val="FFFFFF">
                <a:alpha val="0"/>
              </a:srgbClr>
            </a:solidFill>
            <a:ln w="9525">
              <a:noFill/>
              <a:miter lim="800000"/>
              <a:headEnd/>
              <a:tailEnd/>
            </a:ln>
          </p:spPr>
          <p:txBody>
            <a:bodyPr/>
            <a:lstStyle/>
            <a:p>
              <a:r>
                <a:rPr lang="en-US" altLang="ja-JP" sz="1600">
                  <a:latin typeface="Times New Roman" pitchFamily="18" charset="0"/>
                  <a:ea typeface="MS Mincho" pitchFamily="49" charset="-128"/>
                </a:rPr>
                <a:t>Globalstar Gateway</a:t>
              </a:r>
              <a:endParaRPr lang="en-US" sz="1600"/>
            </a:p>
          </p:txBody>
        </p:sp>
        <p:sp>
          <p:nvSpPr>
            <p:cNvPr id="18469" name="Line 35"/>
            <p:cNvSpPr>
              <a:spLocks noChangeShapeType="1"/>
            </p:cNvSpPr>
            <p:nvPr/>
          </p:nvSpPr>
          <p:spPr bwMode="auto">
            <a:xfrm flipH="1">
              <a:off x="2896" y="2772"/>
              <a:ext cx="431" cy="506"/>
            </a:xfrm>
            <a:prstGeom prst="line">
              <a:avLst/>
            </a:prstGeom>
            <a:noFill/>
            <a:ln w="9525">
              <a:solidFill>
                <a:srgbClr val="000000"/>
              </a:solidFill>
              <a:round/>
              <a:headEnd type="triangle" w="med" len="med"/>
              <a:tailEnd type="triangle" w="med" len="med"/>
            </a:ln>
          </p:spPr>
          <p:txBody>
            <a:bodyPr/>
            <a:lstStyle/>
            <a:p>
              <a:endParaRPr lang="en-US"/>
            </a:p>
          </p:txBody>
        </p:sp>
        <p:sp>
          <p:nvSpPr>
            <p:cNvPr id="18470" name="Line 36"/>
            <p:cNvSpPr>
              <a:spLocks noChangeShapeType="1"/>
            </p:cNvSpPr>
            <p:nvPr/>
          </p:nvSpPr>
          <p:spPr bwMode="auto">
            <a:xfrm>
              <a:off x="3327" y="998"/>
              <a:ext cx="776" cy="338"/>
            </a:xfrm>
            <a:prstGeom prst="line">
              <a:avLst/>
            </a:prstGeom>
            <a:noFill/>
            <a:ln w="9525">
              <a:solidFill>
                <a:schemeClr val="accent2"/>
              </a:solidFill>
              <a:round/>
              <a:headEnd type="triangle" w="med" len="med"/>
              <a:tailEnd type="triangle" w="med" len="med"/>
            </a:ln>
          </p:spPr>
          <p:txBody>
            <a:bodyPr/>
            <a:lstStyle/>
            <a:p>
              <a:endParaRPr lang="en-US"/>
            </a:p>
          </p:txBody>
        </p:sp>
        <p:sp>
          <p:nvSpPr>
            <p:cNvPr id="18471" name="Line 37"/>
            <p:cNvSpPr>
              <a:spLocks noChangeShapeType="1"/>
            </p:cNvSpPr>
            <p:nvPr/>
          </p:nvSpPr>
          <p:spPr bwMode="auto">
            <a:xfrm flipV="1">
              <a:off x="4535" y="745"/>
              <a:ext cx="431" cy="507"/>
            </a:xfrm>
            <a:prstGeom prst="line">
              <a:avLst/>
            </a:prstGeom>
            <a:noFill/>
            <a:ln w="9525">
              <a:solidFill>
                <a:schemeClr val="accent2"/>
              </a:solidFill>
              <a:round/>
              <a:headEnd type="triangle" w="med" len="med"/>
              <a:tailEnd type="triangle" w="med" len="med"/>
            </a:ln>
          </p:spPr>
          <p:txBody>
            <a:bodyPr/>
            <a:lstStyle/>
            <a:p>
              <a:endParaRPr lang="en-US"/>
            </a:p>
          </p:txBody>
        </p:sp>
        <p:sp>
          <p:nvSpPr>
            <p:cNvPr id="18472" name="Line 38"/>
            <p:cNvSpPr>
              <a:spLocks noChangeShapeType="1"/>
            </p:cNvSpPr>
            <p:nvPr/>
          </p:nvSpPr>
          <p:spPr bwMode="auto">
            <a:xfrm>
              <a:off x="5052" y="829"/>
              <a:ext cx="86" cy="1352"/>
            </a:xfrm>
            <a:prstGeom prst="line">
              <a:avLst/>
            </a:prstGeom>
            <a:noFill/>
            <a:ln w="9525">
              <a:solidFill>
                <a:srgbClr val="FF3300"/>
              </a:solidFill>
              <a:round/>
              <a:headEnd type="triangle" w="med" len="med"/>
              <a:tailEnd type="triangle" w="med" len="med"/>
            </a:ln>
          </p:spPr>
          <p:txBody>
            <a:bodyPr/>
            <a:lstStyle/>
            <a:p>
              <a:endParaRPr lang="en-US"/>
            </a:p>
          </p:txBody>
        </p:sp>
        <p:sp>
          <p:nvSpPr>
            <p:cNvPr id="18473" name="Text Box 39"/>
            <p:cNvSpPr txBox="1">
              <a:spLocks noChangeArrowheads="1"/>
            </p:cNvSpPr>
            <p:nvPr/>
          </p:nvSpPr>
          <p:spPr bwMode="auto">
            <a:xfrm>
              <a:off x="5052" y="1252"/>
              <a:ext cx="690" cy="253"/>
            </a:xfrm>
            <a:prstGeom prst="rect">
              <a:avLst/>
            </a:prstGeom>
            <a:solidFill>
              <a:srgbClr val="FFFFFF">
                <a:alpha val="0"/>
              </a:srgbClr>
            </a:solidFill>
            <a:ln w="9525">
              <a:noFill/>
              <a:miter lim="800000"/>
              <a:headEnd/>
              <a:tailEnd/>
            </a:ln>
          </p:spPr>
          <p:txBody>
            <a:bodyPr/>
            <a:lstStyle/>
            <a:p>
              <a:r>
                <a:rPr lang="en-US" altLang="ja-JP" sz="1600">
                  <a:latin typeface="Times New Roman" pitchFamily="18" charset="0"/>
                  <a:ea typeface="MS Mincho" pitchFamily="49" charset="-128"/>
                </a:rPr>
                <a:t>L/S band</a:t>
              </a:r>
              <a:endParaRPr lang="en-US" sz="1600"/>
            </a:p>
          </p:txBody>
        </p:sp>
        <p:sp>
          <p:nvSpPr>
            <p:cNvPr id="18474" name="Line 40"/>
            <p:cNvSpPr>
              <a:spLocks noChangeShapeType="1"/>
            </p:cNvSpPr>
            <p:nvPr/>
          </p:nvSpPr>
          <p:spPr bwMode="auto">
            <a:xfrm flipH="1" flipV="1">
              <a:off x="3758" y="2772"/>
              <a:ext cx="518" cy="675"/>
            </a:xfrm>
            <a:prstGeom prst="line">
              <a:avLst/>
            </a:prstGeom>
            <a:noFill/>
            <a:ln w="9525">
              <a:solidFill>
                <a:srgbClr val="000000"/>
              </a:solidFill>
              <a:round/>
              <a:headEnd type="triangle" w="med" len="med"/>
              <a:tailEnd type="triangle" w="med" len="med"/>
            </a:ln>
          </p:spPr>
          <p:txBody>
            <a:bodyPr/>
            <a:lstStyle/>
            <a:p>
              <a:endParaRPr lang="en-US"/>
            </a:p>
          </p:txBody>
        </p:sp>
      </p:grpSp>
      <p:sp>
        <p:nvSpPr>
          <p:cNvPr id="18436" name="Text Box 42"/>
          <p:cNvSpPr txBox="1">
            <a:spLocks noChangeArrowheads="1"/>
          </p:cNvSpPr>
          <p:nvPr/>
        </p:nvSpPr>
        <p:spPr bwMode="auto">
          <a:xfrm>
            <a:off x="152400" y="0"/>
            <a:ext cx="8991600" cy="707886"/>
          </a:xfrm>
          <a:prstGeom prst="rect">
            <a:avLst/>
          </a:prstGeom>
          <a:noFill/>
          <a:ln w="9525">
            <a:noFill/>
            <a:miter lim="800000"/>
            <a:headEnd/>
            <a:tailEnd/>
          </a:ln>
        </p:spPr>
        <p:txBody>
          <a:bodyPr wrap="square">
            <a:spAutoFit/>
          </a:bodyPr>
          <a:lstStyle/>
          <a:p>
            <a:pPr algn="justLow">
              <a:spcBef>
                <a:spcPct val="50000"/>
              </a:spcBef>
              <a:buFont typeface="Wingdings" pitchFamily="2" charset="2"/>
              <a:buChar char="q"/>
            </a:pPr>
            <a:r>
              <a:rPr lang="en-US" sz="2000" dirty="0">
                <a:latin typeface="Times New Roman" pitchFamily="18" charset="0"/>
                <a:cs typeface="Times New Roman" pitchFamily="18" charset="0"/>
              </a:rPr>
              <a:t>The network architecture for the </a:t>
            </a:r>
            <a:r>
              <a:rPr lang="en-US" sz="2000" b="1" dirty="0" err="1">
                <a:solidFill>
                  <a:schemeClr val="accent2"/>
                </a:solidFill>
                <a:latin typeface="Times New Roman" pitchFamily="18" charset="0"/>
                <a:cs typeface="Times New Roman" pitchFamily="18" charset="0"/>
              </a:rPr>
              <a:t>Globalstar</a:t>
            </a:r>
            <a:r>
              <a:rPr lang="en-US" sz="2000" b="1" dirty="0">
                <a:solidFill>
                  <a:schemeClr val="accent2"/>
                </a:solidFill>
                <a:latin typeface="Times New Roman" pitchFamily="18" charset="0"/>
                <a:cs typeface="Times New Roman" pitchFamily="18" charset="0"/>
              </a:rPr>
              <a:t> mobile </a:t>
            </a:r>
            <a:r>
              <a:rPr lang="en-US" sz="2000" dirty="0">
                <a:latin typeface="Times New Roman" pitchFamily="18" charset="0"/>
                <a:cs typeface="Times New Roman" pitchFamily="18" charset="0"/>
              </a:rPr>
              <a:t>satellite system shown below is very similar to the Iridium system except that </a:t>
            </a:r>
            <a:r>
              <a:rPr lang="en-US" sz="2000" dirty="0" err="1">
                <a:latin typeface="Times New Roman" pitchFamily="18" charset="0"/>
                <a:cs typeface="Times New Roman" pitchFamily="18" charset="0"/>
              </a:rPr>
              <a:t>Globalstar</a:t>
            </a:r>
            <a:r>
              <a:rPr lang="en-US" sz="2000" dirty="0">
                <a:latin typeface="Times New Roman" pitchFamily="18" charset="0"/>
                <a:cs typeface="Times New Roman" pitchFamily="18" charset="0"/>
              </a:rPr>
              <a:t> does not support ISLs.</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31</a:t>
            </a:fld>
            <a:endParaRPr lang="en-US"/>
          </a:p>
        </p:txBody>
      </p:sp>
      <p:sp>
        <p:nvSpPr>
          <p:cNvPr id="5" name="Rectangle 4"/>
          <p:cNvSpPr/>
          <p:nvPr/>
        </p:nvSpPr>
        <p:spPr>
          <a:xfrm>
            <a:off x="228600" y="1828800"/>
            <a:ext cx="8610600" cy="2677656"/>
          </a:xfrm>
          <a:prstGeom prst="rect">
            <a:avLst/>
          </a:prstGeom>
          <a:solidFill>
            <a:srgbClr val="FFCCCC"/>
          </a:solidFill>
        </p:spPr>
        <p:txBody>
          <a:bodyPr wrap="square">
            <a:spAutoFit/>
          </a:bodyPr>
          <a:lstStyle/>
          <a:p>
            <a:pPr algn="just"/>
            <a:r>
              <a:rPr lang="en-US" sz="2800" dirty="0" err="1"/>
              <a:t>WiMAX</a:t>
            </a:r>
            <a:r>
              <a:rPr lang="en-US" sz="2800" dirty="0"/>
              <a:t> is an IP based, wireless broadband access technology that provides performance similar to 802.11/Wi-Fi networks with the coverage and </a:t>
            </a:r>
            <a:r>
              <a:rPr lang="en-US" sz="2800" dirty="0" err="1"/>
              <a:t>QoS</a:t>
            </a:r>
            <a:r>
              <a:rPr lang="en-US" sz="2800" dirty="0"/>
              <a:t> (quality of service) of cellular networks. </a:t>
            </a:r>
            <a:r>
              <a:rPr lang="en-US" sz="2800" dirty="0" err="1"/>
              <a:t>WiMAX</a:t>
            </a:r>
            <a:r>
              <a:rPr lang="en-US" sz="2800" dirty="0"/>
              <a:t> is also an acronym meaning “</a:t>
            </a:r>
            <a:r>
              <a:rPr lang="en-US" sz="2800" b="1" dirty="0">
                <a:solidFill>
                  <a:srgbClr val="0000FF"/>
                </a:solidFill>
              </a:rPr>
              <a:t>Worldwide Interoperability for Microwave Access</a:t>
            </a:r>
            <a:r>
              <a:rPr lang="en-US" sz="2800" dirty="0"/>
              <a:t>” (</a:t>
            </a:r>
            <a:r>
              <a:rPr lang="en-US" sz="2800" dirty="0" err="1"/>
              <a:t>WiMAX</a:t>
            </a:r>
            <a:r>
              <a:rPr lang="en-US" sz="2800" dirty="0"/>
              <a:t>).</a:t>
            </a:r>
          </a:p>
        </p:txBody>
      </p:sp>
      <p:sp>
        <p:nvSpPr>
          <p:cNvPr id="7" name="Rectangle 9"/>
          <p:cNvSpPr>
            <a:spLocks noChangeArrowheads="1"/>
          </p:cNvSpPr>
          <p:nvPr/>
        </p:nvSpPr>
        <p:spPr bwMode="auto">
          <a:xfrm>
            <a:off x="1143000" y="304800"/>
            <a:ext cx="6553200" cy="838200"/>
          </a:xfrm>
          <a:prstGeom prst="rect">
            <a:avLst/>
          </a:prstGeom>
          <a:solidFill>
            <a:srgbClr val="92D050"/>
          </a:solidFill>
          <a:ln w="9525">
            <a:noFill/>
            <a:miter lim="800000"/>
            <a:headEnd/>
            <a:tailEnd/>
          </a:ln>
        </p:spPr>
        <p:txBody>
          <a:bodyPr anchor="ctr"/>
          <a:lstStyle/>
          <a:p>
            <a:pPr algn="ctr"/>
            <a:r>
              <a:rPr lang="en-US" sz="7200" dirty="0">
                <a:solidFill>
                  <a:schemeClr val="tx2"/>
                </a:solidFill>
              </a:rPr>
              <a:t>Wireless MAN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32</a:t>
            </a:fld>
            <a:endParaRPr lang="en-US"/>
          </a:p>
        </p:txBody>
      </p:sp>
      <p:pic>
        <p:nvPicPr>
          <p:cNvPr id="283650" name="Picture 2" descr="Image result for WiMax  network ppt"/>
          <p:cNvPicPr>
            <a:picLocks noChangeAspect="1" noChangeArrowheads="1"/>
          </p:cNvPicPr>
          <p:nvPr/>
        </p:nvPicPr>
        <p:blipFill>
          <a:blip r:embed="rId2"/>
          <a:srcRect/>
          <a:stretch>
            <a:fillRect/>
          </a:stretch>
        </p:blipFill>
        <p:spPr bwMode="auto">
          <a:xfrm>
            <a:off x="304800" y="1143000"/>
            <a:ext cx="8731248" cy="5334000"/>
          </a:xfrm>
          <a:prstGeom prst="rect">
            <a:avLst/>
          </a:prstGeom>
          <a:noFill/>
        </p:spPr>
      </p:pic>
      <p:sp>
        <p:nvSpPr>
          <p:cNvPr id="7" name="Rectangle 6"/>
          <p:cNvSpPr/>
          <p:nvPr/>
        </p:nvSpPr>
        <p:spPr>
          <a:xfrm>
            <a:off x="0" y="0"/>
            <a:ext cx="8115940" cy="646331"/>
          </a:xfrm>
          <a:prstGeom prst="rect">
            <a:avLst/>
          </a:prstGeom>
          <a:solidFill>
            <a:srgbClr val="CCFFFF"/>
          </a:solidFill>
        </p:spPr>
        <p:txBody>
          <a:bodyPr wrap="none">
            <a:spAutoFit/>
          </a:bodyPr>
          <a:lstStyle/>
          <a:p>
            <a:r>
              <a:rPr lang="en-US" sz="3600" dirty="0" err="1"/>
              <a:t>WiMAX</a:t>
            </a:r>
            <a:r>
              <a:rPr lang="en-US" sz="3600" dirty="0"/>
              <a:t> and </a:t>
            </a:r>
            <a:r>
              <a:rPr lang="en-US" sz="3600" dirty="0" err="1"/>
              <a:t>WiFi</a:t>
            </a:r>
            <a:r>
              <a:rPr lang="en-US" sz="3600" dirty="0"/>
              <a:t> integration (example-1)</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33</a:t>
            </a:fld>
            <a:endParaRPr lang="en-US"/>
          </a:p>
        </p:txBody>
      </p:sp>
      <p:sp>
        <p:nvSpPr>
          <p:cNvPr id="5" name="TextBox 4"/>
          <p:cNvSpPr txBox="1"/>
          <p:nvPr/>
        </p:nvSpPr>
        <p:spPr>
          <a:xfrm>
            <a:off x="0" y="0"/>
            <a:ext cx="9144000" cy="2554545"/>
          </a:xfrm>
          <a:prstGeom prst="rect">
            <a:avLst/>
          </a:prstGeom>
          <a:solidFill>
            <a:srgbClr val="CCFFFF"/>
          </a:solidFill>
        </p:spPr>
        <p:txBody>
          <a:bodyPr wrap="square" rtlCol="0">
            <a:spAutoFit/>
          </a:bodyPr>
          <a:lstStyle/>
          <a:p>
            <a:pPr algn="just">
              <a:buFont typeface="Wingdings" pitchFamily="2" charset="2"/>
              <a:buChar char="v"/>
            </a:pPr>
            <a:r>
              <a:rPr lang="en-US" sz="2000" dirty="0"/>
              <a:t>An architecture based on </a:t>
            </a:r>
            <a:r>
              <a:rPr lang="en-US" sz="2000" dirty="0" err="1"/>
              <a:t>WiMAX</a:t>
            </a:r>
            <a:r>
              <a:rPr lang="en-US" sz="2000" dirty="0"/>
              <a:t> and </a:t>
            </a:r>
            <a:r>
              <a:rPr lang="en-US" sz="2000" dirty="0" err="1"/>
              <a:t>WiFi</a:t>
            </a:r>
            <a:r>
              <a:rPr lang="en-US" sz="2000" dirty="0"/>
              <a:t> networks as shown in Fig. 1. In this architecture there is a </a:t>
            </a:r>
            <a:r>
              <a:rPr lang="en-US" sz="2000" dirty="0" err="1"/>
              <a:t>WiMAX</a:t>
            </a:r>
            <a:r>
              <a:rPr lang="en-US" sz="2000" dirty="0"/>
              <a:t> base station encompassing multiple </a:t>
            </a:r>
            <a:r>
              <a:rPr lang="en-US" sz="2000" dirty="0" err="1"/>
              <a:t>WiFi</a:t>
            </a:r>
            <a:r>
              <a:rPr lang="en-US" sz="2000" dirty="0"/>
              <a:t> hotspots (access point). </a:t>
            </a:r>
          </a:p>
          <a:p>
            <a:pPr algn="just"/>
            <a:endParaRPr lang="en-US" sz="2000" dirty="0"/>
          </a:p>
          <a:p>
            <a:pPr algn="just">
              <a:buFont typeface="Wingdings" pitchFamily="2" charset="2"/>
              <a:buChar char="v"/>
            </a:pPr>
            <a:r>
              <a:rPr lang="en-US" sz="2000" dirty="0"/>
              <a:t>The </a:t>
            </a:r>
            <a:r>
              <a:rPr lang="en-US" sz="2000" dirty="0" err="1"/>
              <a:t>WiMAX</a:t>
            </a:r>
            <a:r>
              <a:rPr lang="en-US" sz="2000" dirty="0"/>
              <a:t> BS connects to the Internet and acts as the backbone to the </a:t>
            </a:r>
            <a:r>
              <a:rPr lang="en-US" sz="2000" dirty="0" err="1"/>
              <a:t>WiFi</a:t>
            </a:r>
            <a:r>
              <a:rPr lang="en-US" sz="2000" dirty="0"/>
              <a:t> network. The </a:t>
            </a:r>
            <a:r>
              <a:rPr lang="en-US" sz="2000" dirty="0" err="1"/>
              <a:t>WiMAX</a:t>
            </a:r>
            <a:r>
              <a:rPr lang="en-US" sz="2000" dirty="0"/>
              <a:t> subscribers referred to as subscriber stations (SS), communicate directly to the </a:t>
            </a:r>
            <a:r>
              <a:rPr lang="en-US" sz="2000" dirty="0" err="1"/>
              <a:t>WiMAX</a:t>
            </a:r>
            <a:r>
              <a:rPr lang="en-US" sz="2000" dirty="0"/>
              <a:t> Base Station (BS) whereas the </a:t>
            </a:r>
            <a:r>
              <a:rPr lang="en-US" sz="2000" dirty="0" err="1"/>
              <a:t>WiFi</a:t>
            </a:r>
            <a:r>
              <a:rPr lang="en-US" sz="2000" dirty="0"/>
              <a:t> users have to use a special access point (AP) to communicate with the </a:t>
            </a:r>
            <a:r>
              <a:rPr lang="en-US" sz="2000" dirty="0" err="1"/>
              <a:t>WiMAX</a:t>
            </a:r>
            <a:r>
              <a:rPr lang="en-US" sz="2000" dirty="0"/>
              <a:t> BS called </a:t>
            </a:r>
            <a:r>
              <a:rPr lang="en-US" sz="2000" i="1" dirty="0" err="1"/>
              <a:t>WiFi</a:t>
            </a:r>
            <a:r>
              <a:rPr lang="en-US" sz="2000" i="1" dirty="0"/>
              <a:t> -</a:t>
            </a:r>
            <a:r>
              <a:rPr lang="en-US" sz="2000" dirty="0"/>
              <a:t> </a:t>
            </a:r>
            <a:r>
              <a:rPr lang="en-US" sz="2000" i="1" dirty="0" err="1"/>
              <a:t>WiMA</a:t>
            </a:r>
            <a:r>
              <a:rPr lang="en-US" sz="2000" dirty="0" err="1"/>
              <a:t>X</a:t>
            </a:r>
            <a:r>
              <a:rPr lang="en-US" sz="2000" i="1" dirty="0"/>
              <a:t> Bridge</a:t>
            </a:r>
            <a:r>
              <a:rPr lang="en-US" sz="2000" dirty="0"/>
              <a:t>.</a:t>
            </a:r>
          </a:p>
        </p:txBody>
      </p:sp>
      <p:pic>
        <p:nvPicPr>
          <p:cNvPr id="6" name="Picture 6"/>
          <p:cNvPicPr>
            <a:picLocks noChangeAspect="1" noChangeArrowheads="1"/>
          </p:cNvPicPr>
          <p:nvPr/>
        </p:nvPicPr>
        <p:blipFill>
          <a:blip r:embed="rId2"/>
          <a:srcRect/>
          <a:stretch>
            <a:fillRect/>
          </a:stretch>
        </p:blipFill>
        <p:spPr bwMode="auto">
          <a:xfrm>
            <a:off x="2362200" y="2514600"/>
            <a:ext cx="6104871" cy="3801360"/>
          </a:xfrm>
          <a:prstGeom prst="rect">
            <a:avLst/>
          </a:prstGeom>
          <a:noFill/>
          <a:ln w="9525">
            <a:noFill/>
            <a:miter lim="800000"/>
            <a:headEnd/>
            <a:tailEnd/>
          </a:ln>
          <a:effectLst/>
        </p:spPr>
      </p:pic>
      <p:sp>
        <p:nvSpPr>
          <p:cNvPr id="7" name="TextBox 6"/>
          <p:cNvSpPr txBox="1"/>
          <p:nvPr/>
        </p:nvSpPr>
        <p:spPr>
          <a:xfrm>
            <a:off x="228600" y="6172200"/>
            <a:ext cx="6096000" cy="461665"/>
          </a:xfrm>
          <a:prstGeom prst="rect">
            <a:avLst/>
          </a:prstGeom>
          <a:noFill/>
        </p:spPr>
        <p:txBody>
          <a:bodyPr wrap="square" rtlCol="0">
            <a:spAutoFit/>
          </a:bodyPr>
          <a:lstStyle/>
          <a:p>
            <a:r>
              <a:rPr lang="en-US" dirty="0"/>
              <a:t>Fig.1 Model of </a:t>
            </a:r>
            <a:r>
              <a:rPr lang="en-US" dirty="0" err="1"/>
              <a:t>WiMAX</a:t>
            </a:r>
            <a:r>
              <a:rPr lang="en-US" dirty="0"/>
              <a:t> and </a:t>
            </a:r>
            <a:r>
              <a:rPr lang="en-US" dirty="0" err="1"/>
              <a:t>WiFi</a:t>
            </a:r>
            <a:r>
              <a:rPr lang="en-US" dirty="0"/>
              <a:t> integration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34</a:t>
            </a:fld>
            <a:endParaRPr lang="en-US"/>
          </a:p>
        </p:txBody>
      </p:sp>
      <p:sp>
        <p:nvSpPr>
          <p:cNvPr id="5" name="Rectangle 9"/>
          <p:cNvSpPr>
            <a:spLocks noChangeArrowheads="1"/>
          </p:cNvSpPr>
          <p:nvPr/>
        </p:nvSpPr>
        <p:spPr bwMode="auto">
          <a:xfrm>
            <a:off x="1066800" y="3124200"/>
            <a:ext cx="6553200" cy="838200"/>
          </a:xfrm>
          <a:prstGeom prst="rect">
            <a:avLst/>
          </a:prstGeom>
          <a:solidFill>
            <a:srgbClr val="92D050"/>
          </a:solidFill>
          <a:ln w="9525">
            <a:noFill/>
            <a:miter lim="800000"/>
            <a:headEnd/>
            <a:tailEnd/>
          </a:ln>
        </p:spPr>
        <p:txBody>
          <a:bodyPr anchor="ctr"/>
          <a:lstStyle/>
          <a:p>
            <a:pPr algn="ctr"/>
            <a:r>
              <a:rPr lang="en-US" sz="7200" dirty="0">
                <a:solidFill>
                  <a:schemeClr val="tx2"/>
                </a:solidFill>
              </a:rPr>
              <a:t>Wireless LAN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2"/>
          <p:cNvSpPr>
            <a:spLocks noGrp="1"/>
          </p:cNvSpPr>
          <p:nvPr>
            <p:ph type="sldNum" sz="quarter" idx="12"/>
          </p:nvPr>
        </p:nvSpPr>
        <p:spPr>
          <a:noFill/>
        </p:spPr>
        <p:txBody>
          <a:bodyPr/>
          <a:lstStyle/>
          <a:p>
            <a:fld id="{E495B43A-13D4-4EEB-839C-428596EFD0D7}" type="slidenum">
              <a:rPr lang="en-US" smtClean="0"/>
              <a:pPr/>
              <a:t>35</a:t>
            </a:fld>
            <a:endParaRPr lang="en-US"/>
          </a:p>
        </p:txBody>
      </p:sp>
      <p:sp>
        <p:nvSpPr>
          <p:cNvPr id="16387" name="TextBox 3"/>
          <p:cNvSpPr txBox="1">
            <a:spLocks noChangeArrowheads="1"/>
          </p:cNvSpPr>
          <p:nvPr/>
        </p:nvSpPr>
        <p:spPr bwMode="auto">
          <a:xfrm>
            <a:off x="76200" y="671513"/>
            <a:ext cx="8839200" cy="6324600"/>
          </a:xfrm>
          <a:prstGeom prst="rect">
            <a:avLst/>
          </a:prstGeom>
          <a:noFill/>
          <a:ln w="9525">
            <a:noFill/>
            <a:miter lim="800000"/>
            <a:headEnd/>
            <a:tailEnd/>
          </a:ln>
        </p:spPr>
        <p:txBody>
          <a:bodyPr>
            <a:spAutoFit/>
          </a:bodyPr>
          <a:lstStyle/>
          <a:p>
            <a:r>
              <a:rPr lang="en-US" sz="3600" b="1">
                <a:solidFill>
                  <a:srgbClr val="FF0000"/>
                </a:solidFill>
              </a:rPr>
              <a:t>Benefits of Wireless LANs</a:t>
            </a:r>
          </a:p>
          <a:p>
            <a:pPr algn="ctr"/>
            <a:endParaRPr lang="en-US" b="1">
              <a:solidFill>
                <a:srgbClr val="FF0000"/>
              </a:solidFill>
            </a:endParaRPr>
          </a:p>
          <a:p>
            <a:pPr algn="ctr"/>
            <a:endParaRPr lang="en-US" b="1">
              <a:solidFill>
                <a:srgbClr val="FF0000"/>
              </a:solidFill>
            </a:endParaRPr>
          </a:p>
          <a:p>
            <a:pPr algn="just">
              <a:buFont typeface="Wingdings" pitchFamily="2" charset="2"/>
              <a:buChar char="ü"/>
            </a:pPr>
            <a:r>
              <a:rPr lang="en-US"/>
              <a:t>People can access the network from where they want; they are no longer limited by the length of the cable.</a:t>
            </a:r>
          </a:p>
          <a:p>
            <a:pPr algn="just"/>
            <a:endParaRPr lang="en-US"/>
          </a:p>
          <a:p>
            <a:pPr algn="just">
              <a:buFont typeface="Wingdings" pitchFamily="2" charset="2"/>
              <a:buChar char="ü"/>
            </a:pPr>
            <a:r>
              <a:rPr lang="en-US"/>
              <a:t>Some cities have started to offer Wireless LANs. This means that people can access the internet even outside their normal work environment, for example when they ride the train.</a:t>
            </a:r>
          </a:p>
          <a:p>
            <a:pPr algn="just"/>
            <a:endParaRPr lang="en-US"/>
          </a:p>
          <a:p>
            <a:pPr algn="just">
              <a:buFont typeface="Wingdings" pitchFamily="2" charset="2"/>
              <a:buChar char="ü"/>
            </a:pPr>
            <a:r>
              <a:rPr lang="en-US"/>
              <a:t>Setting up a wireless LAN can be done with one box (called </a:t>
            </a:r>
            <a:r>
              <a:rPr lang="en-US" i="1"/>
              <a:t>Access point</a:t>
            </a:r>
            <a:r>
              <a:rPr lang="en-US"/>
              <a:t>). This box can handle a varying number of connections at the same time. Wired networks require cables to be laid. This can be difficult for certain places.</a:t>
            </a:r>
          </a:p>
          <a:p>
            <a:pPr algn="just"/>
            <a:endParaRPr lang="en-US" sz="900"/>
          </a:p>
          <a:p>
            <a:pPr algn="just">
              <a:buFont typeface="Wingdings" pitchFamily="2" charset="2"/>
              <a:buChar char="ü"/>
            </a:pPr>
            <a:r>
              <a:rPr lang="en-US"/>
              <a:t>Access points can serve a varying number of computers using DHCP.</a:t>
            </a:r>
          </a:p>
        </p:txBody>
      </p:sp>
      <p:pic>
        <p:nvPicPr>
          <p:cNvPr id="16388" name="Picture 2" descr="http://www.wildpackets.com/images/compendium/Wire-1.jpg"/>
          <p:cNvPicPr>
            <a:picLocks noChangeAspect="1" noChangeArrowheads="1"/>
          </p:cNvPicPr>
          <p:nvPr/>
        </p:nvPicPr>
        <p:blipFill>
          <a:blip r:embed="rId2"/>
          <a:srcRect/>
          <a:stretch>
            <a:fillRect/>
          </a:stretch>
        </p:blipFill>
        <p:spPr bwMode="auto">
          <a:xfrm>
            <a:off x="6248400" y="0"/>
            <a:ext cx="2895600" cy="1990725"/>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p:spPr>
        <p:txBody>
          <a:bodyPr/>
          <a:lstStyle/>
          <a:p>
            <a:fld id="{9C6ACE23-A2FF-4AE2-8437-2C6D78BFF42D}" type="slidenum">
              <a:rPr lang="en-US" smtClean="0"/>
              <a:pPr/>
              <a:t>36</a:t>
            </a:fld>
            <a:endParaRPr lang="en-US"/>
          </a:p>
        </p:txBody>
      </p:sp>
      <p:sp>
        <p:nvSpPr>
          <p:cNvPr id="17411" name="Text Box 2"/>
          <p:cNvSpPr txBox="1">
            <a:spLocks noChangeArrowheads="1"/>
          </p:cNvSpPr>
          <p:nvPr/>
        </p:nvSpPr>
        <p:spPr bwMode="auto">
          <a:xfrm>
            <a:off x="152400" y="2590800"/>
            <a:ext cx="8763000" cy="708025"/>
          </a:xfrm>
          <a:prstGeom prst="rect">
            <a:avLst/>
          </a:prstGeom>
          <a:solidFill>
            <a:srgbClr val="FFFF66"/>
          </a:solidFill>
          <a:ln w="9525">
            <a:noFill/>
            <a:miter lim="800000"/>
            <a:headEnd/>
            <a:tailEnd/>
          </a:ln>
        </p:spPr>
        <p:txBody>
          <a:bodyPr>
            <a:spAutoFit/>
          </a:bodyPr>
          <a:lstStyle/>
          <a:p>
            <a:pPr>
              <a:spcBef>
                <a:spcPct val="50000"/>
              </a:spcBef>
            </a:pPr>
            <a:r>
              <a:rPr lang="en-US" sz="4000" b="1">
                <a:solidFill>
                  <a:schemeClr val="accent2"/>
                </a:solidFill>
              </a:rPr>
              <a:t>Major Problems with Wireless network</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2"/>
          <p:cNvSpPr>
            <a:spLocks noGrp="1"/>
          </p:cNvSpPr>
          <p:nvPr>
            <p:ph type="sldNum" sz="quarter" idx="12"/>
          </p:nvPr>
        </p:nvSpPr>
        <p:spPr>
          <a:noFill/>
        </p:spPr>
        <p:txBody>
          <a:bodyPr/>
          <a:lstStyle/>
          <a:p>
            <a:fld id="{0A20850B-2C43-4138-AE78-851EDA6AEBDF}" type="slidenum">
              <a:rPr lang="en-US" smtClean="0"/>
              <a:pPr/>
              <a:t>37</a:t>
            </a:fld>
            <a:endParaRPr lang="en-US"/>
          </a:p>
        </p:txBody>
      </p:sp>
      <p:sp>
        <p:nvSpPr>
          <p:cNvPr id="18435" name="TextBox 3"/>
          <p:cNvSpPr txBox="1">
            <a:spLocks noChangeArrowheads="1"/>
          </p:cNvSpPr>
          <p:nvPr/>
        </p:nvSpPr>
        <p:spPr bwMode="auto">
          <a:xfrm>
            <a:off x="152400" y="1981200"/>
            <a:ext cx="8763000" cy="1200150"/>
          </a:xfrm>
          <a:prstGeom prst="rect">
            <a:avLst/>
          </a:prstGeom>
          <a:solidFill>
            <a:srgbClr val="FFFF00"/>
          </a:solidFill>
          <a:ln w="9525">
            <a:noFill/>
            <a:miter lim="800000"/>
            <a:headEnd/>
            <a:tailEnd/>
          </a:ln>
        </p:spPr>
        <p:txBody>
          <a:bodyPr>
            <a:spAutoFit/>
          </a:bodyPr>
          <a:lstStyle/>
          <a:p>
            <a:pPr algn="just"/>
            <a:r>
              <a:rPr lang="en-US" dirty="0">
                <a:solidFill>
                  <a:schemeClr val="accent2"/>
                </a:solidFill>
              </a:rPr>
              <a:t>First Problem</a:t>
            </a:r>
            <a:r>
              <a:rPr lang="en-US" dirty="0"/>
              <a:t>: A computer on Ethernet always listen to the ether before transmitting. Only if the ether is idle does the computer begin transmitting. With wireless LANs, that idea does not work so well.</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p:spPr>
        <p:txBody>
          <a:bodyPr/>
          <a:lstStyle/>
          <a:p>
            <a:fld id="{421D5199-3F07-4054-969B-EF1F5F1989AB}" type="slidenum">
              <a:rPr lang="en-GB" altLang="zh-CN" smtClean="0">
                <a:ea typeface="宋体" pitchFamily="2" charset="-122"/>
              </a:rPr>
              <a:pPr/>
              <a:t>38</a:t>
            </a:fld>
            <a:endParaRPr lang="en-GB" altLang="zh-CN">
              <a:ea typeface="宋体" pitchFamily="2" charset="-122"/>
            </a:endParaRPr>
          </a:p>
        </p:txBody>
      </p:sp>
      <p:sp>
        <p:nvSpPr>
          <p:cNvPr id="19459" name="矩形 2"/>
          <p:cNvSpPr>
            <a:spLocks noGrp="1" noChangeArrowheads="1"/>
          </p:cNvSpPr>
          <p:nvPr>
            <p:ph type="title"/>
          </p:nvPr>
        </p:nvSpPr>
        <p:spPr>
          <a:xfrm>
            <a:off x="0" y="0"/>
            <a:ext cx="7772400" cy="1143000"/>
          </a:xfrm>
        </p:spPr>
        <p:txBody>
          <a:bodyPr/>
          <a:lstStyle/>
          <a:p>
            <a:pPr algn="l"/>
            <a:r>
              <a:rPr lang="en-US" altLang="zh-CN" sz="3200">
                <a:ea typeface="宋体" pitchFamily="2" charset="-122"/>
              </a:rPr>
              <a:t>CSMA/CD Operation</a:t>
            </a:r>
          </a:p>
        </p:txBody>
      </p:sp>
      <p:pic>
        <p:nvPicPr>
          <p:cNvPr id="19460" name="图片 5"/>
          <p:cNvPicPr>
            <a:picLocks noChangeAspect="1" noChangeArrowheads="1"/>
          </p:cNvPicPr>
          <p:nvPr/>
        </p:nvPicPr>
        <p:blipFill>
          <a:blip r:embed="rId3"/>
          <a:srcRect b="8731"/>
          <a:stretch>
            <a:fillRect/>
          </a:stretch>
        </p:blipFill>
        <p:spPr bwMode="auto">
          <a:xfrm>
            <a:off x="3594100" y="228600"/>
            <a:ext cx="5549900" cy="6629400"/>
          </a:xfrm>
          <a:prstGeom prst="rect">
            <a:avLst/>
          </a:prstGeom>
          <a:noFill/>
          <a:ln w="9525">
            <a:noFill/>
            <a:miter lim="800000"/>
            <a:headEnd/>
            <a:tailEnd/>
          </a:ln>
        </p:spPr>
      </p:pic>
      <p:sp>
        <p:nvSpPr>
          <p:cNvPr id="19461" name="文本框 7"/>
          <p:cNvSpPr txBox="1">
            <a:spLocks noChangeArrowheads="1"/>
          </p:cNvSpPr>
          <p:nvPr/>
        </p:nvSpPr>
        <p:spPr bwMode="auto">
          <a:xfrm>
            <a:off x="609600" y="4724400"/>
            <a:ext cx="2741613" cy="457200"/>
          </a:xfrm>
          <a:prstGeom prst="rect">
            <a:avLst/>
          </a:prstGeom>
          <a:noFill/>
          <a:ln w="9525">
            <a:noFill/>
            <a:miter lim="800000"/>
            <a:headEnd/>
            <a:tailEnd/>
          </a:ln>
        </p:spPr>
        <p:txBody>
          <a:bodyPr wrap="none" lIns="90000" tIns="46800" rIns="90000" bIns="46800">
            <a:spAutoFit/>
          </a:bodyPr>
          <a:lstStyle/>
          <a:p>
            <a:r>
              <a:rPr lang="en-US" altLang="zh-CN">
                <a:solidFill>
                  <a:srgbClr val="FF0000"/>
                </a:solidFill>
                <a:ea typeface="宋体" pitchFamily="2" charset="-122"/>
              </a:rPr>
              <a:t>C detects a collision!</a:t>
            </a:r>
          </a:p>
        </p:txBody>
      </p:sp>
      <p:sp>
        <p:nvSpPr>
          <p:cNvPr id="19462" name="文本框 8"/>
          <p:cNvSpPr txBox="1">
            <a:spLocks noChangeArrowheads="1"/>
          </p:cNvSpPr>
          <p:nvPr/>
        </p:nvSpPr>
        <p:spPr bwMode="auto">
          <a:xfrm>
            <a:off x="609600" y="6172200"/>
            <a:ext cx="2759075" cy="457200"/>
          </a:xfrm>
          <a:prstGeom prst="rect">
            <a:avLst/>
          </a:prstGeom>
          <a:noFill/>
          <a:ln w="9525">
            <a:noFill/>
            <a:miter lim="800000"/>
            <a:headEnd/>
            <a:tailEnd/>
          </a:ln>
        </p:spPr>
        <p:txBody>
          <a:bodyPr wrap="none" lIns="90000" tIns="46800" rIns="90000" bIns="46800">
            <a:spAutoFit/>
          </a:bodyPr>
          <a:lstStyle/>
          <a:p>
            <a:r>
              <a:rPr lang="en-US" altLang="zh-CN">
                <a:solidFill>
                  <a:srgbClr val="FF0000"/>
                </a:solidFill>
                <a:ea typeface="宋体" pitchFamily="2" charset="-122"/>
              </a:rPr>
              <a:t>A detects a collision!</a:t>
            </a:r>
          </a:p>
        </p:txBody>
      </p:sp>
      <p:sp>
        <p:nvSpPr>
          <p:cNvPr id="19463" name="TextBox 6"/>
          <p:cNvSpPr txBox="1">
            <a:spLocks noChangeArrowheads="1"/>
          </p:cNvSpPr>
          <p:nvPr/>
        </p:nvSpPr>
        <p:spPr bwMode="auto">
          <a:xfrm>
            <a:off x="0" y="1676400"/>
            <a:ext cx="3505200" cy="1323975"/>
          </a:xfrm>
          <a:prstGeom prst="rect">
            <a:avLst/>
          </a:prstGeom>
          <a:solidFill>
            <a:srgbClr val="FFC000"/>
          </a:solidFill>
          <a:ln w="9525">
            <a:noFill/>
            <a:miter lim="800000"/>
            <a:headEnd/>
            <a:tailEnd/>
          </a:ln>
        </p:spPr>
        <p:txBody>
          <a:bodyPr>
            <a:spAutoFit/>
          </a:bodyPr>
          <a:lstStyle/>
          <a:p>
            <a:pPr algn="just"/>
            <a:r>
              <a:rPr lang="en-US" sz="2000"/>
              <a:t>In wireless communication the situation is  cumbersome since the received power is too small compared to transmitted power.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4"/>
          <p:cNvSpPr>
            <a:spLocks noGrp="1"/>
          </p:cNvSpPr>
          <p:nvPr>
            <p:ph type="sldNum" sz="quarter" idx="12"/>
          </p:nvPr>
        </p:nvSpPr>
        <p:spPr>
          <a:noFill/>
        </p:spPr>
        <p:txBody>
          <a:bodyPr/>
          <a:lstStyle/>
          <a:p>
            <a:fld id="{32BCB1AA-AEB3-4582-8A7C-ADE10E67B1BB}" type="slidenum">
              <a:rPr lang="en-US" smtClean="0"/>
              <a:pPr/>
              <a:t>39</a:t>
            </a:fld>
            <a:endParaRPr lang="en-US"/>
          </a:p>
        </p:txBody>
      </p:sp>
      <p:sp>
        <p:nvSpPr>
          <p:cNvPr id="20483" name="Text Box 2"/>
          <p:cNvSpPr txBox="1">
            <a:spLocks noChangeArrowheads="1"/>
          </p:cNvSpPr>
          <p:nvPr/>
        </p:nvSpPr>
        <p:spPr bwMode="auto">
          <a:xfrm>
            <a:off x="76200" y="152400"/>
            <a:ext cx="8915400" cy="1631950"/>
          </a:xfrm>
          <a:prstGeom prst="rect">
            <a:avLst/>
          </a:prstGeom>
          <a:solidFill>
            <a:srgbClr val="FFFF66"/>
          </a:solidFill>
          <a:ln w="9525">
            <a:noFill/>
            <a:miter lim="800000"/>
            <a:headEnd/>
            <a:tailEnd/>
          </a:ln>
        </p:spPr>
        <p:txBody>
          <a:bodyPr>
            <a:spAutoFit/>
          </a:bodyPr>
          <a:lstStyle/>
          <a:p>
            <a:pPr algn="just">
              <a:spcBef>
                <a:spcPct val="50000"/>
              </a:spcBef>
              <a:buFont typeface="Wingdings" pitchFamily="2" charset="2"/>
              <a:buChar char="v"/>
            </a:pPr>
            <a:r>
              <a:rPr lang="en-US" sz="2000"/>
              <a:t>Suppose that computer A is transmitting to computer B (one way), but the radio range of A is too short to reach computer C. If C wants to transmit to B it can listen to the ether before starting, but the fact that it does not hear anything (since it is outside the coverage of A) does not mean that its transmission will succeed. The 802.11 standard had to solve this problem (CSMA/CA). </a:t>
            </a:r>
          </a:p>
        </p:txBody>
      </p:sp>
      <p:pic>
        <p:nvPicPr>
          <p:cNvPr id="20484" name="Picture 5"/>
          <p:cNvPicPr>
            <a:picLocks noChangeAspect="1" noChangeArrowheads="1"/>
          </p:cNvPicPr>
          <p:nvPr/>
        </p:nvPicPr>
        <p:blipFill>
          <a:blip r:embed="rId2"/>
          <a:srcRect/>
          <a:stretch>
            <a:fillRect/>
          </a:stretch>
        </p:blipFill>
        <p:spPr bwMode="auto">
          <a:xfrm>
            <a:off x="990600" y="2057400"/>
            <a:ext cx="6978650" cy="4267200"/>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p:spPr>
        <p:txBody>
          <a:bodyPr/>
          <a:lstStyle/>
          <a:p>
            <a:fld id="{0DB9E357-91F8-4331-AA2C-E94E42C0B40F}" type="slidenum">
              <a:rPr lang="en-GB" altLang="zh-CN" smtClean="0">
                <a:ea typeface="宋体" pitchFamily="2" charset="-122"/>
              </a:rPr>
              <a:pPr/>
              <a:t>40</a:t>
            </a:fld>
            <a:endParaRPr lang="en-GB" altLang="zh-CN">
              <a:ea typeface="宋体" pitchFamily="2" charset="-122"/>
            </a:endParaRPr>
          </a:p>
        </p:txBody>
      </p:sp>
      <p:sp>
        <p:nvSpPr>
          <p:cNvPr id="21507" name="矩形 2"/>
          <p:cNvSpPr>
            <a:spLocks noGrp="1" noChangeArrowheads="1"/>
          </p:cNvSpPr>
          <p:nvPr>
            <p:ph type="title"/>
          </p:nvPr>
        </p:nvSpPr>
        <p:spPr>
          <a:xfrm>
            <a:off x="0" y="0"/>
            <a:ext cx="8839200" cy="685800"/>
          </a:xfrm>
        </p:spPr>
        <p:txBody>
          <a:bodyPr/>
          <a:lstStyle/>
          <a:p>
            <a:pPr algn="just"/>
            <a:r>
              <a:rPr lang="en-US" altLang="zh-CN" sz="2400">
                <a:ea typeface="宋体" pitchFamily="2" charset="-122"/>
              </a:rPr>
              <a:t>The problem we mentioned here is called </a:t>
            </a:r>
            <a:r>
              <a:rPr lang="en-US" altLang="zh-CN" sz="2400">
                <a:solidFill>
                  <a:srgbClr val="FF0000"/>
                </a:solidFill>
                <a:ea typeface="宋体" pitchFamily="2" charset="-122"/>
              </a:rPr>
              <a:t>Hidden Terminal Problem</a:t>
            </a:r>
            <a:endParaRPr lang="en-US" altLang="zh-TW" sz="2400">
              <a:solidFill>
                <a:srgbClr val="FF0000"/>
              </a:solidFill>
              <a:ea typeface="PMingLiU" pitchFamily="18" charset="-120"/>
            </a:endParaRPr>
          </a:p>
        </p:txBody>
      </p:sp>
      <p:sp>
        <p:nvSpPr>
          <p:cNvPr id="21508" name="文本框 13"/>
          <p:cNvSpPr txBox="1">
            <a:spLocks noChangeArrowheads="1"/>
          </p:cNvSpPr>
          <p:nvPr/>
        </p:nvSpPr>
        <p:spPr bwMode="auto">
          <a:xfrm>
            <a:off x="304800" y="4648200"/>
            <a:ext cx="8839200" cy="1571625"/>
          </a:xfrm>
          <a:prstGeom prst="rect">
            <a:avLst/>
          </a:prstGeom>
          <a:noFill/>
          <a:ln w="9525">
            <a:noFill/>
            <a:miter lim="800000"/>
            <a:headEnd/>
            <a:tailEnd/>
          </a:ln>
        </p:spPr>
        <p:txBody>
          <a:bodyPr lIns="90000" tIns="46800" rIns="90000" bIns="46800">
            <a:spAutoFit/>
          </a:bodyPr>
          <a:lstStyle/>
          <a:p>
            <a:pPr algn="just"/>
            <a:r>
              <a:rPr kumimoji="1" lang="en-US" altLang="zh-CN" b="1">
                <a:ea typeface="宋体" pitchFamily="2" charset="-122"/>
              </a:rPr>
              <a:t>Consider the effect of RTS/CTS:</a:t>
            </a:r>
          </a:p>
          <a:p>
            <a:pPr algn="just"/>
            <a:r>
              <a:rPr kumimoji="1" lang="en-US" altLang="zh-TW">
                <a:solidFill>
                  <a:srgbClr val="FF0000"/>
                </a:solidFill>
                <a:ea typeface="PMingLiU" pitchFamily="18" charset="-120"/>
              </a:rPr>
              <a:t>RTS</a:t>
            </a:r>
            <a:r>
              <a:rPr kumimoji="1" lang="en-US" altLang="zh-TW">
                <a:ea typeface="PMingLiU" pitchFamily="18" charset="-120"/>
              </a:rPr>
              <a:t> alerts all stations within range </a:t>
            </a:r>
            <a:r>
              <a:rPr kumimoji="1" lang="en-GB" altLang="zh-CN">
                <a:ea typeface="宋体" pitchFamily="2" charset="-122"/>
              </a:rPr>
              <a:t>of source (i.e., A) </a:t>
            </a:r>
            <a:r>
              <a:rPr kumimoji="1" lang="en-US" altLang="zh-TW">
                <a:ea typeface="PMingLiU" pitchFamily="18" charset="-120"/>
              </a:rPr>
              <a:t>that exchange is under way</a:t>
            </a:r>
            <a:r>
              <a:rPr kumimoji="1" lang="en-US" altLang="zh-CN">
                <a:ea typeface="宋体" pitchFamily="2" charset="-122"/>
              </a:rPr>
              <a:t>; </a:t>
            </a:r>
          </a:p>
          <a:p>
            <a:pPr algn="just"/>
            <a:r>
              <a:rPr kumimoji="1" lang="en-US" altLang="zh-TW">
                <a:solidFill>
                  <a:srgbClr val="FF0000"/>
                </a:solidFill>
                <a:ea typeface="PMingLiU" pitchFamily="18" charset="-120"/>
              </a:rPr>
              <a:t>CTS </a:t>
            </a:r>
            <a:r>
              <a:rPr kumimoji="1" lang="en-US" altLang="zh-TW">
                <a:ea typeface="PMingLiU" pitchFamily="18" charset="-120"/>
              </a:rPr>
              <a:t>alerts all stations within range of destination</a:t>
            </a:r>
            <a:r>
              <a:rPr kumimoji="1" lang="en-US" altLang="zh-CN">
                <a:ea typeface="宋体" pitchFamily="2" charset="-122"/>
              </a:rPr>
              <a:t> (i.e., B).</a:t>
            </a:r>
            <a:endParaRPr lang="en-US" altLang="zh-TW">
              <a:ea typeface="PMingLiU" pitchFamily="18" charset="-120"/>
            </a:endParaRPr>
          </a:p>
        </p:txBody>
      </p:sp>
      <p:sp>
        <p:nvSpPr>
          <p:cNvPr id="21509" name="文本框 14"/>
          <p:cNvSpPr txBox="1">
            <a:spLocks noChangeArrowheads="1"/>
          </p:cNvSpPr>
          <p:nvPr/>
        </p:nvSpPr>
        <p:spPr bwMode="auto">
          <a:xfrm>
            <a:off x="4419600" y="1066800"/>
            <a:ext cx="4495800" cy="3233738"/>
          </a:xfrm>
          <a:prstGeom prst="rect">
            <a:avLst/>
          </a:prstGeom>
          <a:noFill/>
          <a:ln w="9525">
            <a:noFill/>
            <a:miter lim="800000"/>
            <a:headEnd/>
            <a:tailEnd/>
          </a:ln>
        </p:spPr>
        <p:txBody>
          <a:bodyPr lIns="90000" tIns="46800" rIns="90000" bIns="46800">
            <a:spAutoFit/>
          </a:bodyPr>
          <a:lstStyle/>
          <a:p>
            <a:pPr>
              <a:spcBef>
                <a:spcPct val="50000"/>
              </a:spcBef>
            </a:pPr>
            <a:r>
              <a:rPr lang="en-US" altLang="zh-CN">
                <a:ea typeface="宋体" pitchFamily="2" charset="-122"/>
              </a:rPr>
              <a:t>A and B can hear each other. B and C can hear each other. But A and C cannot hear each other.</a:t>
            </a:r>
          </a:p>
          <a:p>
            <a:pPr algn="just">
              <a:spcBef>
                <a:spcPct val="50000"/>
              </a:spcBef>
            </a:pPr>
            <a:r>
              <a:rPr lang="en-US" altLang="zh-CN">
                <a:ea typeface="宋体" pitchFamily="2" charset="-122"/>
              </a:rPr>
              <a:t>When A is sending data to B, C cannot sense this activity and hence C is allowed to send data to B at the same time. This will cause a collision at B.</a:t>
            </a:r>
            <a:endParaRPr lang="en-US" altLang="zh-TW">
              <a:ea typeface="PMingLiU" pitchFamily="18" charset="-120"/>
            </a:endParaRPr>
          </a:p>
        </p:txBody>
      </p:sp>
      <p:grpSp>
        <p:nvGrpSpPr>
          <p:cNvPr id="21510" name="Group 20"/>
          <p:cNvGrpSpPr>
            <a:grpSpLocks/>
          </p:cNvGrpSpPr>
          <p:nvPr/>
        </p:nvGrpSpPr>
        <p:grpSpPr bwMode="auto">
          <a:xfrm>
            <a:off x="0" y="990600"/>
            <a:ext cx="4343400" cy="2590800"/>
            <a:chOff x="685800" y="1828800"/>
            <a:chExt cx="3886200" cy="2209800"/>
          </a:xfrm>
        </p:grpSpPr>
        <p:grpSp>
          <p:nvGrpSpPr>
            <p:cNvPr id="21511" name="组合 3"/>
            <p:cNvGrpSpPr>
              <a:grpSpLocks/>
            </p:cNvGrpSpPr>
            <p:nvPr/>
          </p:nvGrpSpPr>
          <p:grpSpPr bwMode="auto">
            <a:xfrm>
              <a:off x="685800" y="1828800"/>
              <a:ext cx="2362200" cy="2209800"/>
              <a:chOff x="1152" y="1152"/>
              <a:chExt cx="1488" cy="1392"/>
            </a:xfrm>
          </p:grpSpPr>
          <p:sp>
            <p:nvSpPr>
              <p:cNvPr id="21522" name="椭圆 4"/>
              <p:cNvSpPr>
                <a:spLocks noChangeArrowheads="1"/>
              </p:cNvSpPr>
              <p:nvPr/>
            </p:nvSpPr>
            <p:spPr bwMode="auto">
              <a:xfrm>
                <a:off x="1152" y="1152"/>
                <a:ext cx="1488" cy="1392"/>
              </a:xfrm>
              <a:prstGeom prst="ellipse">
                <a:avLst/>
              </a:prstGeom>
              <a:noFill/>
              <a:ln w="9525">
                <a:solidFill>
                  <a:schemeClr val="tx1"/>
                </a:solidFill>
                <a:round/>
                <a:headEnd/>
                <a:tailEnd/>
              </a:ln>
            </p:spPr>
            <p:txBody>
              <a:bodyPr wrap="none" lIns="90000" tIns="46800" rIns="90000" bIns="46800" anchor="ctr"/>
              <a:lstStyle/>
              <a:p>
                <a:endParaRPr lang="zh-CN" altLang="en-US">
                  <a:ea typeface="宋体" pitchFamily="2" charset="-122"/>
                </a:endParaRPr>
              </a:p>
            </p:txBody>
          </p:sp>
          <p:sp>
            <p:nvSpPr>
              <p:cNvPr id="21523" name="文本框 5"/>
              <p:cNvSpPr txBox="1">
                <a:spLocks noChangeArrowheads="1"/>
              </p:cNvSpPr>
              <p:nvPr/>
            </p:nvSpPr>
            <p:spPr bwMode="auto">
              <a:xfrm>
                <a:off x="1824" y="1776"/>
                <a:ext cx="172" cy="218"/>
              </a:xfrm>
              <a:prstGeom prst="rect">
                <a:avLst/>
              </a:prstGeom>
              <a:noFill/>
              <a:ln w="9525">
                <a:solidFill>
                  <a:schemeClr val="tx1"/>
                </a:solidFill>
                <a:miter lim="800000"/>
                <a:headEnd/>
                <a:tailEnd/>
              </a:ln>
            </p:spPr>
            <p:txBody>
              <a:bodyPr lIns="90000" tIns="46800" rIns="90000" bIns="46800">
                <a:spAutoFit/>
              </a:bodyPr>
              <a:lstStyle/>
              <a:p>
                <a:pPr algn="ctr">
                  <a:spcBef>
                    <a:spcPct val="50000"/>
                  </a:spcBef>
                </a:pPr>
                <a:r>
                  <a:rPr lang="en-US" altLang="zh-CN" sz="1600">
                    <a:ea typeface="宋体" pitchFamily="2" charset="-122"/>
                  </a:rPr>
                  <a:t>A</a:t>
                </a:r>
                <a:endParaRPr lang="en-US" altLang="zh-TW" sz="1600">
                  <a:ea typeface="PMingLiU" pitchFamily="18" charset="-120"/>
                </a:endParaRPr>
              </a:p>
            </p:txBody>
          </p:sp>
        </p:grpSp>
        <p:grpSp>
          <p:nvGrpSpPr>
            <p:cNvPr id="21512" name="组合 6"/>
            <p:cNvGrpSpPr>
              <a:grpSpLocks/>
            </p:cNvGrpSpPr>
            <p:nvPr/>
          </p:nvGrpSpPr>
          <p:grpSpPr bwMode="auto">
            <a:xfrm>
              <a:off x="1447800" y="1828800"/>
              <a:ext cx="2362200" cy="2209800"/>
              <a:chOff x="1152" y="1152"/>
              <a:chExt cx="1488" cy="1392"/>
            </a:xfrm>
          </p:grpSpPr>
          <p:sp>
            <p:nvSpPr>
              <p:cNvPr id="21520" name="椭圆 7"/>
              <p:cNvSpPr>
                <a:spLocks noChangeArrowheads="1"/>
              </p:cNvSpPr>
              <p:nvPr/>
            </p:nvSpPr>
            <p:spPr bwMode="auto">
              <a:xfrm>
                <a:off x="1152" y="1152"/>
                <a:ext cx="1488" cy="1392"/>
              </a:xfrm>
              <a:prstGeom prst="ellipse">
                <a:avLst/>
              </a:prstGeom>
              <a:noFill/>
              <a:ln w="9525">
                <a:solidFill>
                  <a:schemeClr val="tx1"/>
                </a:solidFill>
                <a:round/>
                <a:headEnd/>
                <a:tailEnd/>
              </a:ln>
            </p:spPr>
            <p:txBody>
              <a:bodyPr wrap="none" lIns="90000" tIns="46800" rIns="90000" bIns="46800" anchor="ctr"/>
              <a:lstStyle/>
              <a:p>
                <a:endParaRPr lang="zh-CN" altLang="en-US">
                  <a:ea typeface="宋体" pitchFamily="2" charset="-122"/>
                </a:endParaRPr>
              </a:p>
            </p:txBody>
          </p:sp>
          <p:sp>
            <p:nvSpPr>
              <p:cNvPr id="21521" name="文本框 8"/>
              <p:cNvSpPr txBox="1">
                <a:spLocks noChangeArrowheads="1"/>
              </p:cNvSpPr>
              <p:nvPr/>
            </p:nvSpPr>
            <p:spPr bwMode="auto">
              <a:xfrm>
                <a:off x="1824" y="1776"/>
                <a:ext cx="172" cy="218"/>
              </a:xfrm>
              <a:prstGeom prst="rect">
                <a:avLst/>
              </a:prstGeom>
              <a:noFill/>
              <a:ln w="9525">
                <a:solidFill>
                  <a:schemeClr val="tx1"/>
                </a:solidFill>
                <a:miter lim="800000"/>
                <a:headEnd/>
                <a:tailEnd/>
              </a:ln>
            </p:spPr>
            <p:txBody>
              <a:bodyPr lIns="90000" tIns="46800" rIns="90000" bIns="46800">
                <a:spAutoFit/>
              </a:bodyPr>
              <a:lstStyle/>
              <a:p>
                <a:pPr algn="ctr">
                  <a:spcBef>
                    <a:spcPct val="50000"/>
                  </a:spcBef>
                </a:pPr>
                <a:r>
                  <a:rPr lang="en-US" altLang="zh-CN" sz="1600">
                    <a:ea typeface="宋体" pitchFamily="2" charset="-122"/>
                  </a:rPr>
                  <a:t>B</a:t>
                </a:r>
                <a:endParaRPr lang="en-US" altLang="zh-TW" sz="1600">
                  <a:ea typeface="PMingLiU" pitchFamily="18" charset="-120"/>
                </a:endParaRPr>
              </a:p>
            </p:txBody>
          </p:sp>
        </p:grpSp>
        <p:grpSp>
          <p:nvGrpSpPr>
            <p:cNvPr id="21513" name="组合 9"/>
            <p:cNvGrpSpPr>
              <a:grpSpLocks/>
            </p:cNvGrpSpPr>
            <p:nvPr/>
          </p:nvGrpSpPr>
          <p:grpSpPr bwMode="auto">
            <a:xfrm>
              <a:off x="2209800" y="1828800"/>
              <a:ext cx="2362200" cy="2209800"/>
              <a:chOff x="1152" y="1152"/>
              <a:chExt cx="1488" cy="1392"/>
            </a:xfrm>
          </p:grpSpPr>
          <p:sp>
            <p:nvSpPr>
              <p:cNvPr id="21518" name="椭圆 10"/>
              <p:cNvSpPr>
                <a:spLocks noChangeArrowheads="1"/>
              </p:cNvSpPr>
              <p:nvPr/>
            </p:nvSpPr>
            <p:spPr bwMode="auto">
              <a:xfrm>
                <a:off x="1152" y="1152"/>
                <a:ext cx="1488" cy="1392"/>
              </a:xfrm>
              <a:prstGeom prst="ellipse">
                <a:avLst/>
              </a:prstGeom>
              <a:noFill/>
              <a:ln w="9525">
                <a:solidFill>
                  <a:schemeClr val="tx1"/>
                </a:solidFill>
                <a:round/>
                <a:headEnd/>
                <a:tailEnd/>
              </a:ln>
            </p:spPr>
            <p:txBody>
              <a:bodyPr wrap="none" lIns="90000" tIns="46800" rIns="90000" bIns="46800" anchor="ctr"/>
              <a:lstStyle/>
              <a:p>
                <a:endParaRPr lang="zh-CN" altLang="en-US">
                  <a:ea typeface="宋体" pitchFamily="2" charset="-122"/>
                </a:endParaRPr>
              </a:p>
            </p:txBody>
          </p:sp>
          <p:sp>
            <p:nvSpPr>
              <p:cNvPr id="21519" name="文本框 11"/>
              <p:cNvSpPr txBox="1">
                <a:spLocks noChangeArrowheads="1"/>
              </p:cNvSpPr>
              <p:nvPr/>
            </p:nvSpPr>
            <p:spPr bwMode="auto">
              <a:xfrm>
                <a:off x="1824" y="1776"/>
                <a:ext cx="172" cy="218"/>
              </a:xfrm>
              <a:prstGeom prst="rect">
                <a:avLst/>
              </a:prstGeom>
              <a:noFill/>
              <a:ln w="9525">
                <a:solidFill>
                  <a:schemeClr val="tx1"/>
                </a:solidFill>
                <a:miter lim="800000"/>
                <a:headEnd/>
                <a:tailEnd/>
              </a:ln>
            </p:spPr>
            <p:txBody>
              <a:bodyPr lIns="90000" tIns="46800" rIns="90000" bIns="46800">
                <a:spAutoFit/>
              </a:bodyPr>
              <a:lstStyle/>
              <a:p>
                <a:pPr algn="ctr">
                  <a:spcBef>
                    <a:spcPct val="50000"/>
                  </a:spcBef>
                </a:pPr>
                <a:r>
                  <a:rPr lang="en-US" altLang="zh-CN" sz="1600">
                    <a:ea typeface="宋体" pitchFamily="2" charset="-122"/>
                  </a:rPr>
                  <a:t>C</a:t>
                </a:r>
                <a:endParaRPr lang="en-US" altLang="zh-TW" sz="1600">
                  <a:ea typeface="PMingLiU" pitchFamily="18" charset="-120"/>
                </a:endParaRPr>
              </a:p>
            </p:txBody>
          </p:sp>
        </p:grpSp>
        <p:sp>
          <p:nvSpPr>
            <p:cNvPr id="21514" name="直线 15"/>
            <p:cNvSpPr>
              <a:spLocks noChangeShapeType="1"/>
            </p:cNvSpPr>
            <p:nvPr/>
          </p:nvSpPr>
          <p:spPr bwMode="auto">
            <a:xfrm>
              <a:off x="2133600" y="2971800"/>
              <a:ext cx="304800" cy="0"/>
            </a:xfrm>
            <a:prstGeom prst="line">
              <a:avLst/>
            </a:prstGeom>
            <a:noFill/>
            <a:ln w="9525">
              <a:solidFill>
                <a:srgbClr val="FF0000"/>
              </a:solidFill>
              <a:round/>
              <a:headEnd/>
              <a:tailEnd type="triangle" w="med" len="med"/>
            </a:ln>
          </p:spPr>
          <p:txBody>
            <a:bodyPr lIns="90000" tIns="46800" rIns="90000" bIns="46800"/>
            <a:lstStyle/>
            <a:p>
              <a:endParaRPr lang="en-US"/>
            </a:p>
          </p:txBody>
        </p:sp>
        <p:sp>
          <p:nvSpPr>
            <p:cNvPr id="21515" name="直线 16"/>
            <p:cNvSpPr>
              <a:spLocks noChangeShapeType="1"/>
            </p:cNvSpPr>
            <p:nvPr/>
          </p:nvSpPr>
          <p:spPr bwMode="auto">
            <a:xfrm flipH="1">
              <a:off x="2873375" y="2971800"/>
              <a:ext cx="304800" cy="0"/>
            </a:xfrm>
            <a:prstGeom prst="line">
              <a:avLst/>
            </a:prstGeom>
            <a:noFill/>
            <a:ln w="9525">
              <a:solidFill>
                <a:srgbClr val="FF0000"/>
              </a:solidFill>
              <a:round/>
              <a:headEnd/>
              <a:tailEnd type="triangle" w="med" len="med"/>
            </a:ln>
          </p:spPr>
          <p:txBody>
            <a:bodyPr lIns="90000" tIns="46800" rIns="90000" bIns="46800"/>
            <a:lstStyle/>
            <a:p>
              <a:endParaRPr lang="en-US"/>
            </a:p>
          </p:txBody>
        </p:sp>
        <p:sp>
          <p:nvSpPr>
            <p:cNvPr id="21516" name="自选图形 17"/>
            <p:cNvSpPr>
              <a:spLocks noChangeArrowheads="1"/>
            </p:cNvSpPr>
            <p:nvPr/>
          </p:nvSpPr>
          <p:spPr bwMode="auto">
            <a:xfrm>
              <a:off x="2590800" y="2667000"/>
              <a:ext cx="228600" cy="228600"/>
            </a:xfrm>
            <a:prstGeom prst="irregularSeal1">
              <a:avLst/>
            </a:prstGeom>
            <a:solidFill>
              <a:srgbClr val="FF0000"/>
            </a:solidFill>
            <a:ln w="9525">
              <a:solidFill>
                <a:schemeClr val="tx1"/>
              </a:solidFill>
              <a:miter lim="800000"/>
              <a:headEnd/>
              <a:tailEnd/>
            </a:ln>
          </p:spPr>
          <p:txBody>
            <a:bodyPr wrap="none" lIns="90000" tIns="46800" rIns="90000" bIns="46800" anchor="ctr"/>
            <a:lstStyle/>
            <a:p>
              <a:endParaRPr lang="zh-CN" altLang="en-US">
                <a:ea typeface="宋体" pitchFamily="2" charset="-122"/>
              </a:endParaRPr>
            </a:p>
          </p:txBody>
        </p:sp>
        <p:sp>
          <p:nvSpPr>
            <p:cNvPr id="21517" name="文本框 18"/>
            <p:cNvSpPr txBox="1">
              <a:spLocks noChangeArrowheads="1"/>
            </p:cNvSpPr>
            <p:nvPr/>
          </p:nvSpPr>
          <p:spPr bwMode="auto">
            <a:xfrm>
              <a:off x="2286000" y="2362200"/>
              <a:ext cx="990600" cy="336550"/>
            </a:xfrm>
            <a:prstGeom prst="rect">
              <a:avLst/>
            </a:prstGeom>
            <a:noFill/>
            <a:ln w="9525">
              <a:noFill/>
              <a:miter lim="800000"/>
              <a:headEnd/>
              <a:tailEnd/>
            </a:ln>
          </p:spPr>
          <p:txBody>
            <a:bodyPr lIns="90000" tIns="46800" rIns="90000" bIns="46800">
              <a:spAutoFit/>
            </a:bodyPr>
            <a:lstStyle/>
            <a:p>
              <a:pPr>
                <a:spcBef>
                  <a:spcPct val="50000"/>
                </a:spcBef>
              </a:pPr>
              <a:r>
                <a:rPr lang="en-US" altLang="zh-CN" sz="1600">
                  <a:ea typeface="宋体" pitchFamily="2" charset="-122"/>
                </a:rPr>
                <a:t>collision</a:t>
              </a:r>
              <a:endParaRPr lang="en-US" altLang="zh-TW" sz="1600">
                <a:ea typeface="PMingLiU" pitchFamily="18" charset="-120"/>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p:cNvSpPr>
            <a:spLocks noGrp="1"/>
          </p:cNvSpPr>
          <p:nvPr>
            <p:ph type="sldNum" sz="quarter" idx="12"/>
          </p:nvPr>
        </p:nvSpPr>
        <p:spPr>
          <a:noFill/>
        </p:spPr>
        <p:txBody>
          <a:bodyPr/>
          <a:lstStyle/>
          <a:p>
            <a:fld id="{F46DE783-15CE-44A4-95F4-EE0B958A536B}" type="slidenum">
              <a:rPr lang="en-US" smtClean="0"/>
              <a:pPr/>
              <a:t>41</a:t>
            </a:fld>
            <a:endParaRPr lang="en-US"/>
          </a:p>
        </p:txBody>
      </p:sp>
      <p:sp>
        <p:nvSpPr>
          <p:cNvPr id="22531" name="TextBox 5"/>
          <p:cNvSpPr txBox="1">
            <a:spLocks noChangeArrowheads="1"/>
          </p:cNvSpPr>
          <p:nvPr/>
        </p:nvSpPr>
        <p:spPr bwMode="auto">
          <a:xfrm>
            <a:off x="0" y="0"/>
            <a:ext cx="8763000" cy="2432050"/>
          </a:xfrm>
          <a:prstGeom prst="rect">
            <a:avLst/>
          </a:prstGeom>
          <a:solidFill>
            <a:srgbClr val="FFFF66"/>
          </a:solidFill>
          <a:ln w="9525">
            <a:noFill/>
            <a:miter lim="800000"/>
            <a:headEnd/>
            <a:tailEnd/>
          </a:ln>
        </p:spPr>
        <p:txBody>
          <a:bodyPr>
            <a:spAutoFit/>
          </a:bodyPr>
          <a:lstStyle/>
          <a:p>
            <a:pPr algn="just">
              <a:buFont typeface="Wingdings" pitchFamily="2" charset="2"/>
              <a:buChar char="v"/>
            </a:pPr>
            <a:r>
              <a:rPr lang="en-US">
                <a:solidFill>
                  <a:schemeClr val="accent2"/>
                </a:solidFill>
              </a:rPr>
              <a:t>Second Problem</a:t>
            </a:r>
            <a:r>
              <a:rPr lang="en-US"/>
              <a:t>: </a:t>
            </a:r>
            <a:r>
              <a:rPr lang="en-US" sz="2800"/>
              <a:t>Multipath propagation (Multipath fading) due to </a:t>
            </a:r>
            <a:r>
              <a:rPr lang="en-US"/>
              <a:t>presence of reflecting and refracting  and scatterers hence cause  multiple versions of the signal arrive at the receiver. </a:t>
            </a:r>
          </a:p>
          <a:p>
            <a:pPr algn="just"/>
            <a:endParaRPr lang="en-US"/>
          </a:p>
          <a:p>
            <a:pPr algn="just"/>
            <a:r>
              <a:rPr lang="en-US"/>
              <a:t>With small variation of distance and time cause wide variation of received signal called </a:t>
            </a:r>
            <a:r>
              <a:rPr lang="en-US" b="1">
                <a:solidFill>
                  <a:srgbClr val="FF0000"/>
                </a:solidFill>
              </a:rPr>
              <a:t>small scale fading</a:t>
            </a:r>
            <a:r>
              <a:rPr lang="en-US"/>
              <a:t> experienced in a dense city. </a:t>
            </a:r>
          </a:p>
        </p:txBody>
      </p:sp>
      <p:pic>
        <p:nvPicPr>
          <p:cNvPr id="22532" name="Picture 4"/>
          <p:cNvPicPr>
            <a:picLocks noChangeAspect="1" noChangeArrowheads="1"/>
          </p:cNvPicPr>
          <p:nvPr/>
        </p:nvPicPr>
        <p:blipFill>
          <a:blip r:embed="rId2"/>
          <a:srcRect/>
          <a:stretch>
            <a:fillRect/>
          </a:stretch>
        </p:blipFill>
        <p:spPr bwMode="auto">
          <a:xfrm>
            <a:off x="914400" y="2819400"/>
            <a:ext cx="6781800" cy="3819525"/>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p:cNvSpPr>
            <a:spLocks noGrp="1"/>
          </p:cNvSpPr>
          <p:nvPr>
            <p:ph type="sldNum" sz="quarter" idx="12"/>
          </p:nvPr>
        </p:nvSpPr>
        <p:spPr>
          <a:noFill/>
        </p:spPr>
        <p:txBody>
          <a:bodyPr/>
          <a:lstStyle/>
          <a:p>
            <a:fld id="{97E3B303-3D7F-4913-97A9-CDD41253E013}" type="slidenum">
              <a:rPr lang="en-US" smtClean="0"/>
              <a:pPr/>
              <a:t>42</a:t>
            </a:fld>
            <a:endParaRPr lang="en-US"/>
          </a:p>
        </p:txBody>
      </p:sp>
      <p:sp>
        <p:nvSpPr>
          <p:cNvPr id="23555" name="Rectangle 2"/>
          <p:cNvSpPr>
            <a:spLocks noGrp="1" noChangeArrowheads="1"/>
          </p:cNvSpPr>
          <p:nvPr>
            <p:ph type="title"/>
          </p:nvPr>
        </p:nvSpPr>
        <p:spPr>
          <a:xfrm>
            <a:off x="3429000" y="1905000"/>
            <a:ext cx="2743200" cy="533400"/>
          </a:xfrm>
          <a:solidFill>
            <a:srgbClr val="99CCFF"/>
          </a:solidFill>
        </p:spPr>
        <p:txBody>
          <a:bodyPr/>
          <a:lstStyle/>
          <a:p>
            <a:pPr eaLnBrk="1" hangingPunct="1"/>
            <a:r>
              <a:rPr lang="en-US" sz="2800" b="1">
                <a:solidFill>
                  <a:schemeClr val="tx1"/>
                </a:solidFill>
              </a:rPr>
              <a:t>Handoff Region</a:t>
            </a:r>
          </a:p>
        </p:txBody>
      </p:sp>
      <p:grpSp>
        <p:nvGrpSpPr>
          <p:cNvPr id="23556" name="Group 44"/>
          <p:cNvGrpSpPr>
            <a:grpSpLocks/>
          </p:cNvGrpSpPr>
          <p:nvPr/>
        </p:nvGrpSpPr>
        <p:grpSpPr bwMode="auto">
          <a:xfrm>
            <a:off x="914400" y="1066800"/>
            <a:ext cx="7620000" cy="4097338"/>
            <a:chOff x="480" y="720"/>
            <a:chExt cx="4800" cy="2581"/>
          </a:xfrm>
        </p:grpSpPr>
        <p:grpSp>
          <p:nvGrpSpPr>
            <p:cNvPr id="23559" name="Group 3"/>
            <p:cNvGrpSpPr>
              <a:grpSpLocks/>
            </p:cNvGrpSpPr>
            <p:nvPr/>
          </p:nvGrpSpPr>
          <p:grpSpPr bwMode="auto">
            <a:xfrm>
              <a:off x="1050" y="1321"/>
              <a:ext cx="3660" cy="1620"/>
              <a:chOff x="1104" y="1372"/>
              <a:chExt cx="3696" cy="1968"/>
            </a:xfrm>
          </p:grpSpPr>
          <p:sp>
            <p:nvSpPr>
              <p:cNvPr id="23597" name="Line 4"/>
              <p:cNvSpPr>
                <a:spLocks noChangeShapeType="1"/>
              </p:cNvSpPr>
              <p:nvPr/>
            </p:nvSpPr>
            <p:spPr bwMode="auto">
              <a:xfrm>
                <a:off x="1104" y="3340"/>
                <a:ext cx="3696" cy="0"/>
              </a:xfrm>
              <a:prstGeom prst="line">
                <a:avLst/>
              </a:prstGeom>
              <a:noFill/>
              <a:ln w="9525">
                <a:solidFill>
                  <a:schemeClr val="tx1"/>
                </a:solidFill>
                <a:round/>
                <a:headEnd/>
                <a:tailEnd/>
              </a:ln>
            </p:spPr>
            <p:txBody>
              <a:bodyPr/>
              <a:lstStyle/>
              <a:p>
                <a:endParaRPr lang="en-US"/>
              </a:p>
            </p:txBody>
          </p:sp>
          <p:sp>
            <p:nvSpPr>
              <p:cNvPr id="23598" name="Freeform 5"/>
              <p:cNvSpPr>
                <a:spLocks/>
              </p:cNvSpPr>
              <p:nvPr/>
            </p:nvSpPr>
            <p:spPr bwMode="auto">
              <a:xfrm>
                <a:off x="1200" y="1372"/>
                <a:ext cx="3456" cy="1968"/>
              </a:xfrm>
              <a:custGeom>
                <a:avLst/>
                <a:gdLst>
                  <a:gd name="T0" fmla="*/ 5203 w 3120"/>
                  <a:gd name="T1" fmla="*/ 0 h 2016"/>
                  <a:gd name="T2" fmla="*/ 4402 w 3120"/>
                  <a:gd name="T3" fmla="*/ 595 h 2016"/>
                  <a:gd name="T4" fmla="*/ 3521 w 3120"/>
                  <a:gd name="T5" fmla="*/ 1021 h 2016"/>
                  <a:gd name="T6" fmla="*/ 2322 w 3120"/>
                  <a:gd name="T7" fmla="*/ 1404 h 2016"/>
                  <a:gd name="T8" fmla="*/ 1039 w 3120"/>
                  <a:gd name="T9" fmla="*/ 1661 h 2016"/>
                  <a:gd name="T10" fmla="*/ 0 w 3120"/>
                  <a:gd name="T11" fmla="*/ 1786 h 2016"/>
                  <a:gd name="T12" fmla="*/ 0 60000 65536"/>
                  <a:gd name="T13" fmla="*/ 0 60000 65536"/>
                  <a:gd name="T14" fmla="*/ 0 60000 65536"/>
                  <a:gd name="T15" fmla="*/ 0 60000 65536"/>
                  <a:gd name="T16" fmla="*/ 0 60000 65536"/>
                  <a:gd name="T17" fmla="*/ 0 60000 65536"/>
                  <a:gd name="T18" fmla="*/ 0 w 3120"/>
                  <a:gd name="T19" fmla="*/ 0 h 2016"/>
                  <a:gd name="T20" fmla="*/ 3120 w 3120"/>
                  <a:gd name="T21" fmla="*/ 2016 h 2016"/>
                </a:gdLst>
                <a:ahLst/>
                <a:cxnLst>
                  <a:cxn ang="T12">
                    <a:pos x="T0" y="T1"/>
                  </a:cxn>
                  <a:cxn ang="T13">
                    <a:pos x="T2" y="T3"/>
                  </a:cxn>
                  <a:cxn ang="T14">
                    <a:pos x="T4" y="T5"/>
                  </a:cxn>
                  <a:cxn ang="T15">
                    <a:pos x="T6" y="T7"/>
                  </a:cxn>
                  <a:cxn ang="T16">
                    <a:pos x="T8" y="T9"/>
                  </a:cxn>
                  <a:cxn ang="T17">
                    <a:pos x="T10" y="T11"/>
                  </a:cxn>
                </a:cxnLst>
                <a:rect l="T18" t="T19" r="T20" b="T21"/>
                <a:pathLst>
                  <a:path w="3120" h="2016">
                    <a:moveTo>
                      <a:pt x="3120" y="0"/>
                    </a:moveTo>
                    <a:cubicBezTo>
                      <a:pt x="2964" y="240"/>
                      <a:pt x="2808" y="480"/>
                      <a:pt x="2640" y="672"/>
                    </a:cubicBezTo>
                    <a:cubicBezTo>
                      <a:pt x="2472" y="864"/>
                      <a:pt x="2320" y="1000"/>
                      <a:pt x="2112" y="1152"/>
                    </a:cubicBezTo>
                    <a:cubicBezTo>
                      <a:pt x="1904" y="1304"/>
                      <a:pt x="1640" y="1464"/>
                      <a:pt x="1392" y="1584"/>
                    </a:cubicBezTo>
                    <a:cubicBezTo>
                      <a:pt x="1144" y="1704"/>
                      <a:pt x="856" y="1800"/>
                      <a:pt x="624" y="1872"/>
                    </a:cubicBezTo>
                    <a:cubicBezTo>
                      <a:pt x="392" y="1944"/>
                      <a:pt x="104" y="1992"/>
                      <a:pt x="0" y="2016"/>
                    </a:cubicBezTo>
                  </a:path>
                </a:pathLst>
              </a:custGeom>
              <a:noFill/>
              <a:ln w="9525">
                <a:solidFill>
                  <a:schemeClr val="tx1"/>
                </a:solidFill>
                <a:round/>
                <a:headEnd/>
                <a:tailEnd/>
              </a:ln>
            </p:spPr>
            <p:txBody>
              <a:bodyPr/>
              <a:lstStyle/>
              <a:p>
                <a:endParaRPr lang="en-US"/>
              </a:p>
            </p:txBody>
          </p:sp>
        </p:grpSp>
        <p:sp>
          <p:nvSpPr>
            <p:cNvPr id="23560" name="Line 6"/>
            <p:cNvSpPr>
              <a:spLocks noChangeShapeType="1"/>
            </p:cNvSpPr>
            <p:nvPr/>
          </p:nvSpPr>
          <p:spPr bwMode="auto">
            <a:xfrm flipV="1">
              <a:off x="1050" y="1115"/>
              <a:ext cx="0" cy="1818"/>
            </a:xfrm>
            <a:prstGeom prst="line">
              <a:avLst/>
            </a:prstGeom>
            <a:noFill/>
            <a:ln w="9525">
              <a:solidFill>
                <a:schemeClr val="tx1"/>
              </a:solidFill>
              <a:round/>
              <a:headEnd/>
              <a:tailEnd type="triangle" w="sm" len="lg"/>
            </a:ln>
          </p:spPr>
          <p:txBody>
            <a:bodyPr/>
            <a:lstStyle/>
            <a:p>
              <a:endParaRPr lang="en-US"/>
            </a:p>
          </p:txBody>
        </p:sp>
        <p:sp>
          <p:nvSpPr>
            <p:cNvPr id="23561" name="Line 7"/>
            <p:cNvSpPr>
              <a:spLocks noChangeShapeType="1"/>
            </p:cNvSpPr>
            <p:nvPr/>
          </p:nvSpPr>
          <p:spPr bwMode="auto">
            <a:xfrm flipV="1">
              <a:off x="4710" y="1115"/>
              <a:ext cx="0" cy="1818"/>
            </a:xfrm>
            <a:prstGeom prst="line">
              <a:avLst/>
            </a:prstGeom>
            <a:noFill/>
            <a:ln w="9525">
              <a:solidFill>
                <a:schemeClr val="tx1"/>
              </a:solidFill>
              <a:round/>
              <a:headEnd/>
              <a:tailEnd type="triangle" w="sm" len="lg"/>
            </a:ln>
          </p:spPr>
          <p:txBody>
            <a:bodyPr/>
            <a:lstStyle/>
            <a:p>
              <a:endParaRPr lang="en-US"/>
            </a:p>
          </p:txBody>
        </p:sp>
        <p:sp>
          <p:nvSpPr>
            <p:cNvPr id="23562" name="Line 8"/>
            <p:cNvSpPr>
              <a:spLocks noChangeShapeType="1"/>
            </p:cNvSpPr>
            <p:nvPr/>
          </p:nvSpPr>
          <p:spPr bwMode="auto">
            <a:xfrm flipV="1">
              <a:off x="2856" y="2538"/>
              <a:ext cx="0" cy="395"/>
            </a:xfrm>
            <a:prstGeom prst="line">
              <a:avLst/>
            </a:prstGeom>
            <a:noFill/>
            <a:ln w="9525">
              <a:solidFill>
                <a:schemeClr val="tx1"/>
              </a:solidFill>
              <a:prstDash val="dash"/>
              <a:round/>
              <a:headEnd/>
              <a:tailEnd/>
            </a:ln>
          </p:spPr>
          <p:txBody>
            <a:bodyPr/>
            <a:lstStyle/>
            <a:p>
              <a:endParaRPr lang="en-US"/>
            </a:p>
          </p:txBody>
        </p:sp>
        <p:sp>
          <p:nvSpPr>
            <p:cNvPr id="23563" name="Freeform 9"/>
            <p:cNvSpPr>
              <a:spLocks/>
            </p:cNvSpPr>
            <p:nvPr/>
          </p:nvSpPr>
          <p:spPr bwMode="auto">
            <a:xfrm>
              <a:off x="1145" y="1313"/>
              <a:ext cx="3375" cy="1620"/>
            </a:xfrm>
            <a:custGeom>
              <a:avLst/>
              <a:gdLst>
                <a:gd name="T0" fmla="*/ 0 w 3168"/>
                <a:gd name="T1" fmla="*/ 0 h 1968"/>
                <a:gd name="T2" fmla="*/ 592 w 3168"/>
                <a:gd name="T3" fmla="*/ 235 h 1968"/>
                <a:gd name="T4" fmla="*/ 1910 w 3168"/>
                <a:gd name="T5" fmla="*/ 508 h 1968"/>
                <a:gd name="T6" fmla="*/ 3294 w 3168"/>
                <a:gd name="T7" fmla="*/ 671 h 1968"/>
                <a:gd name="T8" fmla="*/ 4348 w 3168"/>
                <a:gd name="T9" fmla="*/ 744 h 1968"/>
                <a:gd name="T10" fmla="*/ 0 60000 65536"/>
                <a:gd name="T11" fmla="*/ 0 60000 65536"/>
                <a:gd name="T12" fmla="*/ 0 60000 65536"/>
                <a:gd name="T13" fmla="*/ 0 60000 65536"/>
                <a:gd name="T14" fmla="*/ 0 60000 65536"/>
                <a:gd name="T15" fmla="*/ 0 w 3168"/>
                <a:gd name="T16" fmla="*/ 0 h 1968"/>
                <a:gd name="T17" fmla="*/ 3168 w 3168"/>
                <a:gd name="T18" fmla="*/ 1968 h 1968"/>
              </a:gdLst>
              <a:ahLst/>
              <a:cxnLst>
                <a:cxn ang="T10">
                  <a:pos x="T0" y="T1"/>
                </a:cxn>
                <a:cxn ang="T11">
                  <a:pos x="T2" y="T3"/>
                </a:cxn>
                <a:cxn ang="T12">
                  <a:pos x="T4" y="T5"/>
                </a:cxn>
                <a:cxn ang="T13">
                  <a:pos x="T6" y="T7"/>
                </a:cxn>
                <a:cxn ang="T14">
                  <a:pos x="T8" y="T9"/>
                </a:cxn>
              </a:cxnLst>
              <a:rect l="T15" t="T16" r="T17" b="T18"/>
              <a:pathLst>
                <a:path w="3168" h="1968">
                  <a:moveTo>
                    <a:pt x="0" y="0"/>
                  </a:moveTo>
                  <a:cubicBezTo>
                    <a:pt x="100" y="200"/>
                    <a:pt x="200" y="400"/>
                    <a:pt x="432" y="624"/>
                  </a:cubicBezTo>
                  <a:cubicBezTo>
                    <a:pt x="664" y="848"/>
                    <a:pt x="1064" y="1152"/>
                    <a:pt x="1392" y="1344"/>
                  </a:cubicBezTo>
                  <a:cubicBezTo>
                    <a:pt x="1720" y="1536"/>
                    <a:pt x="2104" y="1672"/>
                    <a:pt x="2400" y="1776"/>
                  </a:cubicBezTo>
                  <a:cubicBezTo>
                    <a:pt x="2696" y="1880"/>
                    <a:pt x="2932" y="1924"/>
                    <a:pt x="3168" y="1968"/>
                  </a:cubicBezTo>
                </a:path>
              </a:pathLst>
            </a:custGeom>
            <a:noFill/>
            <a:ln w="9525">
              <a:solidFill>
                <a:schemeClr val="tx1"/>
              </a:solidFill>
              <a:round/>
              <a:headEnd/>
              <a:tailEnd/>
            </a:ln>
          </p:spPr>
          <p:txBody>
            <a:bodyPr/>
            <a:lstStyle/>
            <a:p>
              <a:endParaRPr lang="en-US"/>
            </a:p>
          </p:txBody>
        </p:sp>
        <p:sp>
          <p:nvSpPr>
            <p:cNvPr id="23564" name="Line 10"/>
            <p:cNvSpPr>
              <a:spLocks noChangeShapeType="1"/>
            </p:cNvSpPr>
            <p:nvPr/>
          </p:nvSpPr>
          <p:spPr bwMode="auto">
            <a:xfrm flipV="1">
              <a:off x="3284" y="2340"/>
              <a:ext cx="0" cy="316"/>
            </a:xfrm>
            <a:prstGeom prst="line">
              <a:avLst/>
            </a:prstGeom>
            <a:noFill/>
            <a:ln w="9525">
              <a:solidFill>
                <a:schemeClr val="tx1"/>
              </a:solidFill>
              <a:round/>
              <a:headEnd type="triangle" w="sm" len="lg"/>
              <a:tailEnd type="triangle" w="sm" len="lg"/>
            </a:ln>
          </p:spPr>
          <p:txBody>
            <a:bodyPr/>
            <a:lstStyle/>
            <a:p>
              <a:endParaRPr lang="en-US"/>
            </a:p>
          </p:txBody>
        </p:sp>
        <p:sp>
          <p:nvSpPr>
            <p:cNvPr id="23565" name="Line 11"/>
            <p:cNvSpPr>
              <a:spLocks noChangeShapeType="1"/>
            </p:cNvSpPr>
            <p:nvPr/>
          </p:nvSpPr>
          <p:spPr bwMode="auto">
            <a:xfrm>
              <a:off x="3284" y="2617"/>
              <a:ext cx="0" cy="316"/>
            </a:xfrm>
            <a:prstGeom prst="line">
              <a:avLst/>
            </a:prstGeom>
            <a:noFill/>
            <a:ln w="9525">
              <a:solidFill>
                <a:schemeClr val="tx1"/>
              </a:solidFill>
              <a:prstDash val="dash"/>
              <a:round/>
              <a:headEnd/>
              <a:tailEnd/>
            </a:ln>
          </p:spPr>
          <p:txBody>
            <a:bodyPr/>
            <a:lstStyle/>
            <a:p>
              <a:endParaRPr lang="en-US"/>
            </a:p>
          </p:txBody>
        </p:sp>
        <p:sp>
          <p:nvSpPr>
            <p:cNvPr id="23566" name="Line 12"/>
            <p:cNvSpPr>
              <a:spLocks noChangeShapeType="1"/>
            </p:cNvSpPr>
            <p:nvPr/>
          </p:nvSpPr>
          <p:spPr bwMode="auto">
            <a:xfrm flipH="1">
              <a:off x="1050" y="2814"/>
              <a:ext cx="3375" cy="0"/>
            </a:xfrm>
            <a:prstGeom prst="line">
              <a:avLst/>
            </a:prstGeom>
            <a:noFill/>
            <a:ln w="9525">
              <a:solidFill>
                <a:schemeClr val="tx1"/>
              </a:solidFill>
              <a:prstDash val="dash"/>
              <a:round/>
              <a:headEnd/>
              <a:tailEnd/>
            </a:ln>
          </p:spPr>
          <p:txBody>
            <a:bodyPr/>
            <a:lstStyle/>
            <a:p>
              <a:endParaRPr lang="en-US"/>
            </a:p>
          </p:txBody>
        </p:sp>
        <p:sp>
          <p:nvSpPr>
            <p:cNvPr id="23567" name="Line 13"/>
            <p:cNvSpPr>
              <a:spLocks noChangeShapeType="1"/>
            </p:cNvSpPr>
            <p:nvPr/>
          </p:nvSpPr>
          <p:spPr bwMode="auto">
            <a:xfrm flipV="1">
              <a:off x="1240" y="2933"/>
              <a:ext cx="0" cy="118"/>
            </a:xfrm>
            <a:prstGeom prst="line">
              <a:avLst/>
            </a:prstGeom>
            <a:noFill/>
            <a:ln w="9525">
              <a:solidFill>
                <a:schemeClr val="tx1"/>
              </a:solidFill>
              <a:round/>
              <a:headEnd/>
              <a:tailEnd type="triangle" w="med" len="med"/>
            </a:ln>
          </p:spPr>
          <p:txBody>
            <a:bodyPr/>
            <a:lstStyle/>
            <a:p>
              <a:endParaRPr lang="en-US"/>
            </a:p>
          </p:txBody>
        </p:sp>
        <p:sp>
          <p:nvSpPr>
            <p:cNvPr id="23568" name="Line 14"/>
            <p:cNvSpPr>
              <a:spLocks noChangeShapeType="1"/>
            </p:cNvSpPr>
            <p:nvPr/>
          </p:nvSpPr>
          <p:spPr bwMode="auto">
            <a:xfrm>
              <a:off x="1858" y="2814"/>
              <a:ext cx="0" cy="119"/>
            </a:xfrm>
            <a:prstGeom prst="line">
              <a:avLst/>
            </a:prstGeom>
            <a:noFill/>
            <a:ln w="9525">
              <a:solidFill>
                <a:schemeClr val="tx1"/>
              </a:solidFill>
              <a:prstDash val="dash"/>
              <a:round/>
              <a:headEnd/>
              <a:tailEnd/>
            </a:ln>
          </p:spPr>
          <p:txBody>
            <a:bodyPr/>
            <a:lstStyle/>
            <a:p>
              <a:endParaRPr lang="en-US"/>
            </a:p>
          </p:txBody>
        </p:sp>
        <p:sp>
          <p:nvSpPr>
            <p:cNvPr id="23569" name="Line 15"/>
            <p:cNvSpPr>
              <a:spLocks noChangeShapeType="1"/>
            </p:cNvSpPr>
            <p:nvPr/>
          </p:nvSpPr>
          <p:spPr bwMode="auto">
            <a:xfrm>
              <a:off x="3854" y="2814"/>
              <a:ext cx="0" cy="119"/>
            </a:xfrm>
            <a:prstGeom prst="line">
              <a:avLst/>
            </a:prstGeom>
            <a:noFill/>
            <a:ln w="9525">
              <a:solidFill>
                <a:schemeClr val="tx1"/>
              </a:solidFill>
              <a:prstDash val="dash"/>
              <a:round/>
              <a:headEnd/>
              <a:tailEnd/>
            </a:ln>
          </p:spPr>
          <p:txBody>
            <a:bodyPr/>
            <a:lstStyle/>
            <a:p>
              <a:endParaRPr lang="en-US"/>
            </a:p>
          </p:txBody>
        </p:sp>
        <p:sp>
          <p:nvSpPr>
            <p:cNvPr id="23570" name="Text Box 16"/>
            <p:cNvSpPr txBox="1">
              <a:spLocks noChangeArrowheads="1"/>
            </p:cNvSpPr>
            <p:nvPr/>
          </p:nvSpPr>
          <p:spPr bwMode="auto">
            <a:xfrm>
              <a:off x="813" y="2925"/>
              <a:ext cx="380" cy="250"/>
            </a:xfrm>
            <a:prstGeom prst="rect">
              <a:avLst/>
            </a:prstGeom>
            <a:noFill/>
            <a:ln w="9525">
              <a:noFill/>
              <a:miter lim="800000"/>
              <a:headEnd/>
              <a:tailEnd/>
            </a:ln>
          </p:spPr>
          <p:txBody>
            <a:bodyPr>
              <a:spAutoFit/>
            </a:bodyPr>
            <a:lstStyle/>
            <a:p>
              <a:pPr algn="r" eaLnBrk="0" hangingPunct="0"/>
              <a:r>
                <a:rPr lang="en-US" sz="2000" b="1"/>
                <a:t>BS</a:t>
              </a:r>
              <a:r>
                <a:rPr lang="en-US" sz="2000" b="1" baseline="-25000"/>
                <a:t>i</a:t>
              </a:r>
            </a:p>
          </p:txBody>
        </p:sp>
        <p:sp>
          <p:nvSpPr>
            <p:cNvPr id="23571" name="Text Box 17"/>
            <p:cNvSpPr txBox="1">
              <a:spLocks noChangeArrowheads="1"/>
            </p:cNvSpPr>
            <p:nvPr/>
          </p:nvSpPr>
          <p:spPr bwMode="auto">
            <a:xfrm>
              <a:off x="4139" y="720"/>
              <a:ext cx="1141" cy="634"/>
            </a:xfrm>
            <a:prstGeom prst="rect">
              <a:avLst/>
            </a:prstGeom>
            <a:noFill/>
            <a:ln w="9525">
              <a:noFill/>
              <a:miter lim="800000"/>
              <a:headEnd/>
              <a:tailEnd/>
            </a:ln>
          </p:spPr>
          <p:txBody>
            <a:bodyPr>
              <a:spAutoFit/>
            </a:bodyPr>
            <a:lstStyle/>
            <a:p>
              <a:pPr algn="ctr" eaLnBrk="0" hangingPunct="0"/>
              <a:r>
                <a:rPr lang="en-US" sz="2000" b="1"/>
                <a:t>Signal strength due to BS</a:t>
              </a:r>
              <a:r>
                <a:rPr lang="en-US" sz="2000" b="1" baseline="-25000"/>
                <a:t>j</a:t>
              </a:r>
              <a:endParaRPr lang="en-US" sz="2000" b="1"/>
            </a:p>
          </p:txBody>
        </p:sp>
        <p:sp>
          <p:nvSpPr>
            <p:cNvPr id="23572" name="Text Box 18"/>
            <p:cNvSpPr txBox="1">
              <a:spLocks noChangeArrowheads="1"/>
            </p:cNvSpPr>
            <p:nvPr/>
          </p:nvSpPr>
          <p:spPr bwMode="auto">
            <a:xfrm>
              <a:off x="3284" y="2404"/>
              <a:ext cx="190" cy="231"/>
            </a:xfrm>
            <a:prstGeom prst="rect">
              <a:avLst/>
            </a:prstGeom>
            <a:noFill/>
            <a:ln w="9525">
              <a:noFill/>
              <a:miter lim="800000"/>
              <a:headEnd/>
              <a:tailEnd/>
            </a:ln>
          </p:spPr>
          <p:txBody>
            <a:bodyPr>
              <a:spAutoFit/>
            </a:bodyPr>
            <a:lstStyle/>
            <a:p>
              <a:pPr eaLnBrk="0" hangingPunct="0"/>
              <a:r>
                <a:rPr lang="en-US" sz="1800" b="1"/>
                <a:t>E</a:t>
              </a:r>
            </a:p>
          </p:txBody>
        </p:sp>
        <p:sp>
          <p:nvSpPr>
            <p:cNvPr id="23573" name="Text Box 19"/>
            <p:cNvSpPr txBox="1">
              <a:spLocks noChangeArrowheads="1"/>
            </p:cNvSpPr>
            <p:nvPr/>
          </p:nvSpPr>
          <p:spPr bwMode="auto">
            <a:xfrm>
              <a:off x="1145" y="3051"/>
              <a:ext cx="285" cy="250"/>
            </a:xfrm>
            <a:prstGeom prst="rect">
              <a:avLst/>
            </a:prstGeom>
            <a:noFill/>
            <a:ln w="9525">
              <a:noFill/>
              <a:miter lim="800000"/>
              <a:headEnd/>
              <a:tailEnd/>
            </a:ln>
          </p:spPr>
          <p:txBody>
            <a:bodyPr>
              <a:spAutoFit/>
            </a:bodyPr>
            <a:lstStyle/>
            <a:p>
              <a:pPr eaLnBrk="0" hangingPunct="0"/>
              <a:r>
                <a:rPr lang="en-US" sz="2000" b="1"/>
                <a:t>X</a:t>
              </a:r>
              <a:r>
                <a:rPr lang="en-US" sz="2000" b="1" baseline="-25000"/>
                <a:t>1</a:t>
              </a:r>
            </a:p>
          </p:txBody>
        </p:sp>
        <p:sp>
          <p:nvSpPr>
            <p:cNvPr id="23574" name="Text Box 20"/>
            <p:cNvSpPr txBox="1">
              <a:spLocks noChangeArrowheads="1"/>
            </p:cNvSpPr>
            <p:nvPr/>
          </p:nvSpPr>
          <p:spPr bwMode="auto">
            <a:xfrm>
              <a:off x="480" y="720"/>
              <a:ext cx="1141" cy="634"/>
            </a:xfrm>
            <a:prstGeom prst="rect">
              <a:avLst/>
            </a:prstGeom>
            <a:noFill/>
            <a:ln w="9525">
              <a:noFill/>
              <a:miter lim="800000"/>
              <a:headEnd/>
              <a:tailEnd/>
            </a:ln>
          </p:spPr>
          <p:txBody>
            <a:bodyPr>
              <a:spAutoFit/>
            </a:bodyPr>
            <a:lstStyle/>
            <a:p>
              <a:pPr algn="ctr" eaLnBrk="0" hangingPunct="0"/>
              <a:r>
                <a:rPr lang="en-US" sz="2000" b="1"/>
                <a:t>Signal strength due to BS</a:t>
              </a:r>
              <a:r>
                <a:rPr lang="en-US" sz="2000" b="1" baseline="-25000"/>
                <a:t>i</a:t>
              </a:r>
              <a:endParaRPr lang="en-US" sz="2000" b="1"/>
            </a:p>
          </p:txBody>
        </p:sp>
        <p:sp>
          <p:nvSpPr>
            <p:cNvPr id="23575" name="Text Box 21"/>
            <p:cNvSpPr txBox="1">
              <a:spLocks noChangeArrowheads="1"/>
            </p:cNvSpPr>
            <p:nvPr/>
          </p:nvSpPr>
          <p:spPr bwMode="auto">
            <a:xfrm>
              <a:off x="4567" y="2933"/>
              <a:ext cx="380" cy="250"/>
            </a:xfrm>
            <a:prstGeom prst="rect">
              <a:avLst/>
            </a:prstGeom>
            <a:noFill/>
            <a:ln w="9525">
              <a:noFill/>
              <a:miter lim="800000"/>
              <a:headEnd/>
              <a:tailEnd/>
            </a:ln>
          </p:spPr>
          <p:txBody>
            <a:bodyPr>
              <a:spAutoFit/>
            </a:bodyPr>
            <a:lstStyle/>
            <a:p>
              <a:pPr eaLnBrk="0" hangingPunct="0"/>
              <a:r>
                <a:rPr lang="en-US" sz="2000" b="1"/>
                <a:t>BS</a:t>
              </a:r>
              <a:r>
                <a:rPr lang="en-US" sz="2000" b="1" baseline="-25000"/>
                <a:t>j</a:t>
              </a:r>
            </a:p>
          </p:txBody>
        </p:sp>
        <p:sp>
          <p:nvSpPr>
            <p:cNvPr id="23576" name="Line 22"/>
            <p:cNvSpPr>
              <a:spLocks noChangeShapeType="1"/>
            </p:cNvSpPr>
            <p:nvPr/>
          </p:nvSpPr>
          <p:spPr bwMode="auto">
            <a:xfrm flipV="1">
              <a:off x="1858" y="2933"/>
              <a:ext cx="0" cy="118"/>
            </a:xfrm>
            <a:prstGeom prst="line">
              <a:avLst/>
            </a:prstGeom>
            <a:noFill/>
            <a:ln w="9525">
              <a:solidFill>
                <a:schemeClr val="tx1"/>
              </a:solidFill>
              <a:round/>
              <a:headEnd/>
              <a:tailEnd type="triangle" w="med" len="med"/>
            </a:ln>
          </p:spPr>
          <p:txBody>
            <a:bodyPr/>
            <a:lstStyle/>
            <a:p>
              <a:endParaRPr lang="en-US"/>
            </a:p>
          </p:txBody>
        </p:sp>
        <p:sp>
          <p:nvSpPr>
            <p:cNvPr id="23577" name="Text Box 23"/>
            <p:cNvSpPr txBox="1">
              <a:spLocks noChangeArrowheads="1"/>
            </p:cNvSpPr>
            <p:nvPr/>
          </p:nvSpPr>
          <p:spPr bwMode="auto">
            <a:xfrm>
              <a:off x="1763" y="3051"/>
              <a:ext cx="285" cy="250"/>
            </a:xfrm>
            <a:prstGeom prst="rect">
              <a:avLst/>
            </a:prstGeom>
            <a:noFill/>
            <a:ln w="9525">
              <a:noFill/>
              <a:miter lim="800000"/>
              <a:headEnd/>
              <a:tailEnd/>
            </a:ln>
          </p:spPr>
          <p:txBody>
            <a:bodyPr>
              <a:spAutoFit/>
            </a:bodyPr>
            <a:lstStyle/>
            <a:p>
              <a:pPr eaLnBrk="0" hangingPunct="0"/>
              <a:r>
                <a:rPr lang="en-US" sz="2000" b="1"/>
                <a:t>X</a:t>
              </a:r>
              <a:r>
                <a:rPr lang="en-US" sz="2000" b="1" baseline="-25000"/>
                <a:t>3</a:t>
              </a:r>
            </a:p>
          </p:txBody>
        </p:sp>
        <p:sp>
          <p:nvSpPr>
            <p:cNvPr id="23578" name="Line 24"/>
            <p:cNvSpPr>
              <a:spLocks noChangeShapeType="1"/>
            </p:cNvSpPr>
            <p:nvPr/>
          </p:nvSpPr>
          <p:spPr bwMode="auto">
            <a:xfrm flipV="1">
              <a:off x="3854" y="2933"/>
              <a:ext cx="0" cy="118"/>
            </a:xfrm>
            <a:prstGeom prst="line">
              <a:avLst/>
            </a:prstGeom>
            <a:noFill/>
            <a:ln w="9525">
              <a:solidFill>
                <a:schemeClr val="tx1"/>
              </a:solidFill>
              <a:round/>
              <a:headEnd/>
              <a:tailEnd type="triangle" w="med" len="med"/>
            </a:ln>
          </p:spPr>
          <p:txBody>
            <a:bodyPr/>
            <a:lstStyle/>
            <a:p>
              <a:endParaRPr lang="en-US"/>
            </a:p>
          </p:txBody>
        </p:sp>
        <p:sp>
          <p:nvSpPr>
            <p:cNvPr id="23579" name="Text Box 25"/>
            <p:cNvSpPr txBox="1">
              <a:spLocks noChangeArrowheads="1"/>
            </p:cNvSpPr>
            <p:nvPr/>
          </p:nvSpPr>
          <p:spPr bwMode="auto">
            <a:xfrm>
              <a:off x="3759" y="3051"/>
              <a:ext cx="285" cy="250"/>
            </a:xfrm>
            <a:prstGeom prst="rect">
              <a:avLst/>
            </a:prstGeom>
            <a:noFill/>
            <a:ln w="9525">
              <a:noFill/>
              <a:miter lim="800000"/>
              <a:headEnd/>
              <a:tailEnd/>
            </a:ln>
          </p:spPr>
          <p:txBody>
            <a:bodyPr>
              <a:spAutoFit/>
            </a:bodyPr>
            <a:lstStyle/>
            <a:p>
              <a:pPr eaLnBrk="0" hangingPunct="0"/>
              <a:r>
                <a:rPr lang="en-US" sz="2000" b="1"/>
                <a:t>X</a:t>
              </a:r>
              <a:r>
                <a:rPr lang="en-US" sz="2000" b="1" baseline="-25000"/>
                <a:t>4</a:t>
              </a:r>
            </a:p>
          </p:txBody>
        </p:sp>
        <p:sp>
          <p:nvSpPr>
            <p:cNvPr id="23580" name="Line 26"/>
            <p:cNvSpPr>
              <a:spLocks noChangeShapeType="1"/>
            </p:cNvSpPr>
            <p:nvPr/>
          </p:nvSpPr>
          <p:spPr bwMode="auto">
            <a:xfrm flipV="1">
              <a:off x="4520" y="2933"/>
              <a:ext cx="0" cy="118"/>
            </a:xfrm>
            <a:prstGeom prst="line">
              <a:avLst/>
            </a:prstGeom>
            <a:noFill/>
            <a:ln w="9525">
              <a:solidFill>
                <a:schemeClr val="tx1"/>
              </a:solidFill>
              <a:round/>
              <a:headEnd/>
              <a:tailEnd type="triangle" w="med" len="med"/>
            </a:ln>
          </p:spPr>
          <p:txBody>
            <a:bodyPr/>
            <a:lstStyle/>
            <a:p>
              <a:endParaRPr lang="en-US"/>
            </a:p>
          </p:txBody>
        </p:sp>
        <p:sp>
          <p:nvSpPr>
            <p:cNvPr id="23581" name="Text Box 27"/>
            <p:cNvSpPr txBox="1">
              <a:spLocks noChangeArrowheads="1"/>
            </p:cNvSpPr>
            <p:nvPr/>
          </p:nvSpPr>
          <p:spPr bwMode="auto">
            <a:xfrm>
              <a:off x="4425" y="3051"/>
              <a:ext cx="285" cy="250"/>
            </a:xfrm>
            <a:prstGeom prst="rect">
              <a:avLst/>
            </a:prstGeom>
            <a:noFill/>
            <a:ln w="9525">
              <a:noFill/>
              <a:miter lim="800000"/>
              <a:headEnd/>
              <a:tailEnd/>
            </a:ln>
          </p:spPr>
          <p:txBody>
            <a:bodyPr>
              <a:spAutoFit/>
            </a:bodyPr>
            <a:lstStyle/>
            <a:p>
              <a:pPr eaLnBrk="0" hangingPunct="0"/>
              <a:r>
                <a:rPr lang="en-US" sz="2000" b="1"/>
                <a:t>X</a:t>
              </a:r>
              <a:r>
                <a:rPr lang="en-US" sz="2000" b="1" baseline="-25000"/>
                <a:t>2</a:t>
              </a:r>
            </a:p>
          </p:txBody>
        </p:sp>
        <p:sp>
          <p:nvSpPr>
            <p:cNvPr id="23582" name="Line 28"/>
            <p:cNvSpPr>
              <a:spLocks noChangeShapeType="1"/>
            </p:cNvSpPr>
            <p:nvPr/>
          </p:nvSpPr>
          <p:spPr bwMode="auto">
            <a:xfrm flipV="1">
              <a:off x="2856" y="2933"/>
              <a:ext cx="0" cy="118"/>
            </a:xfrm>
            <a:prstGeom prst="line">
              <a:avLst/>
            </a:prstGeom>
            <a:noFill/>
            <a:ln w="9525">
              <a:solidFill>
                <a:schemeClr val="tx1"/>
              </a:solidFill>
              <a:round/>
              <a:headEnd/>
              <a:tailEnd type="triangle" w="med" len="med"/>
            </a:ln>
          </p:spPr>
          <p:txBody>
            <a:bodyPr/>
            <a:lstStyle/>
            <a:p>
              <a:endParaRPr lang="en-US"/>
            </a:p>
          </p:txBody>
        </p:sp>
        <p:sp>
          <p:nvSpPr>
            <p:cNvPr id="23583" name="Text Box 29"/>
            <p:cNvSpPr txBox="1">
              <a:spLocks noChangeArrowheads="1"/>
            </p:cNvSpPr>
            <p:nvPr/>
          </p:nvSpPr>
          <p:spPr bwMode="auto">
            <a:xfrm>
              <a:off x="2761" y="3051"/>
              <a:ext cx="285" cy="250"/>
            </a:xfrm>
            <a:prstGeom prst="rect">
              <a:avLst/>
            </a:prstGeom>
            <a:noFill/>
            <a:ln w="9525">
              <a:noFill/>
              <a:miter lim="800000"/>
              <a:headEnd/>
              <a:tailEnd/>
            </a:ln>
          </p:spPr>
          <p:txBody>
            <a:bodyPr>
              <a:spAutoFit/>
            </a:bodyPr>
            <a:lstStyle/>
            <a:p>
              <a:pPr eaLnBrk="0" hangingPunct="0"/>
              <a:r>
                <a:rPr lang="en-US" sz="2000" b="1"/>
                <a:t>X</a:t>
              </a:r>
              <a:r>
                <a:rPr lang="en-US" sz="2000" b="1" baseline="-25000"/>
                <a:t>5</a:t>
              </a:r>
            </a:p>
          </p:txBody>
        </p:sp>
        <p:sp>
          <p:nvSpPr>
            <p:cNvPr id="23584" name="Line 30"/>
            <p:cNvSpPr>
              <a:spLocks noChangeShapeType="1"/>
            </p:cNvSpPr>
            <p:nvPr/>
          </p:nvSpPr>
          <p:spPr bwMode="auto">
            <a:xfrm flipV="1">
              <a:off x="3284" y="2933"/>
              <a:ext cx="0" cy="118"/>
            </a:xfrm>
            <a:prstGeom prst="line">
              <a:avLst/>
            </a:prstGeom>
            <a:noFill/>
            <a:ln w="9525">
              <a:solidFill>
                <a:schemeClr val="tx1"/>
              </a:solidFill>
              <a:round/>
              <a:headEnd/>
              <a:tailEnd type="triangle" w="med" len="med"/>
            </a:ln>
          </p:spPr>
          <p:txBody>
            <a:bodyPr/>
            <a:lstStyle/>
            <a:p>
              <a:endParaRPr lang="en-US"/>
            </a:p>
          </p:txBody>
        </p:sp>
        <p:sp>
          <p:nvSpPr>
            <p:cNvPr id="23585" name="Text Box 31"/>
            <p:cNvSpPr txBox="1">
              <a:spLocks noChangeArrowheads="1"/>
            </p:cNvSpPr>
            <p:nvPr/>
          </p:nvSpPr>
          <p:spPr bwMode="auto">
            <a:xfrm>
              <a:off x="3189" y="3051"/>
              <a:ext cx="380" cy="250"/>
            </a:xfrm>
            <a:prstGeom prst="rect">
              <a:avLst/>
            </a:prstGeom>
            <a:noFill/>
            <a:ln w="9525">
              <a:noFill/>
              <a:miter lim="800000"/>
              <a:headEnd/>
              <a:tailEnd/>
            </a:ln>
          </p:spPr>
          <p:txBody>
            <a:bodyPr>
              <a:spAutoFit/>
            </a:bodyPr>
            <a:lstStyle/>
            <a:p>
              <a:pPr eaLnBrk="0" hangingPunct="0"/>
              <a:r>
                <a:rPr lang="en-US" sz="2000" b="1"/>
                <a:t>X</a:t>
              </a:r>
              <a:r>
                <a:rPr lang="en-US" sz="2000" b="1" baseline="-25000"/>
                <a:t>th</a:t>
              </a:r>
            </a:p>
          </p:txBody>
        </p:sp>
        <p:grpSp>
          <p:nvGrpSpPr>
            <p:cNvPr id="23586" name="Group 32"/>
            <p:cNvGrpSpPr>
              <a:grpSpLocks/>
            </p:cNvGrpSpPr>
            <p:nvPr/>
          </p:nvGrpSpPr>
          <p:grpSpPr bwMode="auto">
            <a:xfrm rot="77045">
              <a:off x="2191" y="2743"/>
              <a:ext cx="322" cy="180"/>
              <a:chOff x="1008" y="3744"/>
              <a:chExt cx="912" cy="480"/>
            </a:xfrm>
          </p:grpSpPr>
          <p:sp>
            <p:nvSpPr>
              <p:cNvPr id="23591" name="Freeform 33"/>
              <p:cNvSpPr>
                <a:spLocks/>
              </p:cNvSpPr>
              <p:nvPr/>
            </p:nvSpPr>
            <p:spPr bwMode="auto">
              <a:xfrm>
                <a:off x="1008" y="3888"/>
                <a:ext cx="912" cy="240"/>
              </a:xfrm>
              <a:custGeom>
                <a:avLst/>
                <a:gdLst>
                  <a:gd name="T0" fmla="*/ 0 w 912"/>
                  <a:gd name="T1" fmla="*/ 192 h 240"/>
                  <a:gd name="T2" fmla="*/ 96 w 912"/>
                  <a:gd name="T3" fmla="*/ 0 h 240"/>
                  <a:gd name="T4" fmla="*/ 576 w 912"/>
                  <a:gd name="T5" fmla="*/ 0 h 240"/>
                  <a:gd name="T6" fmla="*/ 672 w 912"/>
                  <a:gd name="T7" fmla="*/ 144 h 240"/>
                  <a:gd name="T8" fmla="*/ 864 w 912"/>
                  <a:gd name="T9" fmla="*/ 144 h 240"/>
                  <a:gd name="T10" fmla="*/ 912 w 912"/>
                  <a:gd name="T11" fmla="*/ 240 h 240"/>
                  <a:gd name="T12" fmla="*/ 48 w 912"/>
                  <a:gd name="T13" fmla="*/ 240 h 240"/>
                  <a:gd name="T14" fmla="*/ 0 w 912"/>
                  <a:gd name="T15" fmla="*/ 192 h 240"/>
                  <a:gd name="T16" fmla="*/ 0 60000 65536"/>
                  <a:gd name="T17" fmla="*/ 0 60000 65536"/>
                  <a:gd name="T18" fmla="*/ 0 60000 65536"/>
                  <a:gd name="T19" fmla="*/ 0 60000 65536"/>
                  <a:gd name="T20" fmla="*/ 0 60000 65536"/>
                  <a:gd name="T21" fmla="*/ 0 60000 65536"/>
                  <a:gd name="T22" fmla="*/ 0 60000 65536"/>
                  <a:gd name="T23" fmla="*/ 0 60000 65536"/>
                  <a:gd name="T24" fmla="*/ 0 w 912"/>
                  <a:gd name="T25" fmla="*/ 0 h 240"/>
                  <a:gd name="T26" fmla="*/ 912 w 912"/>
                  <a:gd name="T27" fmla="*/ 240 h 2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12" h="240">
                    <a:moveTo>
                      <a:pt x="0" y="192"/>
                    </a:moveTo>
                    <a:lnTo>
                      <a:pt x="96" y="0"/>
                    </a:lnTo>
                    <a:lnTo>
                      <a:pt x="576" y="0"/>
                    </a:lnTo>
                    <a:lnTo>
                      <a:pt x="672" y="144"/>
                    </a:lnTo>
                    <a:lnTo>
                      <a:pt x="864" y="144"/>
                    </a:lnTo>
                    <a:lnTo>
                      <a:pt x="912" y="240"/>
                    </a:lnTo>
                    <a:lnTo>
                      <a:pt x="48" y="240"/>
                    </a:lnTo>
                    <a:lnTo>
                      <a:pt x="0" y="192"/>
                    </a:lnTo>
                    <a:close/>
                  </a:path>
                </a:pathLst>
              </a:custGeom>
              <a:solidFill>
                <a:schemeClr val="accent1"/>
              </a:solidFill>
              <a:ln w="9525">
                <a:solidFill>
                  <a:schemeClr val="tx1"/>
                </a:solidFill>
                <a:round/>
                <a:headEnd/>
                <a:tailEnd/>
              </a:ln>
            </p:spPr>
            <p:txBody>
              <a:bodyPr/>
              <a:lstStyle/>
              <a:p>
                <a:endParaRPr lang="en-US"/>
              </a:p>
            </p:txBody>
          </p:sp>
          <p:sp>
            <p:nvSpPr>
              <p:cNvPr id="23592" name="Oval 34"/>
              <p:cNvSpPr>
                <a:spLocks noChangeArrowheads="1"/>
              </p:cNvSpPr>
              <p:nvPr/>
            </p:nvSpPr>
            <p:spPr bwMode="auto">
              <a:xfrm>
                <a:off x="1104" y="4080"/>
                <a:ext cx="144" cy="144"/>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3593" name="Oval 35"/>
              <p:cNvSpPr>
                <a:spLocks noChangeArrowheads="1"/>
              </p:cNvSpPr>
              <p:nvPr/>
            </p:nvSpPr>
            <p:spPr bwMode="auto">
              <a:xfrm>
                <a:off x="1728" y="4080"/>
                <a:ext cx="144" cy="144"/>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3594" name="Oval 36"/>
              <p:cNvSpPr>
                <a:spLocks noChangeArrowheads="1"/>
              </p:cNvSpPr>
              <p:nvPr/>
            </p:nvSpPr>
            <p:spPr bwMode="auto">
              <a:xfrm flipV="1">
                <a:off x="1152" y="4128"/>
                <a:ext cx="48" cy="48"/>
              </a:xfrm>
              <a:prstGeom prst="ellipse">
                <a:avLst/>
              </a:prstGeom>
              <a:solidFill>
                <a:schemeClr val="bg1"/>
              </a:solidFill>
              <a:ln w="9525">
                <a:solidFill>
                  <a:schemeClr val="tx1"/>
                </a:solidFill>
                <a:round/>
                <a:headEnd/>
                <a:tailEnd/>
              </a:ln>
            </p:spPr>
            <p:txBody>
              <a:bodyPr wrap="none" anchor="ctr"/>
              <a:lstStyle/>
              <a:p>
                <a:endParaRPr lang="en-US"/>
              </a:p>
            </p:txBody>
          </p:sp>
          <p:sp>
            <p:nvSpPr>
              <p:cNvPr id="23595" name="Oval 37"/>
              <p:cNvSpPr>
                <a:spLocks noChangeArrowheads="1"/>
              </p:cNvSpPr>
              <p:nvPr/>
            </p:nvSpPr>
            <p:spPr bwMode="auto">
              <a:xfrm flipV="1">
                <a:off x="1776" y="4128"/>
                <a:ext cx="48" cy="48"/>
              </a:xfrm>
              <a:prstGeom prst="ellipse">
                <a:avLst/>
              </a:prstGeom>
              <a:solidFill>
                <a:schemeClr val="bg1"/>
              </a:solidFill>
              <a:ln w="9525">
                <a:solidFill>
                  <a:schemeClr val="tx1"/>
                </a:solidFill>
                <a:round/>
                <a:headEnd/>
                <a:tailEnd/>
              </a:ln>
            </p:spPr>
            <p:txBody>
              <a:bodyPr wrap="none" anchor="ctr"/>
              <a:lstStyle/>
              <a:p>
                <a:endParaRPr lang="en-US"/>
              </a:p>
            </p:txBody>
          </p:sp>
          <p:sp>
            <p:nvSpPr>
              <p:cNvPr id="23596" name="Line 38"/>
              <p:cNvSpPr>
                <a:spLocks noChangeShapeType="1"/>
              </p:cNvSpPr>
              <p:nvPr/>
            </p:nvSpPr>
            <p:spPr bwMode="auto">
              <a:xfrm flipV="1">
                <a:off x="1344" y="3744"/>
                <a:ext cx="0" cy="144"/>
              </a:xfrm>
              <a:prstGeom prst="line">
                <a:avLst/>
              </a:prstGeom>
              <a:noFill/>
              <a:ln w="9525">
                <a:solidFill>
                  <a:schemeClr val="tx1"/>
                </a:solidFill>
                <a:round/>
                <a:headEnd/>
                <a:tailEnd/>
              </a:ln>
            </p:spPr>
            <p:txBody>
              <a:bodyPr/>
              <a:lstStyle/>
              <a:p>
                <a:endParaRPr lang="en-US"/>
              </a:p>
            </p:txBody>
          </p:sp>
        </p:grpSp>
        <p:sp>
          <p:nvSpPr>
            <p:cNvPr id="23587" name="Text Box 39"/>
            <p:cNvSpPr txBox="1">
              <a:spLocks noChangeArrowheads="1"/>
            </p:cNvSpPr>
            <p:nvPr/>
          </p:nvSpPr>
          <p:spPr bwMode="auto">
            <a:xfrm>
              <a:off x="2160" y="2933"/>
              <a:ext cx="432" cy="250"/>
            </a:xfrm>
            <a:prstGeom prst="rect">
              <a:avLst/>
            </a:prstGeom>
            <a:noFill/>
            <a:ln w="9525">
              <a:noFill/>
              <a:miter lim="800000"/>
              <a:headEnd/>
              <a:tailEnd/>
            </a:ln>
          </p:spPr>
          <p:txBody>
            <a:bodyPr>
              <a:spAutoFit/>
            </a:bodyPr>
            <a:lstStyle/>
            <a:p>
              <a:pPr algn="ctr">
                <a:spcBef>
                  <a:spcPct val="50000"/>
                </a:spcBef>
              </a:pPr>
              <a:r>
                <a:rPr lang="en-US" sz="2000" b="1"/>
                <a:t>MS</a:t>
              </a:r>
            </a:p>
          </p:txBody>
        </p:sp>
        <p:sp>
          <p:nvSpPr>
            <p:cNvPr id="23588" name="Text Box 40"/>
            <p:cNvSpPr txBox="1">
              <a:spLocks noChangeArrowheads="1"/>
            </p:cNvSpPr>
            <p:nvPr/>
          </p:nvSpPr>
          <p:spPr bwMode="auto">
            <a:xfrm>
              <a:off x="672" y="2696"/>
              <a:ext cx="426" cy="250"/>
            </a:xfrm>
            <a:prstGeom prst="rect">
              <a:avLst/>
            </a:prstGeom>
            <a:noFill/>
            <a:ln w="9525">
              <a:noFill/>
              <a:miter lim="800000"/>
              <a:headEnd/>
              <a:tailEnd/>
            </a:ln>
          </p:spPr>
          <p:txBody>
            <a:bodyPr>
              <a:spAutoFit/>
            </a:bodyPr>
            <a:lstStyle/>
            <a:p>
              <a:pPr eaLnBrk="0" hangingPunct="0"/>
              <a:r>
                <a:rPr lang="en-US" sz="2000" b="1"/>
                <a:t>P</a:t>
              </a:r>
              <a:r>
                <a:rPr lang="en-US" sz="2000" b="1" baseline="-25000"/>
                <a:t>min</a:t>
              </a:r>
            </a:p>
          </p:txBody>
        </p:sp>
        <p:sp>
          <p:nvSpPr>
            <p:cNvPr id="23589" name="Text Box 41"/>
            <p:cNvSpPr txBox="1">
              <a:spLocks noChangeArrowheads="1"/>
            </p:cNvSpPr>
            <p:nvPr/>
          </p:nvSpPr>
          <p:spPr bwMode="auto">
            <a:xfrm>
              <a:off x="1573" y="1574"/>
              <a:ext cx="635" cy="250"/>
            </a:xfrm>
            <a:prstGeom prst="rect">
              <a:avLst/>
            </a:prstGeom>
            <a:noFill/>
            <a:ln w="9525">
              <a:noFill/>
              <a:miter lim="800000"/>
              <a:headEnd/>
              <a:tailEnd/>
            </a:ln>
          </p:spPr>
          <p:txBody>
            <a:bodyPr>
              <a:spAutoFit/>
            </a:bodyPr>
            <a:lstStyle/>
            <a:p>
              <a:pPr>
                <a:spcBef>
                  <a:spcPct val="50000"/>
                </a:spcBef>
              </a:pPr>
              <a:r>
                <a:rPr lang="en-US" sz="2000" b="1"/>
                <a:t>P</a:t>
              </a:r>
              <a:r>
                <a:rPr lang="en-US" sz="2000" b="1" baseline="-25000"/>
                <a:t>i</a:t>
              </a:r>
              <a:r>
                <a:rPr lang="en-US" sz="2000" b="1"/>
                <a:t>(x)</a:t>
              </a:r>
            </a:p>
          </p:txBody>
        </p:sp>
        <p:sp>
          <p:nvSpPr>
            <p:cNvPr id="23590" name="Text Box 42"/>
            <p:cNvSpPr txBox="1">
              <a:spLocks noChangeArrowheads="1"/>
            </p:cNvSpPr>
            <p:nvPr/>
          </p:nvSpPr>
          <p:spPr bwMode="auto">
            <a:xfrm>
              <a:off x="3759" y="1567"/>
              <a:ext cx="609" cy="250"/>
            </a:xfrm>
            <a:prstGeom prst="rect">
              <a:avLst/>
            </a:prstGeom>
            <a:noFill/>
            <a:ln w="9525">
              <a:noFill/>
              <a:miter lim="800000"/>
              <a:headEnd/>
              <a:tailEnd/>
            </a:ln>
          </p:spPr>
          <p:txBody>
            <a:bodyPr>
              <a:spAutoFit/>
            </a:bodyPr>
            <a:lstStyle/>
            <a:p>
              <a:pPr>
                <a:spcBef>
                  <a:spcPct val="50000"/>
                </a:spcBef>
              </a:pPr>
              <a:r>
                <a:rPr lang="en-US" sz="2000" b="1"/>
                <a:t>P</a:t>
              </a:r>
              <a:r>
                <a:rPr lang="en-US" sz="2000" b="1" baseline="-25000"/>
                <a:t>j</a:t>
              </a:r>
              <a:r>
                <a:rPr lang="en-US" sz="2000" b="1"/>
                <a:t>(x)</a:t>
              </a:r>
            </a:p>
          </p:txBody>
        </p:sp>
      </p:grpSp>
      <p:sp>
        <p:nvSpPr>
          <p:cNvPr id="23557" name="Text Box 43"/>
          <p:cNvSpPr txBox="1">
            <a:spLocks noChangeArrowheads="1"/>
          </p:cNvSpPr>
          <p:nvPr/>
        </p:nvSpPr>
        <p:spPr bwMode="auto">
          <a:xfrm>
            <a:off x="381000" y="5546725"/>
            <a:ext cx="8153400" cy="707886"/>
          </a:xfrm>
          <a:prstGeom prst="rect">
            <a:avLst/>
          </a:prstGeom>
          <a:solidFill>
            <a:srgbClr val="00FFFF"/>
          </a:solidFill>
          <a:ln w="9525">
            <a:noFill/>
            <a:miter lim="800000"/>
            <a:headEnd/>
            <a:tailEnd/>
          </a:ln>
        </p:spPr>
        <p:txBody>
          <a:bodyPr wrap="square">
            <a:spAutoFit/>
          </a:bodyPr>
          <a:lstStyle/>
          <a:p>
            <a:pPr algn="just">
              <a:spcBef>
                <a:spcPct val="50000"/>
              </a:spcBef>
            </a:pPr>
            <a:r>
              <a:rPr lang="en-US" sz="2000" b="1" dirty="0"/>
              <a:t>By looking at the variation of signal strength from either base station it is  possible to decide on the optimum area where handoff can take place.</a:t>
            </a:r>
          </a:p>
        </p:txBody>
      </p:sp>
      <p:sp>
        <p:nvSpPr>
          <p:cNvPr id="23558" name="Rectangle 45"/>
          <p:cNvSpPr>
            <a:spLocks noChangeArrowheads="1"/>
          </p:cNvSpPr>
          <p:nvPr/>
        </p:nvSpPr>
        <p:spPr bwMode="auto">
          <a:xfrm>
            <a:off x="304800" y="0"/>
            <a:ext cx="8610600" cy="461963"/>
          </a:xfrm>
          <a:prstGeom prst="rect">
            <a:avLst/>
          </a:prstGeom>
          <a:solidFill>
            <a:srgbClr val="FFFF00"/>
          </a:solidFill>
          <a:ln w="9525">
            <a:noFill/>
            <a:miter lim="800000"/>
            <a:headEnd/>
            <a:tailEnd/>
          </a:ln>
        </p:spPr>
        <p:txBody>
          <a:bodyPr>
            <a:spAutoFit/>
          </a:bodyPr>
          <a:lstStyle/>
          <a:p>
            <a:pPr algn="just">
              <a:spcBef>
                <a:spcPct val="50000"/>
              </a:spcBef>
              <a:buFont typeface="Wingdings" pitchFamily="2" charset="2"/>
              <a:buChar char="v"/>
            </a:pPr>
            <a:r>
              <a:rPr lang="en-US">
                <a:solidFill>
                  <a:schemeClr val="accent2"/>
                </a:solidFill>
              </a:rPr>
              <a:t>Third Problem</a:t>
            </a:r>
            <a:r>
              <a:rPr lang="en-US"/>
              <a:t>: Handoff is necessary like mobile communications</a:t>
            </a:r>
          </a:p>
        </p:txBody>
      </p:sp>
    </p:spTree>
  </p:cSld>
  <p:clrMapOvr>
    <a:masterClrMapping/>
  </p:clrMapOvr>
  <p:transition spd="med">
    <p:plus/>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3"/>
          <p:cNvSpPr>
            <a:spLocks noGrp="1"/>
          </p:cNvSpPr>
          <p:nvPr>
            <p:ph type="sldNum" sz="quarter" idx="12"/>
          </p:nvPr>
        </p:nvSpPr>
        <p:spPr>
          <a:noFill/>
        </p:spPr>
        <p:txBody>
          <a:bodyPr/>
          <a:lstStyle/>
          <a:p>
            <a:fld id="{5769EA76-510B-49FB-9D8B-F9BC1822E9E5}" type="slidenum">
              <a:rPr lang="en-US" smtClean="0"/>
              <a:pPr/>
              <a:t>43</a:t>
            </a:fld>
            <a:endParaRPr lang="en-US"/>
          </a:p>
        </p:txBody>
      </p:sp>
      <p:sp>
        <p:nvSpPr>
          <p:cNvPr id="24579" name="Text Box 2"/>
          <p:cNvSpPr txBox="1">
            <a:spLocks noChangeArrowheads="1"/>
          </p:cNvSpPr>
          <p:nvPr/>
        </p:nvSpPr>
        <p:spPr bwMode="auto">
          <a:xfrm>
            <a:off x="0" y="1447800"/>
            <a:ext cx="8915400" cy="1938338"/>
          </a:xfrm>
          <a:prstGeom prst="rect">
            <a:avLst/>
          </a:prstGeom>
          <a:solidFill>
            <a:srgbClr val="FFFF66"/>
          </a:solidFill>
          <a:ln w="9525">
            <a:noFill/>
            <a:miter lim="800000"/>
            <a:headEnd/>
            <a:tailEnd/>
          </a:ln>
        </p:spPr>
        <p:txBody>
          <a:bodyPr>
            <a:spAutoFit/>
          </a:bodyPr>
          <a:lstStyle/>
          <a:p>
            <a:pPr algn="just">
              <a:spcBef>
                <a:spcPct val="50000"/>
              </a:spcBef>
              <a:buFont typeface="Wingdings" pitchFamily="2" charset="2"/>
              <a:buChar char="v"/>
            </a:pPr>
            <a:r>
              <a:rPr lang="en-US">
                <a:solidFill>
                  <a:schemeClr val="accent2"/>
                </a:solidFill>
              </a:rPr>
              <a:t>Fourth Problem</a:t>
            </a:r>
            <a:r>
              <a:rPr lang="en-US"/>
              <a:t>: Some times software is not aware of mobility. For example many word processors have a list of printers that users can choose to print a file. When the computer on which the word processor runs is taken into a new environment, the built-in list of printer becomes invalid.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p:cNvSpPr>
            <a:spLocks noGrp="1"/>
          </p:cNvSpPr>
          <p:nvPr>
            <p:ph type="sldNum" sz="quarter" idx="12"/>
          </p:nvPr>
        </p:nvSpPr>
        <p:spPr>
          <a:noFill/>
        </p:spPr>
        <p:txBody>
          <a:bodyPr/>
          <a:lstStyle/>
          <a:p>
            <a:fld id="{46762A87-5CF1-4498-A183-8889109122E3}" type="slidenum">
              <a:rPr lang="en-US" smtClean="0"/>
              <a:pPr/>
              <a:t>44</a:t>
            </a:fld>
            <a:endParaRPr lang="en-US"/>
          </a:p>
        </p:txBody>
      </p:sp>
      <p:sp>
        <p:nvSpPr>
          <p:cNvPr id="34819" name="Text Box 2"/>
          <p:cNvSpPr txBox="1">
            <a:spLocks noChangeArrowheads="1"/>
          </p:cNvSpPr>
          <p:nvPr/>
        </p:nvSpPr>
        <p:spPr bwMode="auto">
          <a:xfrm>
            <a:off x="533400" y="228600"/>
            <a:ext cx="5867400" cy="646331"/>
          </a:xfrm>
          <a:prstGeom prst="rect">
            <a:avLst/>
          </a:prstGeom>
          <a:solidFill>
            <a:srgbClr val="FF99FF"/>
          </a:solidFill>
          <a:ln w="9525">
            <a:noFill/>
            <a:miter lim="800000"/>
            <a:headEnd/>
            <a:tailEnd/>
          </a:ln>
        </p:spPr>
        <p:txBody>
          <a:bodyPr wrap="square">
            <a:spAutoFit/>
          </a:bodyPr>
          <a:lstStyle/>
          <a:p>
            <a:pPr>
              <a:spcBef>
                <a:spcPct val="50000"/>
              </a:spcBef>
            </a:pPr>
            <a:r>
              <a:rPr lang="en-US" sz="3600" b="1">
                <a:solidFill>
                  <a:schemeClr val="accent2"/>
                </a:solidFill>
              </a:rPr>
              <a:t>Wireless LAN requirements:</a:t>
            </a:r>
          </a:p>
        </p:txBody>
      </p:sp>
      <p:sp>
        <p:nvSpPr>
          <p:cNvPr id="34820" name="Text Box 3"/>
          <p:cNvSpPr txBox="1">
            <a:spLocks noChangeArrowheads="1"/>
          </p:cNvSpPr>
          <p:nvPr/>
        </p:nvSpPr>
        <p:spPr bwMode="auto">
          <a:xfrm>
            <a:off x="685800" y="1600200"/>
            <a:ext cx="5334000" cy="4291013"/>
          </a:xfrm>
          <a:prstGeom prst="rect">
            <a:avLst/>
          </a:prstGeom>
          <a:solidFill>
            <a:srgbClr val="FFFF66"/>
          </a:solidFill>
          <a:ln w="9525">
            <a:noFill/>
            <a:miter lim="800000"/>
            <a:headEnd/>
            <a:tailEnd/>
          </a:ln>
        </p:spPr>
        <p:txBody>
          <a:bodyPr>
            <a:spAutoFit/>
          </a:bodyPr>
          <a:lstStyle/>
          <a:p>
            <a:pPr>
              <a:spcBef>
                <a:spcPct val="50000"/>
              </a:spcBef>
              <a:buFont typeface="Wingdings" pitchFamily="2" charset="2"/>
              <a:buChar char="v"/>
            </a:pPr>
            <a:r>
              <a:rPr lang="en-US" dirty="0"/>
              <a:t>Throughput</a:t>
            </a:r>
          </a:p>
          <a:p>
            <a:pPr>
              <a:spcBef>
                <a:spcPct val="50000"/>
              </a:spcBef>
              <a:buFont typeface="Wingdings" pitchFamily="2" charset="2"/>
              <a:buChar char="v"/>
            </a:pPr>
            <a:r>
              <a:rPr lang="en-US" dirty="0"/>
              <a:t>Number of nodes</a:t>
            </a:r>
          </a:p>
          <a:p>
            <a:pPr>
              <a:spcBef>
                <a:spcPct val="50000"/>
              </a:spcBef>
              <a:buFont typeface="Wingdings" pitchFamily="2" charset="2"/>
              <a:buChar char="v"/>
            </a:pPr>
            <a:r>
              <a:rPr lang="en-US" dirty="0"/>
              <a:t>Connection to backbone LAN</a:t>
            </a:r>
          </a:p>
          <a:p>
            <a:pPr>
              <a:spcBef>
                <a:spcPct val="50000"/>
              </a:spcBef>
              <a:buFont typeface="Wingdings" pitchFamily="2" charset="2"/>
              <a:buChar char="v"/>
            </a:pPr>
            <a:r>
              <a:rPr lang="en-US" dirty="0"/>
              <a:t>Battery power consumption</a:t>
            </a:r>
          </a:p>
          <a:p>
            <a:pPr>
              <a:spcBef>
                <a:spcPct val="50000"/>
              </a:spcBef>
              <a:buFont typeface="Wingdings" pitchFamily="2" charset="2"/>
              <a:buChar char="v"/>
            </a:pPr>
            <a:r>
              <a:rPr lang="en-US" dirty="0"/>
              <a:t>Transmission robustness and security</a:t>
            </a:r>
          </a:p>
          <a:p>
            <a:pPr>
              <a:spcBef>
                <a:spcPct val="50000"/>
              </a:spcBef>
              <a:buFont typeface="Wingdings" pitchFamily="2" charset="2"/>
              <a:buChar char="v"/>
            </a:pPr>
            <a:r>
              <a:rPr lang="en-US" dirty="0"/>
              <a:t>License free operation</a:t>
            </a:r>
          </a:p>
          <a:p>
            <a:pPr>
              <a:spcBef>
                <a:spcPct val="50000"/>
              </a:spcBef>
              <a:buFont typeface="Wingdings" pitchFamily="2" charset="2"/>
              <a:buChar char="v"/>
            </a:pPr>
            <a:r>
              <a:rPr lang="en-US" dirty="0"/>
              <a:t>Handoff/roaming</a:t>
            </a:r>
          </a:p>
          <a:p>
            <a:pPr>
              <a:spcBef>
                <a:spcPct val="50000"/>
              </a:spcBef>
              <a:buFont typeface="Wingdings" pitchFamily="2" charset="2"/>
              <a:buChar char="v"/>
            </a:pPr>
            <a:r>
              <a:rPr lang="en-US" dirty="0"/>
              <a:t>Dynamic Configuration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4"/>
          <p:cNvSpPr>
            <a:spLocks noGrp="1"/>
          </p:cNvSpPr>
          <p:nvPr>
            <p:ph type="sldNum" sz="quarter" idx="12"/>
          </p:nvPr>
        </p:nvSpPr>
        <p:spPr>
          <a:noFill/>
        </p:spPr>
        <p:txBody>
          <a:bodyPr/>
          <a:lstStyle/>
          <a:p>
            <a:fld id="{F414A69B-A747-4E74-8299-3B23B2036AD4}" type="slidenum">
              <a:rPr lang="en-US" smtClean="0"/>
              <a:pPr/>
              <a:t>45</a:t>
            </a:fld>
            <a:endParaRPr lang="en-US"/>
          </a:p>
        </p:txBody>
      </p:sp>
      <p:sp>
        <p:nvSpPr>
          <p:cNvPr id="25603" name="Text Box 2"/>
          <p:cNvSpPr txBox="1">
            <a:spLocks noChangeArrowheads="1"/>
          </p:cNvSpPr>
          <p:nvPr/>
        </p:nvSpPr>
        <p:spPr bwMode="auto">
          <a:xfrm>
            <a:off x="457200" y="2743200"/>
            <a:ext cx="8458200" cy="3231654"/>
          </a:xfrm>
          <a:prstGeom prst="rect">
            <a:avLst/>
          </a:prstGeom>
          <a:solidFill>
            <a:srgbClr val="FFFFCC"/>
          </a:solidFill>
          <a:ln w="9525">
            <a:noFill/>
            <a:miter lim="800000"/>
            <a:headEnd/>
            <a:tailEnd/>
          </a:ln>
        </p:spPr>
        <p:txBody>
          <a:bodyPr>
            <a:spAutoFit/>
          </a:bodyPr>
          <a:lstStyle/>
          <a:p>
            <a:pPr algn="justLow">
              <a:spcBef>
                <a:spcPct val="50000"/>
              </a:spcBef>
            </a:pPr>
            <a:r>
              <a:rPr lang="en-US" dirty="0"/>
              <a:t>Wireless LAN technologies can be classified into five types: </a:t>
            </a:r>
          </a:p>
          <a:p>
            <a:pPr algn="justLow">
              <a:spcBef>
                <a:spcPct val="50000"/>
              </a:spcBef>
              <a:buFont typeface="Wingdings" pitchFamily="2" charset="2"/>
              <a:buChar char="v"/>
            </a:pPr>
            <a:r>
              <a:rPr lang="en-US" dirty="0"/>
              <a:t>Infrared/</a:t>
            </a:r>
            <a:r>
              <a:rPr lang="en-US" dirty="0" err="1"/>
              <a:t>LiFi</a:t>
            </a:r>
            <a:endParaRPr lang="en-US" dirty="0"/>
          </a:p>
          <a:p>
            <a:pPr algn="justLow">
              <a:spcBef>
                <a:spcPct val="50000"/>
              </a:spcBef>
              <a:buFont typeface="Wingdings" pitchFamily="2" charset="2"/>
              <a:buChar char="v"/>
            </a:pPr>
            <a:r>
              <a:rPr lang="en-US" dirty="0"/>
              <a:t>Narrowband RF</a:t>
            </a:r>
          </a:p>
          <a:p>
            <a:pPr algn="justLow">
              <a:spcBef>
                <a:spcPct val="50000"/>
              </a:spcBef>
              <a:buFont typeface="Wingdings" pitchFamily="2" charset="2"/>
              <a:buChar char="v"/>
            </a:pPr>
            <a:r>
              <a:rPr lang="en-US" dirty="0"/>
              <a:t>Spread-spectrum</a:t>
            </a:r>
          </a:p>
          <a:p>
            <a:pPr algn="justLow">
              <a:spcBef>
                <a:spcPct val="50000"/>
              </a:spcBef>
              <a:buFont typeface="Wingdings" pitchFamily="2" charset="2"/>
              <a:buChar char="v"/>
            </a:pPr>
            <a:r>
              <a:rPr lang="en-US" dirty="0"/>
              <a:t>OFDMA/MIMO</a:t>
            </a:r>
          </a:p>
          <a:p>
            <a:pPr algn="justLow">
              <a:spcBef>
                <a:spcPct val="50000"/>
              </a:spcBef>
              <a:buFont typeface="Wingdings" pitchFamily="2" charset="2"/>
              <a:buChar char="v"/>
            </a:pPr>
            <a:r>
              <a:rPr lang="en-US" dirty="0"/>
              <a:t>Mobile Ad-hoc network (network without access point)</a:t>
            </a:r>
          </a:p>
        </p:txBody>
      </p:sp>
      <p:sp>
        <p:nvSpPr>
          <p:cNvPr id="25604" name="Text Box 3"/>
          <p:cNvSpPr txBox="1">
            <a:spLocks noChangeArrowheads="1"/>
          </p:cNvSpPr>
          <p:nvPr/>
        </p:nvSpPr>
        <p:spPr bwMode="auto">
          <a:xfrm>
            <a:off x="0" y="0"/>
            <a:ext cx="6172200" cy="2308324"/>
          </a:xfrm>
          <a:prstGeom prst="rect">
            <a:avLst/>
          </a:prstGeom>
          <a:solidFill>
            <a:srgbClr val="FF99FF"/>
          </a:solidFill>
          <a:ln w="9525">
            <a:noFill/>
            <a:miter lim="800000"/>
            <a:headEnd/>
            <a:tailEnd/>
          </a:ln>
        </p:spPr>
        <p:txBody>
          <a:bodyPr wrap="square">
            <a:spAutoFit/>
          </a:bodyPr>
          <a:lstStyle/>
          <a:p>
            <a:pPr>
              <a:spcBef>
                <a:spcPct val="50000"/>
              </a:spcBef>
            </a:pPr>
            <a:r>
              <a:rPr lang="en-US" sz="7200" b="1">
                <a:solidFill>
                  <a:schemeClr val="accent2"/>
                </a:solidFill>
              </a:rPr>
              <a:t>Wireless LAN Technologies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p:cNvSpPr>
            <a:spLocks noGrp="1"/>
          </p:cNvSpPr>
          <p:nvPr>
            <p:ph type="sldNum" sz="quarter" idx="12"/>
          </p:nvPr>
        </p:nvSpPr>
        <p:spPr>
          <a:noFill/>
        </p:spPr>
        <p:txBody>
          <a:bodyPr/>
          <a:lstStyle/>
          <a:p>
            <a:fld id="{17DB7F51-2155-42E5-8E33-A98236D0F2BE}" type="slidenum">
              <a:rPr lang="en-US" smtClean="0"/>
              <a:pPr/>
              <a:t>46</a:t>
            </a:fld>
            <a:endParaRPr lang="en-US"/>
          </a:p>
        </p:txBody>
      </p:sp>
      <p:sp>
        <p:nvSpPr>
          <p:cNvPr id="26627" name="Text Box 2"/>
          <p:cNvSpPr txBox="1">
            <a:spLocks noChangeArrowheads="1"/>
          </p:cNvSpPr>
          <p:nvPr/>
        </p:nvSpPr>
        <p:spPr bwMode="auto">
          <a:xfrm>
            <a:off x="228600" y="1600200"/>
            <a:ext cx="8534400" cy="3970318"/>
          </a:xfrm>
          <a:prstGeom prst="rect">
            <a:avLst/>
          </a:prstGeom>
          <a:solidFill>
            <a:srgbClr val="FFFFCC"/>
          </a:solidFill>
          <a:ln w="9525">
            <a:noFill/>
            <a:miter lim="800000"/>
            <a:headEnd/>
            <a:tailEnd/>
          </a:ln>
        </p:spPr>
        <p:txBody>
          <a:bodyPr>
            <a:spAutoFit/>
          </a:bodyPr>
          <a:lstStyle/>
          <a:p>
            <a:pPr algn="just">
              <a:spcBef>
                <a:spcPct val="50000"/>
              </a:spcBef>
              <a:buFont typeface="Wingdings" pitchFamily="2" charset="2"/>
              <a:buChar char="ü"/>
            </a:pPr>
            <a:r>
              <a:rPr lang="en-US" dirty="0"/>
              <a:t>Each </a:t>
            </a:r>
            <a:r>
              <a:rPr lang="en-US" dirty="0">
                <a:solidFill>
                  <a:schemeClr val="accent2"/>
                </a:solidFill>
              </a:rPr>
              <a:t>signal-covering cell </a:t>
            </a:r>
            <a:r>
              <a:rPr lang="en-US" dirty="0"/>
              <a:t>in an infrared LAN is limited to one room. Coverage is small, since the infrared rays cannot penetrate through wall and other opaque obstacles. </a:t>
            </a:r>
          </a:p>
          <a:p>
            <a:pPr algn="just">
              <a:spcBef>
                <a:spcPct val="50000"/>
              </a:spcBef>
              <a:buFont typeface="Wingdings" pitchFamily="2" charset="2"/>
              <a:buChar char="ü"/>
            </a:pPr>
            <a:r>
              <a:rPr lang="en-US" dirty="0"/>
              <a:t>Three alternative transmission techniques are used for infrared data transmission: </a:t>
            </a:r>
            <a:r>
              <a:rPr lang="en-US" b="1" dirty="0">
                <a:solidFill>
                  <a:schemeClr val="accent2"/>
                </a:solidFill>
              </a:rPr>
              <a:t>direct beam</a:t>
            </a:r>
            <a:r>
              <a:rPr lang="en-US" dirty="0"/>
              <a:t> (point-to-point connection), </a:t>
            </a:r>
            <a:r>
              <a:rPr lang="en-US" b="1" dirty="0" err="1" smtClean="0">
                <a:solidFill>
                  <a:schemeClr val="accent2"/>
                </a:solidFill>
              </a:rPr>
              <a:t>omni</a:t>
            </a:r>
            <a:r>
              <a:rPr lang="en-US" b="1" dirty="0" smtClean="0">
                <a:solidFill>
                  <a:schemeClr val="accent2"/>
                </a:solidFill>
              </a:rPr>
              <a:t>-directional </a:t>
            </a:r>
            <a:r>
              <a:rPr lang="en-US" b="1" dirty="0">
                <a:solidFill>
                  <a:schemeClr val="accent2"/>
                </a:solidFill>
              </a:rPr>
              <a:t>configuration</a:t>
            </a:r>
            <a:r>
              <a:rPr lang="en-US" dirty="0"/>
              <a:t> consists of a single BS that is normally used on ceilings, and </a:t>
            </a:r>
            <a:r>
              <a:rPr lang="en-US" b="1" dirty="0">
                <a:solidFill>
                  <a:schemeClr val="accent2"/>
                </a:solidFill>
              </a:rPr>
              <a:t>diffused configuration</a:t>
            </a:r>
            <a:r>
              <a:rPr lang="en-US" dirty="0"/>
              <a:t> (the transmitter directs the signal to a diffused reflecting ceiling. The signal is reflected in all directions from the ceiling. The receiver then pick up the transmitted signal) </a:t>
            </a:r>
          </a:p>
        </p:txBody>
      </p:sp>
      <p:sp>
        <p:nvSpPr>
          <p:cNvPr id="26628" name="Text Box 3"/>
          <p:cNvSpPr txBox="1">
            <a:spLocks noChangeArrowheads="1"/>
          </p:cNvSpPr>
          <p:nvPr/>
        </p:nvSpPr>
        <p:spPr bwMode="auto">
          <a:xfrm>
            <a:off x="1752600" y="304800"/>
            <a:ext cx="5181600" cy="1015663"/>
          </a:xfrm>
          <a:prstGeom prst="rect">
            <a:avLst/>
          </a:prstGeom>
          <a:solidFill>
            <a:srgbClr val="66CCFF"/>
          </a:solidFill>
          <a:ln w="9525">
            <a:noFill/>
            <a:miter lim="800000"/>
            <a:headEnd/>
            <a:tailEnd/>
          </a:ln>
        </p:spPr>
        <p:txBody>
          <a:bodyPr wrap="square">
            <a:spAutoFit/>
          </a:bodyPr>
          <a:lstStyle/>
          <a:p>
            <a:pPr>
              <a:spcBef>
                <a:spcPct val="50000"/>
              </a:spcBef>
            </a:pPr>
            <a:r>
              <a:rPr lang="en-US" sz="6000" b="1">
                <a:solidFill>
                  <a:srgbClr val="FF0000"/>
                </a:solidFill>
              </a:rPr>
              <a:t>Infrared LANs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 xmlns:a16="http://schemas.microsoft.com/office/drawing/2014/main" id="{0B1DF88E-5DC1-4A0B-B47C-E4DFEC7944D3}"/>
              </a:ext>
            </a:extLst>
          </p:cNvPr>
          <p:cNvSpPr>
            <a:spLocks noGrp="1"/>
          </p:cNvSpPr>
          <p:nvPr>
            <p:ph type="sldNum" sz="quarter" idx="12"/>
          </p:nvPr>
        </p:nvSpPr>
        <p:spPr/>
        <p:txBody>
          <a:bodyPr/>
          <a:lstStyle/>
          <a:p>
            <a:pPr>
              <a:defRPr/>
            </a:pPr>
            <a:fld id="{5086AF07-4F95-4468-B1E8-CF5B7833C30F}" type="slidenum">
              <a:rPr lang="en-US" smtClean="0"/>
              <a:pPr>
                <a:defRPr/>
              </a:pPr>
              <a:t>47</a:t>
            </a:fld>
            <a:endParaRPr lang="en-US"/>
          </a:p>
        </p:txBody>
      </p:sp>
      <p:pic>
        <p:nvPicPr>
          <p:cNvPr id="5" name="Picture 4">
            <a:extLst>
              <a:ext uri="{FF2B5EF4-FFF2-40B4-BE49-F238E27FC236}">
                <a16:creationId xmlns="" xmlns:a16="http://schemas.microsoft.com/office/drawing/2014/main" id="{DC4897D1-46F5-403C-B0AC-E0CE6A483222}"/>
              </a:ext>
            </a:extLst>
          </p:cNvPr>
          <p:cNvPicPr>
            <a:picLocks noChangeAspect="1"/>
          </p:cNvPicPr>
          <p:nvPr/>
        </p:nvPicPr>
        <p:blipFill>
          <a:blip r:embed="rId2"/>
          <a:stretch>
            <a:fillRect/>
          </a:stretch>
        </p:blipFill>
        <p:spPr>
          <a:xfrm>
            <a:off x="994082" y="925907"/>
            <a:ext cx="7622905" cy="3245370"/>
          </a:xfrm>
          <a:prstGeom prst="rect">
            <a:avLst/>
          </a:prstGeom>
        </p:spPr>
      </p:pic>
      <p:sp>
        <p:nvSpPr>
          <p:cNvPr id="6" name="TextBox 5">
            <a:extLst>
              <a:ext uri="{FF2B5EF4-FFF2-40B4-BE49-F238E27FC236}">
                <a16:creationId xmlns="" xmlns:a16="http://schemas.microsoft.com/office/drawing/2014/main" id="{4104E784-41B3-4011-8502-C605F3F5877B}"/>
              </a:ext>
            </a:extLst>
          </p:cNvPr>
          <p:cNvSpPr txBox="1"/>
          <p:nvPr/>
        </p:nvSpPr>
        <p:spPr>
          <a:xfrm>
            <a:off x="234987" y="4309408"/>
            <a:ext cx="8382000" cy="1938992"/>
          </a:xfrm>
          <a:prstGeom prst="rect">
            <a:avLst/>
          </a:prstGeom>
          <a:solidFill>
            <a:srgbClr val="FFCCCC"/>
          </a:solidFill>
        </p:spPr>
        <p:txBody>
          <a:bodyPr wrap="square" rtlCol="0">
            <a:spAutoFit/>
          </a:bodyPr>
          <a:lstStyle/>
          <a:p>
            <a:pPr marL="342900" indent="-342900" algn="just">
              <a:buFont typeface="Wingdings" panose="05000000000000000000" pitchFamily="2" charset="2"/>
              <a:buChar char="ü"/>
            </a:pPr>
            <a:r>
              <a:rPr lang="en-US" sz="2000" dirty="0"/>
              <a:t>The room is lit by several light fixtures, which provide illumination. Each light is driven by a </a:t>
            </a:r>
            <a:r>
              <a:rPr lang="en-US" sz="2000" dirty="0" err="1"/>
              <a:t>LiFi</a:t>
            </a:r>
            <a:r>
              <a:rPr lang="en-US" sz="2000" dirty="0"/>
              <a:t> modem or a </a:t>
            </a:r>
            <a:r>
              <a:rPr lang="en-US" sz="2000" dirty="0" err="1"/>
              <a:t>LiFi</a:t>
            </a:r>
            <a:r>
              <a:rPr lang="en-US" sz="2000" dirty="0"/>
              <a:t> chip and, therefore, also serves as an optical base station or access point (AP). </a:t>
            </a:r>
          </a:p>
          <a:p>
            <a:pPr marL="342900" indent="-342900" algn="just">
              <a:buFont typeface="Wingdings" panose="05000000000000000000" pitchFamily="2" charset="2"/>
              <a:buChar char="ü"/>
            </a:pPr>
            <a:r>
              <a:rPr lang="en-US" sz="2000" dirty="0"/>
              <a:t>The optical base stations are connected to the core network by high speed backhaul connections. The light fixtures also have an integrated infrared detector to receive signals from the terminals.</a:t>
            </a:r>
          </a:p>
        </p:txBody>
      </p:sp>
      <p:sp>
        <p:nvSpPr>
          <p:cNvPr id="7" name="Rectangle 6">
            <a:extLst>
              <a:ext uri="{FF2B5EF4-FFF2-40B4-BE49-F238E27FC236}">
                <a16:creationId xmlns="" xmlns:a16="http://schemas.microsoft.com/office/drawing/2014/main" id="{00CA5E6E-5C62-484A-B3CA-AA32F8194EDE}"/>
              </a:ext>
            </a:extLst>
          </p:cNvPr>
          <p:cNvSpPr/>
          <p:nvPr/>
        </p:nvSpPr>
        <p:spPr>
          <a:xfrm>
            <a:off x="234987" y="145541"/>
            <a:ext cx="6211957" cy="646331"/>
          </a:xfrm>
          <a:prstGeom prst="rect">
            <a:avLst/>
          </a:prstGeom>
          <a:solidFill>
            <a:srgbClr val="FFC000"/>
          </a:solidFill>
        </p:spPr>
        <p:txBody>
          <a:bodyPr wrap="none">
            <a:spAutoFit/>
          </a:bodyPr>
          <a:lstStyle/>
          <a:p>
            <a:r>
              <a:rPr lang="en-US" sz="3600" dirty="0" smtClean="0">
                <a:latin typeface="+mn-lt"/>
              </a:rPr>
              <a:t>Light-Fidelity (</a:t>
            </a:r>
            <a:r>
              <a:rPr lang="en-US" sz="3600" dirty="0" err="1">
                <a:latin typeface="+mn-lt"/>
              </a:rPr>
              <a:t>LiFi</a:t>
            </a:r>
            <a:r>
              <a:rPr lang="en-US" sz="3600" dirty="0">
                <a:latin typeface="+mn-lt"/>
              </a:rPr>
              <a:t>) networking</a:t>
            </a:r>
          </a:p>
        </p:txBody>
      </p:sp>
    </p:spTree>
    <p:extLst>
      <p:ext uri="{BB962C8B-B14F-4D97-AF65-F5344CB8AC3E}">
        <p14:creationId xmlns:p14="http://schemas.microsoft.com/office/powerpoint/2010/main" val="42709715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p:cNvSpPr>
            <a:spLocks noGrp="1"/>
          </p:cNvSpPr>
          <p:nvPr>
            <p:ph type="sldNum" sz="quarter" idx="12"/>
          </p:nvPr>
        </p:nvSpPr>
        <p:spPr>
          <a:noFill/>
        </p:spPr>
        <p:txBody>
          <a:bodyPr/>
          <a:lstStyle/>
          <a:p>
            <a:fld id="{F2797372-02F2-4117-AB24-477A365688C1}" type="slidenum">
              <a:rPr lang="en-US" smtClean="0"/>
              <a:pPr/>
              <a:t>48</a:t>
            </a:fld>
            <a:endParaRPr lang="en-US"/>
          </a:p>
        </p:txBody>
      </p:sp>
      <p:sp>
        <p:nvSpPr>
          <p:cNvPr id="27651" name="Text Box 2"/>
          <p:cNvSpPr txBox="1">
            <a:spLocks noChangeArrowheads="1"/>
          </p:cNvSpPr>
          <p:nvPr/>
        </p:nvSpPr>
        <p:spPr bwMode="auto">
          <a:xfrm>
            <a:off x="304800" y="762000"/>
            <a:ext cx="8686800" cy="1200150"/>
          </a:xfrm>
          <a:prstGeom prst="rect">
            <a:avLst/>
          </a:prstGeom>
          <a:solidFill>
            <a:srgbClr val="FFFFCC"/>
          </a:solidFill>
          <a:ln w="9525">
            <a:noFill/>
            <a:miter lim="800000"/>
            <a:headEnd/>
            <a:tailEnd/>
          </a:ln>
        </p:spPr>
        <p:txBody>
          <a:bodyPr>
            <a:spAutoFit/>
          </a:bodyPr>
          <a:lstStyle/>
          <a:p>
            <a:pPr algn="just">
              <a:spcBef>
                <a:spcPct val="50000"/>
              </a:spcBef>
            </a:pPr>
            <a:r>
              <a:rPr lang="en-US" dirty="0"/>
              <a:t>Narrowband RF LANs use very narrow bandwidth. Adjacent cells use different frequency bands. The transmissions are encrypted to prevent attacks.  </a:t>
            </a:r>
          </a:p>
        </p:txBody>
      </p:sp>
      <p:sp>
        <p:nvSpPr>
          <p:cNvPr id="27652" name="Text Box 3"/>
          <p:cNvSpPr txBox="1">
            <a:spLocks noChangeArrowheads="1"/>
          </p:cNvSpPr>
          <p:nvPr/>
        </p:nvSpPr>
        <p:spPr bwMode="auto">
          <a:xfrm>
            <a:off x="2209800" y="0"/>
            <a:ext cx="5410200" cy="769441"/>
          </a:xfrm>
          <a:prstGeom prst="rect">
            <a:avLst/>
          </a:prstGeom>
          <a:solidFill>
            <a:srgbClr val="66CCFF"/>
          </a:solidFill>
          <a:ln w="9525">
            <a:noFill/>
            <a:miter lim="800000"/>
            <a:headEnd/>
            <a:tailEnd/>
          </a:ln>
        </p:spPr>
        <p:txBody>
          <a:bodyPr wrap="square">
            <a:spAutoFit/>
          </a:bodyPr>
          <a:lstStyle/>
          <a:p>
            <a:pPr>
              <a:spcBef>
                <a:spcPct val="50000"/>
              </a:spcBef>
            </a:pPr>
            <a:r>
              <a:rPr lang="en-US" sz="4400" dirty="0"/>
              <a:t>Narrowband RF LANs</a:t>
            </a:r>
          </a:p>
        </p:txBody>
      </p:sp>
      <p:pic>
        <p:nvPicPr>
          <p:cNvPr id="22529" name="Picture 1"/>
          <p:cNvPicPr>
            <a:picLocks noChangeAspect="1" noChangeArrowheads="1"/>
          </p:cNvPicPr>
          <p:nvPr/>
        </p:nvPicPr>
        <p:blipFill>
          <a:blip r:embed="rId2"/>
          <a:srcRect/>
          <a:stretch>
            <a:fillRect/>
          </a:stretch>
        </p:blipFill>
        <p:spPr bwMode="auto">
          <a:xfrm>
            <a:off x="1371600" y="1905000"/>
            <a:ext cx="6553200" cy="4612523"/>
          </a:xfrm>
          <a:prstGeom prst="rect">
            <a:avLst/>
          </a:prstGeom>
          <a:noFill/>
          <a:ln w="9525">
            <a:noFill/>
            <a:miter lim="800000"/>
            <a:headEnd/>
            <a:tailEnd/>
          </a:ln>
          <a:effectLst/>
        </p:spPr>
      </p:pic>
      <p:sp>
        <p:nvSpPr>
          <p:cNvPr id="6" name="TextBox 5"/>
          <p:cNvSpPr txBox="1"/>
          <p:nvPr/>
        </p:nvSpPr>
        <p:spPr>
          <a:xfrm>
            <a:off x="0" y="6396335"/>
            <a:ext cx="3124200" cy="461665"/>
          </a:xfrm>
          <a:prstGeom prst="rect">
            <a:avLst/>
          </a:prstGeom>
          <a:noFill/>
        </p:spPr>
        <p:txBody>
          <a:bodyPr wrap="square" rtlCol="0">
            <a:spAutoFit/>
          </a:bodyPr>
          <a:lstStyle/>
          <a:p>
            <a:r>
              <a:rPr lang="en-US" dirty="0"/>
              <a:t>UM→ User Module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49</a:t>
            </a:fld>
            <a:endParaRPr lang="en-US"/>
          </a:p>
        </p:txBody>
      </p:sp>
      <p:sp>
        <p:nvSpPr>
          <p:cNvPr id="5" name="TextBox 4"/>
          <p:cNvSpPr txBox="1"/>
          <p:nvPr/>
        </p:nvSpPr>
        <p:spPr>
          <a:xfrm>
            <a:off x="228600" y="228600"/>
            <a:ext cx="8610600" cy="1200329"/>
          </a:xfrm>
          <a:prstGeom prst="rect">
            <a:avLst/>
          </a:prstGeom>
          <a:noFill/>
        </p:spPr>
        <p:txBody>
          <a:bodyPr wrap="square" rtlCol="0">
            <a:spAutoFit/>
          </a:bodyPr>
          <a:lstStyle/>
          <a:p>
            <a:pPr algn="just"/>
            <a:r>
              <a:rPr lang="en-US" dirty="0"/>
              <a:t>There are several Control Module (CM) to interface wireless LAN to the backbone Ethernet (wired LAN).In previous figure each cell has its own CM and connected by a switch to route traffic among them. </a:t>
            </a:r>
          </a:p>
        </p:txBody>
      </p:sp>
      <p:pic>
        <p:nvPicPr>
          <p:cNvPr id="82946" name="Picture 2"/>
          <p:cNvPicPr>
            <a:picLocks noChangeAspect="1" noChangeArrowheads="1"/>
          </p:cNvPicPr>
          <p:nvPr/>
        </p:nvPicPr>
        <p:blipFill>
          <a:blip r:embed="rId2"/>
          <a:srcRect/>
          <a:stretch>
            <a:fillRect/>
          </a:stretch>
        </p:blipFill>
        <p:spPr bwMode="auto">
          <a:xfrm>
            <a:off x="2133600" y="1600200"/>
            <a:ext cx="5676510" cy="4243387"/>
          </a:xfrm>
          <a:prstGeom prst="rect">
            <a:avLst/>
          </a:prstGeom>
          <a:noFill/>
          <a:ln w="9525">
            <a:noFill/>
            <a:miter lim="800000"/>
            <a:headEnd/>
            <a:tailEnd/>
          </a:ln>
          <a:effectLst/>
        </p:spPr>
      </p:pic>
      <p:sp>
        <p:nvSpPr>
          <p:cNvPr id="7" name="TextBox 6"/>
          <p:cNvSpPr txBox="1"/>
          <p:nvPr/>
        </p:nvSpPr>
        <p:spPr>
          <a:xfrm>
            <a:off x="457200" y="6096000"/>
            <a:ext cx="3124200" cy="461665"/>
          </a:xfrm>
          <a:prstGeom prst="rect">
            <a:avLst/>
          </a:prstGeom>
          <a:noFill/>
        </p:spPr>
        <p:txBody>
          <a:bodyPr wrap="square" rtlCol="0">
            <a:spAutoFit/>
          </a:bodyPr>
          <a:lstStyle/>
          <a:p>
            <a:r>
              <a:rPr lang="en-US" dirty="0"/>
              <a:t>UM→ User Module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50</a:t>
            </a:fld>
            <a:endParaRPr lang="en-US"/>
          </a:p>
        </p:txBody>
      </p:sp>
      <p:sp>
        <p:nvSpPr>
          <p:cNvPr id="5" name="Text Box 4"/>
          <p:cNvSpPr txBox="1">
            <a:spLocks noChangeArrowheads="1"/>
          </p:cNvSpPr>
          <p:nvPr/>
        </p:nvSpPr>
        <p:spPr bwMode="auto">
          <a:xfrm>
            <a:off x="762000" y="304800"/>
            <a:ext cx="7620000" cy="1015663"/>
          </a:xfrm>
          <a:prstGeom prst="rect">
            <a:avLst/>
          </a:prstGeom>
          <a:solidFill>
            <a:srgbClr val="66CCFF"/>
          </a:solidFill>
          <a:ln w="9525">
            <a:noFill/>
            <a:miter lim="800000"/>
            <a:headEnd/>
            <a:tailEnd/>
          </a:ln>
        </p:spPr>
        <p:txBody>
          <a:bodyPr wrap="square">
            <a:spAutoFit/>
          </a:bodyPr>
          <a:lstStyle/>
          <a:p>
            <a:pPr>
              <a:spcBef>
                <a:spcPct val="50000"/>
              </a:spcBef>
            </a:pPr>
            <a:r>
              <a:rPr lang="en-US" sz="6000" dirty="0"/>
              <a:t>Spread Spectrum LANs</a:t>
            </a:r>
          </a:p>
        </p:txBody>
      </p:sp>
      <p:sp>
        <p:nvSpPr>
          <p:cNvPr id="6" name="Text Box 5"/>
          <p:cNvSpPr txBox="1">
            <a:spLocks noChangeArrowheads="1"/>
          </p:cNvSpPr>
          <p:nvPr/>
        </p:nvSpPr>
        <p:spPr bwMode="auto">
          <a:xfrm>
            <a:off x="381000" y="1905000"/>
            <a:ext cx="8382000" cy="2282825"/>
          </a:xfrm>
          <a:prstGeom prst="rect">
            <a:avLst/>
          </a:prstGeom>
          <a:solidFill>
            <a:srgbClr val="FFFFCC"/>
          </a:solidFill>
          <a:ln w="9525">
            <a:noFill/>
            <a:miter lim="800000"/>
            <a:headEnd/>
            <a:tailEnd/>
          </a:ln>
        </p:spPr>
        <p:txBody>
          <a:bodyPr>
            <a:spAutoFit/>
          </a:bodyPr>
          <a:lstStyle/>
          <a:p>
            <a:pPr algn="justLow"/>
            <a:r>
              <a:rPr lang="en-US" dirty="0"/>
              <a:t>The idea behind spread spectrum is to spread the signal over a wider frequency band than normal in such a way as to minimize the impact of interference from other devices. </a:t>
            </a:r>
            <a:r>
              <a:rPr lang="en-US" b="1" i="1" dirty="0">
                <a:solidFill>
                  <a:schemeClr val="accent2"/>
                </a:solidFill>
              </a:rPr>
              <a:t>Frequency hopping</a:t>
            </a:r>
            <a:r>
              <a:rPr lang="en-US" i="1" dirty="0"/>
              <a:t> </a:t>
            </a:r>
            <a:r>
              <a:rPr lang="en-US" dirty="0"/>
              <a:t>is a spread spectrum technique that involves transmitting the signal over a random sequence of frequencies, that is, first transmitting at one frequency, then a second, then a third, and so on.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p:cNvSpPr>
            <a:spLocks noGrp="1"/>
          </p:cNvSpPr>
          <p:nvPr>
            <p:ph type="sldNum" sz="quarter" idx="12"/>
          </p:nvPr>
        </p:nvSpPr>
        <p:spPr>
          <a:noFill/>
        </p:spPr>
        <p:txBody>
          <a:bodyPr/>
          <a:lstStyle/>
          <a:p>
            <a:fld id="{66C76719-A644-456E-A685-2CBE26169E1B}" type="slidenum">
              <a:rPr lang="en-US" smtClean="0"/>
              <a:pPr/>
              <a:t>51</a:t>
            </a:fld>
            <a:endParaRPr lang="en-US"/>
          </a:p>
        </p:txBody>
      </p:sp>
      <p:sp>
        <p:nvSpPr>
          <p:cNvPr id="35843" name="Text Box 4"/>
          <p:cNvSpPr txBox="1">
            <a:spLocks noChangeArrowheads="1"/>
          </p:cNvSpPr>
          <p:nvPr/>
        </p:nvSpPr>
        <p:spPr bwMode="auto">
          <a:xfrm>
            <a:off x="304800" y="1828800"/>
            <a:ext cx="8305800" cy="2308225"/>
          </a:xfrm>
          <a:prstGeom prst="rect">
            <a:avLst/>
          </a:prstGeom>
          <a:noFill/>
          <a:ln w="9525">
            <a:noFill/>
            <a:miter lim="800000"/>
            <a:headEnd/>
            <a:tailEnd/>
          </a:ln>
        </p:spPr>
        <p:txBody>
          <a:bodyPr>
            <a:spAutoFit/>
          </a:bodyPr>
          <a:lstStyle/>
          <a:p>
            <a:pPr algn="just">
              <a:spcBef>
                <a:spcPct val="50000"/>
              </a:spcBef>
            </a:pPr>
            <a:r>
              <a:rPr lang="en-US" dirty="0"/>
              <a:t>The </a:t>
            </a:r>
            <a:r>
              <a:rPr lang="en-US" b="1" dirty="0">
                <a:solidFill>
                  <a:schemeClr val="accent2"/>
                </a:solidFill>
              </a:rPr>
              <a:t>Institute of Electrical and Electronics Engineers</a:t>
            </a:r>
            <a:r>
              <a:rPr lang="en-US" dirty="0">
                <a:solidFill>
                  <a:schemeClr val="accent2"/>
                </a:solidFill>
              </a:rPr>
              <a:t> (</a:t>
            </a:r>
            <a:r>
              <a:rPr lang="en-US" b="1" dirty="0">
                <a:solidFill>
                  <a:schemeClr val="accent2"/>
                </a:solidFill>
              </a:rPr>
              <a:t>IEEE</a:t>
            </a:r>
            <a:r>
              <a:rPr lang="en-US" dirty="0"/>
              <a:t>, read </a:t>
            </a:r>
            <a:r>
              <a:rPr lang="en-US" i="1" dirty="0"/>
              <a:t>I-Triple-E</a:t>
            </a:r>
            <a:r>
              <a:rPr lang="en-US" dirty="0"/>
              <a:t>) is a Professional association headquartered in New York City that is dedicated to advancing technological innovation and excellence. It has more than 400,000 members in more than 160 countries, about 51.4% of whom reside in the USA. </a:t>
            </a:r>
          </a:p>
        </p:txBody>
      </p:sp>
      <p:sp>
        <p:nvSpPr>
          <p:cNvPr id="35844" name="Rectangle 5"/>
          <p:cNvSpPr>
            <a:spLocks noGrp="1" noChangeArrowheads="1"/>
          </p:cNvSpPr>
          <p:nvPr>
            <p:ph type="title"/>
          </p:nvPr>
        </p:nvSpPr>
        <p:spPr>
          <a:xfrm>
            <a:off x="1752600" y="304800"/>
            <a:ext cx="5562600" cy="609600"/>
          </a:xfrm>
          <a:solidFill>
            <a:schemeClr val="accent2"/>
          </a:solidFill>
        </p:spPr>
        <p:txBody>
          <a:bodyPr/>
          <a:lstStyle/>
          <a:p>
            <a:r>
              <a:rPr lang="en-US">
                <a:solidFill>
                  <a:schemeClr val="bg1"/>
                </a:solidFill>
              </a:rPr>
              <a:t>IEEE 802 Activities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p:cNvSpPr>
            <a:spLocks noGrp="1"/>
          </p:cNvSpPr>
          <p:nvPr>
            <p:ph type="sldNum" sz="quarter" idx="12"/>
          </p:nvPr>
        </p:nvSpPr>
        <p:spPr>
          <a:noFill/>
        </p:spPr>
        <p:txBody>
          <a:bodyPr/>
          <a:lstStyle/>
          <a:p>
            <a:fld id="{F3579205-9138-47E0-9721-548F2F18A03F}" type="slidenum">
              <a:rPr lang="en-US" smtClean="0"/>
              <a:pPr/>
              <a:t>52</a:t>
            </a:fld>
            <a:endParaRPr lang="en-US"/>
          </a:p>
        </p:txBody>
      </p:sp>
      <p:sp>
        <p:nvSpPr>
          <p:cNvPr id="36867" name="Rectangle 2"/>
          <p:cNvSpPr>
            <a:spLocks noGrp="1" noChangeArrowheads="1"/>
          </p:cNvSpPr>
          <p:nvPr>
            <p:ph type="title"/>
          </p:nvPr>
        </p:nvSpPr>
        <p:spPr>
          <a:xfrm>
            <a:off x="1828800" y="533400"/>
            <a:ext cx="5486400" cy="533400"/>
          </a:xfrm>
          <a:solidFill>
            <a:schemeClr val="accent2"/>
          </a:solidFill>
        </p:spPr>
        <p:txBody>
          <a:bodyPr/>
          <a:lstStyle/>
          <a:p>
            <a:r>
              <a:rPr lang="en-US">
                <a:solidFill>
                  <a:schemeClr val="bg1"/>
                </a:solidFill>
              </a:rPr>
              <a:t>IEEE 802 Activities</a:t>
            </a:r>
          </a:p>
        </p:txBody>
      </p:sp>
      <p:sp>
        <p:nvSpPr>
          <p:cNvPr id="36868" name="Rectangle 3"/>
          <p:cNvSpPr>
            <a:spLocks noGrp="1" noChangeArrowheads="1"/>
          </p:cNvSpPr>
          <p:nvPr>
            <p:ph type="body" idx="1"/>
          </p:nvPr>
        </p:nvSpPr>
        <p:spPr>
          <a:xfrm>
            <a:off x="1371600" y="1219200"/>
            <a:ext cx="6705600" cy="5029200"/>
          </a:xfrm>
          <a:solidFill>
            <a:srgbClr val="FFCC66"/>
          </a:solidFill>
        </p:spPr>
        <p:txBody>
          <a:bodyPr/>
          <a:lstStyle/>
          <a:p>
            <a:pPr>
              <a:buFont typeface="Symbol" pitchFamily="18" charset="2"/>
              <a:buChar char="·"/>
            </a:pPr>
            <a:r>
              <a:rPr lang="en-US"/>
              <a:t>Wired</a:t>
            </a:r>
          </a:p>
          <a:p>
            <a:pPr lvl="1">
              <a:buFont typeface="Symbol" pitchFamily="18" charset="2"/>
              <a:buChar char="·"/>
            </a:pPr>
            <a:r>
              <a:rPr lang="en-US"/>
              <a:t>802.3: Ethernet</a:t>
            </a:r>
          </a:p>
          <a:p>
            <a:pPr lvl="1">
              <a:buFont typeface="Symbol" pitchFamily="18" charset="2"/>
              <a:buChar char="·"/>
            </a:pPr>
            <a:r>
              <a:rPr lang="en-US"/>
              <a:t>802.17: Packet Ring (new)</a:t>
            </a:r>
          </a:p>
          <a:p>
            <a:pPr>
              <a:buFont typeface="Symbol" pitchFamily="18" charset="2"/>
              <a:buChar char="·"/>
            </a:pPr>
            <a:r>
              <a:rPr lang="en-US"/>
              <a:t>Wireless</a:t>
            </a:r>
          </a:p>
          <a:p>
            <a:pPr lvl="1">
              <a:buFont typeface="Symbol" pitchFamily="18" charset="2"/>
              <a:buChar char="·"/>
            </a:pPr>
            <a:r>
              <a:rPr lang="en-US"/>
              <a:t>802.11: Wireless LAN</a:t>
            </a:r>
          </a:p>
          <a:p>
            <a:pPr lvl="2"/>
            <a:r>
              <a:rPr lang="en-US"/>
              <a:t>Local Area Network</a:t>
            </a:r>
          </a:p>
          <a:p>
            <a:pPr lvl="1">
              <a:buFont typeface="Symbol" pitchFamily="18" charset="2"/>
              <a:buChar char="·"/>
            </a:pPr>
            <a:r>
              <a:rPr lang="en-US"/>
              <a:t>802.15: Wireless PAN</a:t>
            </a:r>
          </a:p>
          <a:p>
            <a:pPr lvl="3"/>
            <a:r>
              <a:rPr lang="en-US"/>
              <a:t>Personal Area Network (e.g. Bluetooth</a:t>
            </a:r>
            <a:r>
              <a:rPr lang="en-US" baseline="30000"/>
              <a:t>TM)</a:t>
            </a:r>
            <a:endParaRPr lang="en-US"/>
          </a:p>
          <a:p>
            <a:pPr lvl="1">
              <a:buFont typeface="Symbol" pitchFamily="18" charset="2"/>
              <a:buChar char="·"/>
            </a:pPr>
            <a:r>
              <a:rPr lang="en-US"/>
              <a:t>802.16: WirelessMAN</a:t>
            </a:r>
            <a:r>
              <a:rPr lang="en-US" baseline="30000"/>
              <a:t>TM</a:t>
            </a:r>
            <a:endParaRPr lang="en-US"/>
          </a:p>
          <a:p>
            <a:pPr lvl="3"/>
            <a:r>
              <a:rPr lang="en-US"/>
              <a:t>Metropolitan Area Networks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p:cNvSpPr>
            <a:spLocks noGrp="1"/>
          </p:cNvSpPr>
          <p:nvPr>
            <p:ph type="sldNum" sz="quarter" idx="12"/>
          </p:nvPr>
        </p:nvSpPr>
        <p:spPr>
          <a:noFill/>
        </p:spPr>
        <p:txBody>
          <a:bodyPr/>
          <a:lstStyle/>
          <a:p>
            <a:fld id="{913E09FD-C175-4D42-82D3-9B61E4B5ACD0}" type="slidenum">
              <a:rPr lang="en-US" smtClean="0"/>
              <a:pPr/>
              <a:t>53</a:t>
            </a:fld>
            <a:endParaRPr lang="en-US"/>
          </a:p>
        </p:txBody>
      </p:sp>
      <p:sp>
        <p:nvSpPr>
          <p:cNvPr id="31747" name="TextBox 4"/>
          <p:cNvSpPr txBox="1">
            <a:spLocks noChangeArrowheads="1"/>
          </p:cNvSpPr>
          <p:nvPr/>
        </p:nvSpPr>
        <p:spPr bwMode="auto">
          <a:xfrm>
            <a:off x="76200" y="457200"/>
            <a:ext cx="8915400" cy="5200650"/>
          </a:xfrm>
          <a:prstGeom prst="rect">
            <a:avLst/>
          </a:prstGeom>
          <a:noFill/>
          <a:ln w="9525">
            <a:noFill/>
            <a:miter lim="800000"/>
            <a:headEnd/>
            <a:tailEnd/>
          </a:ln>
        </p:spPr>
        <p:txBody>
          <a:bodyPr>
            <a:spAutoFit/>
          </a:bodyPr>
          <a:lstStyle/>
          <a:p>
            <a:pPr algn="just">
              <a:defRPr/>
            </a:pPr>
            <a:r>
              <a:rPr lang="en-US" sz="2800" b="1" dirty="0">
                <a:solidFill>
                  <a:srgbClr val="FF0000"/>
                </a:solidFill>
              </a:rPr>
              <a:t>There are several specifications in the 802.11 family:</a:t>
            </a:r>
          </a:p>
          <a:p>
            <a:pPr algn="just">
              <a:defRPr/>
            </a:pPr>
            <a:endParaRPr lang="en-US" sz="2800" dirty="0"/>
          </a:p>
          <a:p>
            <a:pPr algn="just">
              <a:defRPr/>
            </a:pPr>
            <a:r>
              <a:rPr lang="en-US" sz="2800" dirty="0"/>
              <a:t>IEEE has defined the specifications for WLAN, called IEEE 802.11, which covers physical and data-link layer. Public uses the term </a:t>
            </a:r>
            <a:r>
              <a:rPr lang="en-US" sz="2800" dirty="0" err="1"/>
              <a:t>WiFi</a:t>
            </a:r>
            <a:r>
              <a:rPr lang="en-US" sz="2800" dirty="0"/>
              <a:t> (Wireless Fidelity) for WLAN. </a:t>
            </a:r>
          </a:p>
          <a:p>
            <a:pPr algn="just">
              <a:defRPr/>
            </a:pPr>
            <a:endParaRPr lang="en-US" b="1" dirty="0"/>
          </a:p>
          <a:p>
            <a:pPr algn="just">
              <a:defRPr/>
            </a:pPr>
            <a:r>
              <a:rPr lang="en-US" b="1" dirty="0"/>
              <a:t>802.11</a:t>
            </a:r>
            <a:r>
              <a:rPr lang="en-US" dirty="0"/>
              <a:t> — applies to wireless LANs and provides 1 or 2 Mbps transmission in the 2.4 GHz band using either </a:t>
            </a:r>
            <a:r>
              <a:rPr lang="en-US" dirty="0">
                <a:solidFill>
                  <a:schemeClr val="accent2"/>
                </a:solidFill>
              </a:rPr>
              <a:t>frequency hopping spread spectrum </a:t>
            </a:r>
            <a:r>
              <a:rPr lang="en-US">
                <a:solidFill>
                  <a:schemeClr val="accent2"/>
                </a:solidFill>
              </a:rPr>
              <a:t>(FHSS) </a:t>
            </a:r>
            <a:r>
              <a:rPr lang="en-US" dirty="0"/>
              <a:t>which uses 2 or 4 level</a:t>
            </a:r>
            <a:r>
              <a:rPr lang="en-US" dirty="0">
                <a:solidFill>
                  <a:schemeClr val="accent2"/>
                </a:solidFill>
              </a:rPr>
              <a:t> </a:t>
            </a:r>
            <a:r>
              <a:rPr lang="en-US" dirty="0"/>
              <a:t>FSK</a:t>
            </a:r>
            <a:r>
              <a:rPr lang="en-US" dirty="0">
                <a:solidFill>
                  <a:schemeClr val="accent2"/>
                </a:solidFill>
              </a:rPr>
              <a:t> </a:t>
            </a:r>
            <a:r>
              <a:rPr lang="en-US" dirty="0"/>
              <a:t>or </a:t>
            </a:r>
            <a:r>
              <a:rPr lang="en-US" dirty="0">
                <a:solidFill>
                  <a:schemeClr val="accent2"/>
                </a:solidFill>
              </a:rPr>
              <a:t>direct sequence spread spectrum (DSSS) </a:t>
            </a:r>
            <a:r>
              <a:rPr lang="en-US" dirty="0"/>
              <a:t>which uses BPSK or QPSK.</a:t>
            </a:r>
          </a:p>
          <a:p>
            <a:pPr algn="just">
              <a:defRPr/>
            </a:pPr>
            <a:endParaRPr lang="en-US" dirty="0"/>
          </a:p>
          <a:p>
            <a:pPr algn="just">
              <a:defRPr/>
            </a:pPr>
            <a:r>
              <a:rPr lang="en-US" b="1" dirty="0"/>
              <a:t>802.11 Infrared </a:t>
            </a:r>
            <a:r>
              <a:rPr lang="en-US" dirty="0"/>
              <a:t>uses infrared light in the range of 800 to 950 nm. The modulation technique is called </a:t>
            </a:r>
            <a:r>
              <a:rPr lang="en-US" dirty="0">
                <a:solidFill>
                  <a:schemeClr val="accent6"/>
                </a:solidFill>
              </a:rPr>
              <a:t>PPM (Pulse Position Modulation)</a:t>
            </a:r>
            <a:r>
              <a:rPr lang="en-US" dirty="0"/>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3"/>
          <p:cNvSpPr>
            <a:spLocks noGrp="1"/>
          </p:cNvSpPr>
          <p:nvPr>
            <p:ph type="sldNum" sz="quarter" idx="12"/>
          </p:nvPr>
        </p:nvSpPr>
        <p:spPr>
          <a:noFill/>
        </p:spPr>
        <p:txBody>
          <a:bodyPr/>
          <a:lstStyle/>
          <a:p>
            <a:fld id="{1596906E-A31B-4508-93C9-CB55EF3B48AB}" type="slidenum">
              <a:rPr lang="en-US" smtClean="0"/>
              <a:pPr/>
              <a:t>54</a:t>
            </a:fld>
            <a:endParaRPr lang="en-US"/>
          </a:p>
        </p:txBody>
      </p:sp>
      <p:sp>
        <p:nvSpPr>
          <p:cNvPr id="5" name="TextBox 4"/>
          <p:cNvSpPr txBox="1"/>
          <p:nvPr/>
        </p:nvSpPr>
        <p:spPr>
          <a:xfrm>
            <a:off x="0" y="1295400"/>
            <a:ext cx="9144000" cy="3416300"/>
          </a:xfrm>
          <a:prstGeom prst="rect">
            <a:avLst/>
          </a:prstGeom>
          <a:noFill/>
        </p:spPr>
        <p:txBody>
          <a:bodyPr>
            <a:spAutoFit/>
          </a:bodyPr>
          <a:lstStyle/>
          <a:p>
            <a:pPr algn="just">
              <a:defRPr/>
            </a:pPr>
            <a:r>
              <a:rPr lang="en-US" b="1" dirty="0"/>
              <a:t>802.11a</a:t>
            </a:r>
            <a:r>
              <a:rPr lang="en-US" dirty="0"/>
              <a:t>— an extension to 802.11 that applies to wireless LANs and provides up to 54-Mbps in the 5GHz band. 802.11a uses an </a:t>
            </a:r>
            <a:r>
              <a:rPr lang="en-US" dirty="0">
                <a:solidFill>
                  <a:schemeClr val="accent6"/>
                </a:solidFill>
              </a:rPr>
              <a:t>orthogonal frequency division multiplexing (OFDM)</a:t>
            </a:r>
            <a:r>
              <a:rPr lang="en-US" dirty="0"/>
              <a:t> scheme rather than FHSH  or DSSS. Here PSK and QAM  modulation scheme is used.</a:t>
            </a:r>
          </a:p>
          <a:p>
            <a:pPr algn="just">
              <a:defRPr/>
            </a:pPr>
            <a:endParaRPr lang="en-US" dirty="0"/>
          </a:p>
          <a:p>
            <a:pPr algn="just">
              <a:defRPr/>
            </a:pPr>
            <a:r>
              <a:rPr lang="en-US" b="1" dirty="0"/>
              <a:t>802.11b </a:t>
            </a:r>
            <a:r>
              <a:rPr lang="en-US" dirty="0"/>
              <a:t>(also referred to as 802.11 High Rate or Wi-Fi) — an extension to 802.11 that applies to wireless LANS and provides 11 Mbps transmission (with a fallback to 5.5, 2 and 1-Mbps) in the 2.4 GHz band.</a:t>
            </a:r>
          </a:p>
          <a:p>
            <a:pPr>
              <a:defRPr/>
            </a:pP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2"/>
          </p:nvPr>
        </p:nvSpPr>
        <p:spPr>
          <a:noFill/>
        </p:spPr>
        <p:txBody>
          <a:bodyPr/>
          <a:lstStyle/>
          <a:p>
            <a:fld id="{77715301-6F29-49A9-A0A1-C39C1E7C4AE8}" type="slidenum">
              <a:rPr lang="en-US" smtClean="0"/>
              <a:pPr/>
              <a:t>55</a:t>
            </a:fld>
            <a:endParaRPr lang="en-US"/>
          </a:p>
        </p:txBody>
      </p:sp>
      <p:sp>
        <p:nvSpPr>
          <p:cNvPr id="32771" name="TextBox 4"/>
          <p:cNvSpPr txBox="1">
            <a:spLocks noChangeArrowheads="1"/>
          </p:cNvSpPr>
          <p:nvPr/>
        </p:nvSpPr>
        <p:spPr bwMode="auto">
          <a:xfrm>
            <a:off x="152400" y="701675"/>
            <a:ext cx="8839200" cy="4708525"/>
          </a:xfrm>
          <a:prstGeom prst="rect">
            <a:avLst/>
          </a:prstGeom>
          <a:noFill/>
          <a:ln w="9525">
            <a:noFill/>
            <a:miter lim="800000"/>
            <a:headEnd/>
            <a:tailEnd/>
          </a:ln>
        </p:spPr>
        <p:txBody>
          <a:bodyPr>
            <a:spAutoFit/>
          </a:bodyPr>
          <a:lstStyle/>
          <a:p>
            <a:pPr algn="just">
              <a:defRPr/>
            </a:pPr>
            <a:r>
              <a:rPr lang="en-US" sz="2000" b="1" dirty="0"/>
              <a:t>802.11e </a:t>
            </a:r>
            <a:r>
              <a:rPr lang="en-US" sz="2000" dirty="0"/>
              <a:t>— a wireless draft standard that defines the </a:t>
            </a:r>
            <a:r>
              <a:rPr lang="en-US" sz="2000" b="1" i="1" dirty="0"/>
              <a:t>Q</a:t>
            </a:r>
            <a:r>
              <a:rPr lang="en-US" sz="2000" i="1" dirty="0"/>
              <a:t>uality </a:t>
            </a:r>
            <a:r>
              <a:rPr lang="en-US" sz="2000" b="1" i="1" dirty="0"/>
              <a:t>o</a:t>
            </a:r>
            <a:r>
              <a:rPr lang="en-US" sz="2000" i="1" dirty="0"/>
              <a:t>f </a:t>
            </a:r>
            <a:r>
              <a:rPr lang="en-US" sz="2000" b="1" i="1" dirty="0"/>
              <a:t>S</a:t>
            </a:r>
            <a:r>
              <a:rPr lang="en-US" sz="2000" i="1" dirty="0"/>
              <a:t>ervice</a:t>
            </a:r>
            <a:r>
              <a:rPr lang="en-US" sz="2000" dirty="0"/>
              <a:t> (</a:t>
            </a:r>
            <a:r>
              <a:rPr lang="en-US" sz="2000" dirty="0" err="1"/>
              <a:t>QoS</a:t>
            </a:r>
            <a:r>
              <a:rPr lang="en-US" sz="2000" dirty="0"/>
              <a:t>) support for LANs, and is an enhancement to the 802.11a and 802.11b wireless LAN (WLAN) specifications. 802.11e adds </a:t>
            </a:r>
            <a:r>
              <a:rPr lang="en-US" sz="2000" dirty="0" err="1"/>
              <a:t>QoS</a:t>
            </a:r>
            <a:r>
              <a:rPr lang="en-US" sz="2000" dirty="0"/>
              <a:t> features and multimedia support to the existing IEEE 802.11b and IEEE 802.11a wireless standards, while maintaining full backward compatibility with these standards.</a:t>
            </a:r>
          </a:p>
          <a:p>
            <a:pPr algn="just">
              <a:defRPr/>
            </a:pPr>
            <a:endParaRPr lang="en-US" sz="2000" dirty="0"/>
          </a:p>
          <a:p>
            <a:pPr algn="just">
              <a:defRPr/>
            </a:pPr>
            <a:r>
              <a:rPr lang="en-US" sz="2000" b="1" dirty="0"/>
              <a:t>802.11g</a:t>
            </a:r>
            <a:r>
              <a:rPr lang="en-US" sz="2000" dirty="0"/>
              <a:t> — applies to wireless LANs and is used for transmission over short distances at up to 54-Mbps in the 2.4 GHz bands.</a:t>
            </a:r>
          </a:p>
          <a:p>
            <a:pPr algn="just">
              <a:defRPr/>
            </a:pPr>
            <a:endParaRPr lang="en-US" sz="2000" dirty="0"/>
          </a:p>
          <a:p>
            <a:pPr algn="just">
              <a:defRPr/>
            </a:pPr>
            <a:r>
              <a:rPr lang="en-US" sz="2000" b="1" dirty="0"/>
              <a:t>802.11n</a:t>
            </a:r>
            <a:r>
              <a:rPr lang="en-US" sz="2000" dirty="0"/>
              <a:t> — 802.11n builds upon previous 802.11 standards by adding </a:t>
            </a:r>
            <a:r>
              <a:rPr lang="en-US" sz="2000" b="1" i="1" dirty="0">
                <a:solidFill>
                  <a:schemeClr val="accent6"/>
                </a:solidFill>
              </a:rPr>
              <a:t>m</a:t>
            </a:r>
            <a:r>
              <a:rPr lang="en-US" sz="2000" i="1" dirty="0">
                <a:solidFill>
                  <a:schemeClr val="accent6"/>
                </a:solidFill>
              </a:rPr>
              <a:t>ultiple-</a:t>
            </a:r>
            <a:r>
              <a:rPr lang="en-US" sz="2000" b="1" i="1" dirty="0">
                <a:solidFill>
                  <a:schemeClr val="accent6"/>
                </a:solidFill>
              </a:rPr>
              <a:t>i</a:t>
            </a:r>
            <a:r>
              <a:rPr lang="en-US" sz="2000" i="1" dirty="0">
                <a:solidFill>
                  <a:schemeClr val="accent6"/>
                </a:solidFill>
              </a:rPr>
              <a:t>nput </a:t>
            </a:r>
            <a:r>
              <a:rPr lang="en-US" sz="2000" b="1" i="1" dirty="0">
                <a:solidFill>
                  <a:schemeClr val="accent6"/>
                </a:solidFill>
              </a:rPr>
              <a:t>m</a:t>
            </a:r>
            <a:r>
              <a:rPr lang="en-US" sz="2000" i="1" dirty="0">
                <a:solidFill>
                  <a:schemeClr val="accent6"/>
                </a:solidFill>
              </a:rPr>
              <a:t>ultiple-</a:t>
            </a:r>
            <a:r>
              <a:rPr lang="en-US" sz="2000" b="1" i="1" dirty="0">
                <a:solidFill>
                  <a:schemeClr val="accent6"/>
                </a:solidFill>
              </a:rPr>
              <a:t>o</a:t>
            </a:r>
            <a:r>
              <a:rPr lang="en-US" sz="2000" i="1" dirty="0">
                <a:solidFill>
                  <a:schemeClr val="accent6"/>
                </a:solidFill>
              </a:rPr>
              <a:t>utput</a:t>
            </a:r>
            <a:r>
              <a:rPr lang="en-US" sz="2000" dirty="0">
                <a:solidFill>
                  <a:schemeClr val="accent6"/>
                </a:solidFill>
              </a:rPr>
              <a:t> (MIMO)</a:t>
            </a:r>
            <a:r>
              <a:rPr lang="en-US" sz="2000" dirty="0"/>
              <a:t>. The additional transmitter and receiver antennas allow for </a:t>
            </a:r>
            <a:r>
              <a:rPr lang="en-US" sz="2000" b="1" dirty="0">
                <a:solidFill>
                  <a:schemeClr val="accent6"/>
                </a:solidFill>
              </a:rPr>
              <a:t>increased data throughput </a:t>
            </a:r>
            <a:r>
              <a:rPr lang="en-US" sz="2000" dirty="0"/>
              <a:t>through spatial multiplexing and increased range by exploiting the spatial diversity through coding schemes like </a:t>
            </a:r>
            <a:r>
              <a:rPr lang="en-US" sz="2000" dirty="0" err="1"/>
              <a:t>Alamouti</a:t>
            </a:r>
            <a:r>
              <a:rPr lang="en-US" sz="2000" dirty="0"/>
              <a:t> coding. The real speed would be 100 </a:t>
            </a:r>
            <a:r>
              <a:rPr lang="en-US" sz="2000" dirty="0" err="1"/>
              <a:t>Mbit</a:t>
            </a:r>
            <a:r>
              <a:rPr lang="en-US" sz="2000" dirty="0"/>
              <a:t>/s (even 250 </a:t>
            </a:r>
            <a:r>
              <a:rPr lang="en-US" sz="2000" dirty="0" err="1"/>
              <a:t>Mbit</a:t>
            </a:r>
            <a:r>
              <a:rPr lang="en-US" sz="2000" dirty="0"/>
              <a:t>/s in PHY level), and so up to 4-5 times faster than 802.11g.</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p:cNvSpPr>
            <a:spLocks noGrp="1"/>
          </p:cNvSpPr>
          <p:nvPr>
            <p:ph type="sldNum" sz="quarter" idx="12"/>
          </p:nvPr>
        </p:nvSpPr>
        <p:spPr>
          <a:noFill/>
        </p:spPr>
        <p:txBody>
          <a:bodyPr/>
          <a:lstStyle/>
          <a:p>
            <a:fld id="{9DC30DB9-FFEF-43AF-88A1-672EE1894550}" type="slidenum">
              <a:rPr lang="en-US" smtClean="0"/>
              <a:pPr/>
              <a:t>56</a:t>
            </a:fld>
            <a:endParaRPr lang="en-US"/>
          </a:p>
        </p:txBody>
      </p:sp>
      <p:sp>
        <p:nvSpPr>
          <p:cNvPr id="40963" name="TextBox 4"/>
          <p:cNvSpPr txBox="1">
            <a:spLocks noChangeArrowheads="1"/>
          </p:cNvSpPr>
          <p:nvPr/>
        </p:nvSpPr>
        <p:spPr bwMode="auto">
          <a:xfrm>
            <a:off x="228600" y="533400"/>
            <a:ext cx="8686800" cy="5016500"/>
          </a:xfrm>
          <a:prstGeom prst="rect">
            <a:avLst/>
          </a:prstGeom>
          <a:noFill/>
          <a:ln w="9525">
            <a:noFill/>
            <a:miter lim="800000"/>
            <a:headEnd/>
            <a:tailEnd/>
          </a:ln>
        </p:spPr>
        <p:txBody>
          <a:bodyPr>
            <a:spAutoFit/>
          </a:bodyPr>
          <a:lstStyle/>
          <a:p>
            <a:pPr algn="just"/>
            <a:r>
              <a:rPr lang="en-US" sz="2000" b="1"/>
              <a:t>802.11ac</a:t>
            </a:r>
            <a:r>
              <a:rPr lang="en-US" sz="2000"/>
              <a:t> — 802.11ac builds upon previous 802.11 standards, particularly the 802.11n standard, to deliver data rates of 433Mbps per spatial stream, or 1.3Gbps in a three-antenna (three stream) design. The 802.11ac specification operates only in the 5 GHz frequency range and features support for wider channels (80MHz and 160MHz) and beamforming capabilities by default to help achieve its higher wireless speeds.</a:t>
            </a:r>
          </a:p>
          <a:p>
            <a:pPr algn="just"/>
            <a:endParaRPr lang="en-US" sz="2000"/>
          </a:p>
          <a:p>
            <a:pPr algn="just"/>
            <a:r>
              <a:rPr lang="en-US" sz="2000" b="1"/>
              <a:t>802.11ac Wave 2</a:t>
            </a:r>
            <a:r>
              <a:rPr lang="en-US" sz="2000"/>
              <a:t> — 802.11ac Wave 2 is an update for the original 802.11ac spec that uses MU-MIMO technology and other advancements to help increase theoretical maximum wireless speeds for the spec to 6.93 Gbps.</a:t>
            </a:r>
          </a:p>
          <a:p>
            <a:pPr algn="just"/>
            <a:endParaRPr lang="en-US" sz="2000"/>
          </a:p>
          <a:p>
            <a:pPr algn="just"/>
            <a:r>
              <a:rPr lang="en-US" sz="2000" b="1"/>
              <a:t>802.11ad</a:t>
            </a:r>
            <a:r>
              <a:rPr lang="en-US" sz="2000"/>
              <a:t>— 802.11ad is a wireless specification under development that will operate in the 60GHz frequency band and offer much higher transfer rates than previous 802.11 specs, with a theoretical maximum transfer rate of up to 7Gbps (Gigabits per second).</a:t>
            </a:r>
          </a:p>
          <a:p>
            <a:pPr algn="just"/>
            <a:endParaRPr lang="en-US" sz="20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3"/>
          <p:cNvSpPr>
            <a:spLocks noGrp="1"/>
          </p:cNvSpPr>
          <p:nvPr>
            <p:ph type="sldNum" sz="quarter" idx="12"/>
          </p:nvPr>
        </p:nvSpPr>
        <p:spPr>
          <a:noFill/>
        </p:spPr>
        <p:txBody>
          <a:bodyPr/>
          <a:lstStyle/>
          <a:p>
            <a:fld id="{A39DAE98-D29C-4151-B674-31E7B97D6556}" type="slidenum">
              <a:rPr lang="en-US" smtClean="0"/>
              <a:pPr/>
              <a:t>57</a:t>
            </a:fld>
            <a:endParaRPr lang="en-US"/>
          </a:p>
        </p:txBody>
      </p:sp>
      <p:sp>
        <p:nvSpPr>
          <p:cNvPr id="41987" name="TextBox 4"/>
          <p:cNvSpPr txBox="1">
            <a:spLocks noChangeArrowheads="1"/>
          </p:cNvSpPr>
          <p:nvPr/>
        </p:nvSpPr>
        <p:spPr bwMode="auto">
          <a:xfrm>
            <a:off x="304800" y="609600"/>
            <a:ext cx="8610600" cy="4524375"/>
          </a:xfrm>
          <a:prstGeom prst="rect">
            <a:avLst/>
          </a:prstGeom>
          <a:noFill/>
          <a:ln w="9525">
            <a:noFill/>
            <a:miter lim="800000"/>
            <a:headEnd/>
            <a:tailEnd/>
          </a:ln>
        </p:spPr>
        <p:txBody>
          <a:bodyPr>
            <a:spAutoFit/>
          </a:bodyPr>
          <a:lstStyle/>
          <a:p>
            <a:pPr algn="just"/>
            <a:r>
              <a:rPr lang="en-US" b="1"/>
              <a:t>802.11r</a:t>
            </a:r>
            <a:r>
              <a:rPr lang="en-US"/>
              <a:t> -  802.11r, also called </a:t>
            </a:r>
            <a:r>
              <a:rPr lang="en-US" i="1"/>
              <a:t>Fast </a:t>
            </a:r>
            <a:r>
              <a:rPr lang="en-US" b="1" i="1"/>
              <a:t>B</a:t>
            </a:r>
            <a:r>
              <a:rPr lang="en-US" i="1"/>
              <a:t>asic </a:t>
            </a:r>
            <a:r>
              <a:rPr lang="en-US" b="1" i="1"/>
              <a:t>S</a:t>
            </a:r>
            <a:r>
              <a:rPr lang="en-US" i="1"/>
              <a:t>ervice </a:t>
            </a:r>
            <a:r>
              <a:rPr lang="en-US" b="1" i="1"/>
              <a:t>S</a:t>
            </a:r>
            <a:r>
              <a:rPr lang="en-US" i="1"/>
              <a:t>et</a:t>
            </a:r>
            <a:r>
              <a:rPr lang="en-US"/>
              <a:t> (BSS) Transition, supports VoWi-Fi handoff between access points to enable VoIP roaming on a Wi-Fi  network with 802.1X  authentication.</a:t>
            </a:r>
          </a:p>
          <a:p>
            <a:pPr algn="just"/>
            <a:endParaRPr lang="en-US"/>
          </a:p>
          <a:p>
            <a:pPr algn="just"/>
            <a:r>
              <a:rPr lang="en-US" b="1"/>
              <a:t>802.1X </a:t>
            </a:r>
            <a:r>
              <a:rPr lang="en-US"/>
              <a:t>— Not to be confused with 802.11x (which is the term used to describe the family of 802.11 standards) 802.1X is an IEEE standard for port-based Network Access Control that allows network administrators to restricted use of IEEE 802 LAN service access points to secure communication between authenticated and authorized devices. </a:t>
            </a:r>
          </a:p>
          <a:p>
            <a:pPr algn="just"/>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p:cNvSpPr>
            <a:spLocks noGrp="1"/>
          </p:cNvSpPr>
          <p:nvPr>
            <p:ph type="sldNum" sz="quarter" idx="12"/>
          </p:nvPr>
        </p:nvSpPr>
        <p:spPr>
          <a:noFill/>
        </p:spPr>
        <p:txBody>
          <a:bodyPr/>
          <a:lstStyle/>
          <a:p>
            <a:fld id="{0B39B04F-629D-4AC4-97B9-F720B4203876}" type="slidenum">
              <a:rPr lang="en-US" smtClean="0"/>
              <a:pPr/>
              <a:t>58</a:t>
            </a:fld>
            <a:endParaRPr lang="en-US"/>
          </a:p>
        </p:txBody>
      </p:sp>
      <p:sp>
        <p:nvSpPr>
          <p:cNvPr id="43011" name="TextBox 4"/>
          <p:cNvSpPr txBox="1">
            <a:spLocks noChangeArrowheads="1"/>
          </p:cNvSpPr>
          <p:nvPr/>
        </p:nvSpPr>
        <p:spPr bwMode="auto">
          <a:xfrm>
            <a:off x="0" y="838200"/>
            <a:ext cx="8991600" cy="2530475"/>
          </a:xfrm>
          <a:prstGeom prst="rect">
            <a:avLst/>
          </a:prstGeom>
          <a:solidFill>
            <a:srgbClr val="FFFF66"/>
          </a:solidFill>
          <a:ln w="9525">
            <a:noFill/>
            <a:miter lim="800000"/>
            <a:headEnd/>
            <a:tailEnd/>
          </a:ln>
        </p:spPr>
        <p:txBody>
          <a:bodyPr>
            <a:spAutoFit/>
          </a:bodyPr>
          <a:lstStyle/>
          <a:p>
            <a:pPr algn="just">
              <a:buFont typeface="Wingdings" pitchFamily="2" charset="2"/>
              <a:buChar char="q"/>
            </a:pPr>
            <a:r>
              <a:rPr lang="en-US" sz="2000"/>
              <a:t>A partial view of the 802.11 protocol stack is given in fig. below. The physical layer corresponds to the OSI physical layer fairly well, but the data link layer in all the 802 protocols is split into two or more sublayers. </a:t>
            </a:r>
          </a:p>
          <a:p>
            <a:pPr algn="just">
              <a:buFont typeface="Wingdings" pitchFamily="2" charset="2"/>
              <a:buNone/>
            </a:pPr>
            <a:endParaRPr lang="en-US" sz="2000"/>
          </a:p>
          <a:p>
            <a:pPr algn="just">
              <a:buFont typeface="Wingdings" pitchFamily="2" charset="2"/>
              <a:buChar char="q"/>
            </a:pPr>
            <a:r>
              <a:rPr lang="en-US" sz="2000"/>
              <a:t>In 802.11, the MAC (Medium Access Control) sublayer determines how the channel is allocated, that is, who gets to transmit next. Above it is the LLC (Logical Link Control) sublayer, whose job it is to hide the differences between the different 802 variants and make them indistinguishable as far as the network layer is concerned. </a:t>
            </a:r>
          </a:p>
        </p:txBody>
      </p:sp>
      <p:pic>
        <p:nvPicPr>
          <p:cNvPr id="43012" name="Picture 2" descr="4-25"/>
          <p:cNvPicPr>
            <a:picLocks noChangeAspect="1" noChangeArrowheads="1"/>
          </p:cNvPicPr>
          <p:nvPr/>
        </p:nvPicPr>
        <p:blipFill>
          <a:blip r:embed="rId2"/>
          <a:srcRect/>
          <a:stretch>
            <a:fillRect/>
          </a:stretch>
        </p:blipFill>
        <p:spPr bwMode="auto">
          <a:xfrm>
            <a:off x="1447800" y="3505200"/>
            <a:ext cx="5257800" cy="3100388"/>
          </a:xfrm>
          <a:prstGeom prst="rect">
            <a:avLst/>
          </a:prstGeom>
          <a:noFill/>
          <a:ln w="9525">
            <a:noFill/>
            <a:miter lim="800000"/>
            <a:headEnd/>
            <a:tailEnd/>
          </a:ln>
        </p:spPr>
      </p:pic>
      <p:sp>
        <p:nvSpPr>
          <p:cNvPr id="43013" name="Rectangle 3"/>
          <p:cNvSpPr>
            <a:spLocks noGrp="1" noChangeArrowheads="1"/>
          </p:cNvSpPr>
          <p:nvPr>
            <p:ph type="title"/>
          </p:nvPr>
        </p:nvSpPr>
        <p:spPr>
          <a:xfrm>
            <a:off x="1066800" y="152400"/>
            <a:ext cx="6248400" cy="609600"/>
          </a:xfrm>
          <a:solidFill>
            <a:schemeClr val="accent1"/>
          </a:solidFill>
        </p:spPr>
        <p:txBody>
          <a:bodyPr/>
          <a:lstStyle/>
          <a:p>
            <a:r>
              <a:rPr lang="en-US" sz="4000"/>
              <a:t>The 802.11 Protocol Stack</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p:cNvSpPr>
            <a:spLocks noGrp="1"/>
          </p:cNvSpPr>
          <p:nvPr>
            <p:ph type="sldNum" sz="quarter" idx="12"/>
          </p:nvPr>
        </p:nvSpPr>
        <p:spPr>
          <a:noFill/>
        </p:spPr>
        <p:txBody>
          <a:bodyPr/>
          <a:lstStyle/>
          <a:p>
            <a:fld id="{AE08DE4C-5D49-4576-B70B-2AE8E3AF1923}" type="slidenum">
              <a:rPr lang="en-US" smtClean="0"/>
              <a:pPr/>
              <a:t>59</a:t>
            </a:fld>
            <a:endParaRPr lang="en-US"/>
          </a:p>
        </p:txBody>
      </p:sp>
      <p:sp>
        <p:nvSpPr>
          <p:cNvPr id="44035" name="Rectangle 2"/>
          <p:cNvSpPr>
            <a:spLocks noGrp="1" noChangeArrowheads="1"/>
          </p:cNvSpPr>
          <p:nvPr>
            <p:ph type="title"/>
          </p:nvPr>
        </p:nvSpPr>
        <p:spPr>
          <a:xfrm>
            <a:off x="2057400" y="228600"/>
            <a:ext cx="4419600" cy="609600"/>
          </a:xfrm>
          <a:solidFill>
            <a:srgbClr val="66FF33"/>
          </a:solidFill>
        </p:spPr>
        <p:txBody>
          <a:bodyPr/>
          <a:lstStyle/>
          <a:p>
            <a:r>
              <a:rPr lang="en-US">
                <a:cs typeface="Times New Roman" pitchFamily="18" charset="0"/>
              </a:rPr>
              <a:t>IEEE 802 v OSI</a:t>
            </a:r>
          </a:p>
        </p:txBody>
      </p:sp>
      <p:pic>
        <p:nvPicPr>
          <p:cNvPr id="44036" name="Picture 3"/>
          <p:cNvPicPr>
            <a:picLocks noChangeAspect="1" noChangeArrowheads="1"/>
          </p:cNvPicPr>
          <p:nvPr/>
        </p:nvPicPr>
        <p:blipFill>
          <a:blip r:embed="rId2"/>
          <a:srcRect b="15842"/>
          <a:stretch>
            <a:fillRect/>
          </a:stretch>
        </p:blipFill>
        <p:spPr bwMode="auto">
          <a:xfrm>
            <a:off x="1295400" y="990600"/>
            <a:ext cx="5943600" cy="5368925"/>
          </a:xfrm>
          <a:prstGeom prst="rect">
            <a:avLst/>
          </a:prstGeom>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p:cNvSpPr>
            <a:spLocks noGrp="1"/>
          </p:cNvSpPr>
          <p:nvPr>
            <p:ph type="sldNum" sz="quarter" idx="12"/>
          </p:nvPr>
        </p:nvSpPr>
        <p:spPr>
          <a:noFill/>
        </p:spPr>
        <p:txBody>
          <a:bodyPr/>
          <a:lstStyle/>
          <a:p>
            <a:fld id="{FDFDD719-47EF-45CF-9FE9-45593F46FC04}" type="slidenum">
              <a:rPr lang="en-US" smtClean="0"/>
              <a:pPr/>
              <a:t>60</a:t>
            </a:fld>
            <a:endParaRPr lang="en-US"/>
          </a:p>
        </p:txBody>
      </p:sp>
      <p:pic>
        <p:nvPicPr>
          <p:cNvPr id="45059" name="Picture 2" descr="4-25"/>
          <p:cNvPicPr>
            <a:picLocks noChangeAspect="1" noChangeArrowheads="1"/>
          </p:cNvPicPr>
          <p:nvPr/>
        </p:nvPicPr>
        <p:blipFill>
          <a:blip r:embed="rId2"/>
          <a:srcRect/>
          <a:stretch>
            <a:fillRect/>
          </a:stretch>
        </p:blipFill>
        <p:spPr bwMode="auto">
          <a:xfrm>
            <a:off x="838200" y="239713"/>
            <a:ext cx="7086600" cy="4179887"/>
          </a:xfrm>
          <a:prstGeom prst="rect">
            <a:avLst/>
          </a:prstGeom>
          <a:noFill/>
          <a:ln w="9525">
            <a:noFill/>
            <a:miter lim="800000"/>
            <a:headEnd/>
            <a:tailEnd/>
          </a:ln>
        </p:spPr>
      </p:pic>
      <p:sp>
        <p:nvSpPr>
          <p:cNvPr id="45060" name="Text Box 6"/>
          <p:cNvSpPr txBox="1">
            <a:spLocks noChangeArrowheads="1"/>
          </p:cNvSpPr>
          <p:nvPr/>
        </p:nvSpPr>
        <p:spPr bwMode="auto">
          <a:xfrm>
            <a:off x="990600" y="4648200"/>
            <a:ext cx="5334000" cy="2017713"/>
          </a:xfrm>
          <a:prstGeom prst="rect">
            <a:avLst/>
          </a:prstGeom>
          <a:solidFill>
            <a:srgbClr val="66CCFF"/>
          </a:solidFill>
          <a:ln w="9525">
            <a:noFill/>
            <a:miter lim="800000"/>
            <a:headEnd/>
            <a:tailEnd/>
          </a:ln>
        </p:spPr>
        <p:txBody>
          <a:bodyPr>
            <a:spAutoFit/>
          </a:bodyPr>
          <a:lstStyle/>
          <a:p>
            <a:pPr marL="457200" indent="-457200">
              <a:spcBef>
                <a:spcPct val="50000"/>
              </a:spcBef>
            </a:pPr>
            <a:r>
              <a:rPr lang="en-US" sz="1800"/>
              <a:t>Infrared with PPM scheme</a:t>
            </a:r>
          </a:p>
          <a:p>
            <a:pPr marL="457200" indent="-457200">
              <a:spcBef>
                <a:spcPct val="50000"/>
              </a:spcBef>
            </a:pPr>
            <a:r>
              <a:rPr lang="en-US" sz="1800"/>
              <a:t>FHSS (Frequency Hopping Spread Spectrum)</a:t>
            </a:r>
          </a:p>
          <a:p>
            <a:pPr marL="457200" indent="-457200">
              <a:spcBef>
                <a:spcPct val="50000"/>
              </a:spcBef>
            </a:pPr>
            <a:r>
              <a:rPr lang="en-US" sz="1800"/>
              <a:t>DSSS (Direct Sequence Spread Spectrum)</a:t>
            </a:r>
          </a:p>
          <a:p>
            <a:pPr marL="457200" indent="-457200">
              <a:spcBef>
                <a:spcPct val="50000"/>
              </a:spcBef>
            </a:pPr>
            <a:r>
              <a:rPr lang="en-US" sz="1800"/>
              <a:t>OFDM (Orthogonal Frequency Division Multiplexing)</a:t>
            </a:r>
          </a:p>
          <a:p>
            <a:pPr marL="457200" indent="-457200">
              <a:spcBef>
                <a:spcPct val="50000"/>
              </a:spcBef>
            </a:pPr>
            <a:r>
              <a:rPr lang="en-US" sz="1800"/>
              <a:t>HR-DSSS (High Rate DSSS)</a:t>
            </a:r>
          </a:p>
        </p:txBody>
      </p:sp>
      <p:sp>
        <p:nvSpPr>
          <p:cNvPr id="45061" name="Rectangle 4"/>
          <p:cNvSpPr>
            <a:spLocks noChangeArrowheads="1"/>
          </p:cNvSpPr>
          <p:nvPr/>
        </p:nvSpPr>
        <p:spPr bwMode="auto">
          <a:xfrm>
            <a:off x="0" y="0"/>
            <a:ext cx="5486400" cy="646113"/>
          </a:xfrm>
          <a:prstGeom prst="rect">
            <a:avLst/>
          </a:prstGeom>
          <a:solidFill>
            <a:srgbClr val="66CCFF"/>
          </a:solidFill>
          <a:ln w="9525">
            <a:noFill/>
            <a:miter lim="800000"/>
            <a:headEnd/>
            <a:tailEnd/>
          </a:ln>
        </p:spPr>
        <p:txBody>
          <a:bodyPr>
            <a:spAutoFit/>
          </a:bodyPr>
          <a:lstStyle/>
          <a:p>
            <a:r>
              <a:rPr lang="en-US" sz="3600" b="1"/>
              <a:t>The 802.11 Physical Layer</a:t>
            </a:r>
            <a:endParaRPr lang="en-US" sz="36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4"/>
          <p:cNvSpPr>
            <a:spLocks noGrp="1"/>
          </p:cNvSpPr>
          <p:nvPr>
            <p:ph type="sldNum" sz="quarter" idx="12"/>
          </p:nvPr>
        </p:nvSpPr>
        <p:spPr>
          <a:noFill/>
        </p:spPr>
        <p:txBody>
          <a:bodyPr/>
          <a:lstStyle/>
          <a:p>
            <a:fld id="{B87BBBA1-8605-4D54-BC2C-17DB3E55649E}" type="slidenum">
              <a:rPr lang="en-US" smtClean="0"/>
              <a:pPr/>
              <a:t>61</a:t>
            </a:fld>
            <a:endParaRPr lang="en-US"/>
          </a:p>
        </p:txBody>
      </p:sp>
      <p:pic>
        <p:nvPicPr>
          <p:cNvPr id="47107" name="Picture 2"/>
          <p:cNvPicPr>
            <a:picLocks noGrp="1" noChangeAspect="1" noChangeArrowheads="1"/>
          </p:cNvPicPr>
          <p:nvPr>
            <p:ph/>
          </p:nvPr>
        </p:nvPicPr>
        <p:blipFill>
          <a:blip r:embed="rId2"/>
          <a:srcRect/>
          <a:stretch>
            <a:fillRect/>
          </a:stretch>
        </p:blipFill>
        <p:spPr>
          <a:xfrm>
            <a:off x="2667000" y="3108325"/>
            <a:ext cx="5867400" cy="3749675"/>
          </a:xfrm>
          <a:noFill/>
        </p:spPr>
      </p:pic>
      <p:sp>
        <p:nvSpPr>
          <p:cNvPr id="47108" name="Rectangle 4"/>
          <p:cNvSpPr>
            <a:spLocks noChangeArrowheads="1"/>
          </p:cNvSpPr>
          <p:nvPr/>
        </p:nvSpPr>
        <p:spPr bwMode="auto">
          <a:xfrm>
            <a:off x="0" y="0"/>
            <a:ext cx="6477000" cy="457200"/>
          </a:xfrm>
          <a:prstGeom prst="rect">
            <a:avLst/>
          </a:prstGeom>
          <a:solidFill>
            <a:srgbClr val="66FF33"/>
          </a:solidFill>
          <a:ln w="9525">
            <a:noFill/>
            <a:miter lim="800000"/>
            <a:headEnd/>
            <a:tailEnd/>
          </a:ln>
        </p:spPr>
        <p:txBody>
          <a:bodyPr anchor="ctr"/>
          <a:lstStyle/>
          <a:p>
            <a:pPr algn="ctr"/>
            <a:r>
              <a:rPr lang="en-US" sz="3200" b="1">
                <a:solidFill>
                  <a:schemeClr val="tx2"/>
                </a:solidFill>
              </a:rPr>
              <a:t>DS Spectrum Spreading Technique</a:t>
            </a:r>
          </a:p>
        </p:txBody>
      </p:sp>
      <p:sp>
        <p:nvSpPr>
          <p:cNvPr id="47109" name="Text Box 5"/>
          <p:cNvSpPr txBox="1">
            <a:spLocks noChangeArrowheads="1"/>
          </p:cNvSpPr>
          <p:nvPr/>
        </p:nvSpPr>
        <p:spPr bwMode="auto">
          <a:xfrm>
            <a:off x="0" y="457200"/>
            <a:ext cx="3581400" cy="2862263"/>
          </a:xfrm>
          <a:prstGeom prst="rect">
            <a:avLst/>
          </a:prstGeom>
          <a:solidFill>
            <a:srgbClr val="FFFF66"/>
          </a:solidFill>
          <a:ln w="9525">
            <a:noFill/>
            <a:miter lim="800000"/>
            <a:headEnd/>
            <a:tailEnd/>
          </a:ln>
        </p:spPr>
        <p:txBody>
          <a:bodyPr>
            <a:spAutoFit/>
          </a:bodyPr>
          <a:lstStyle/>
          <a:p>
            <a:pPr algn="just">
              <a:spcBef>
                <a:spcPct val="50000"/>
              </a:spcBef>
              <a:buFont typeface="Wingdings" pitchFamily="2" charset="2"/>
              <a:buChar char="ü"/>
            </a:pPr>
            <a:r>
              <a:rPr lang="en-US" sz="2000"/>
              <a:t>Spread spectrum involves the use of a much wider BW than actually necessary to support a given data rate. The result of using wider BW is to minimize interference and drastically reduce BER. It operates in 2.4GHz band at data rate of 1Mbps and 2Mbps.  </a:t>
            </a:r>
          </a:p>
        </p:txBody>
      </p:sp>
      <p:pic>
        <p:nvPicPr>
          <p:cNvPr id="47110" name="Picture 2" descr="4-25"/>
          <p:cNvPicPr>
            <a:picLocks noChangeAspect="1" noChangeArrowheads="1"/>
          </p:cNvPicPr>
          <p:nvPr/>
        </p:nvPicPr>
        <p:blipFill>
          <a:blip r:embed="rId3"/>
          <a:srcRect/>
          <a:stretch>
            <a:fillRect/>
          </a:stretch>
        </p:blipFill>
        <p:spPr bwMode="auto">
          <a:xfrm>
            <a:off x="4038600" y="457200"/>
            <a:ext cx="4572000" cy="2695575"/>
          </a:xfrm>
          <a:prstGeom prst="rect">
            <a:avLst/>
          </a:prstGeom>
          <a:noFill/>
          <a:ln w="9525">
            <a:noFill/>
            <a:miter lim="800000"/>
            <a:headEnd/>
            <a:tailEnd/>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8889644D-C9F4-45D8-9436-F15691B06083}" type="slidenum">
              <a:rPr lang="en-US" smtClean="0"/>
              <a:pPr>
                <a:defRPr/>
              </a:pPr>
              <a:t>62</a:t>
            </a:fld>
            <a:endParaRPr lang="en-US"/>
          </a:p>
        </p:txBody>
      </p:sp>
      <p:pic>
        <p:nvPicPr>
          <p:cNvPr id="84994" name="Picture 2"/>
          <p:cNvPicPr>
            <a:picLocks noChangeAspect="1" noChangeArrowheads="1"/>
          </p:cNvPicPr>
          <p:nvPr/>
        </p:nvPicPr>
        <p:blipFill>
          <a:blip r:embed="rId2"/>
          <a:srcRect/>
          <a:stretch>
            <a:fillRect/>
          </a:stretch>
        </p:blipFill>
        <p:spPr bwMode="auto">
          <a:xfrm>
            <a:off x="1143000" y="228600"/>
            <a:ext cx="7696200" cy="6122755"/>
          </a:xfrm>
          <a:prstGeom prst="rect">
            <a:avLst/>
          </a:prstGeom>
          <a:noFill/>
          <a:ln w="9525">
            <a:noFill/>
            <a:miter lim="800000"/>
            <a:headEnd/>
            <a:tailEnd/>
          </a:ln>
          <a:effectLst/>
        </p:spPr>
      </p:pic>
      <p:sp>
        <p:nvSpPr>
          <p:cNvPr id="5" name="TextBox 4"/>
          <p:cNvSpPr txBox="1"/>
          <p:nvPr/>
        </p:nvSpPr>
        <p:spPr>
          <a:xfrm>
            <a:off x="990600" y="6172200"/>
            <a:ext cx="6781800" cy="400110"/>
          </a:xfrm>
          <a:prstGeom prst="rect">
            <a:avLst/>
          </a:prstGeom>
          <a:noFill/>
        </p:spPr>
        <p:txBody>
          <a:bodyPr wrap="square" rtlCol="0">
            <a:spAutoFit/>
          </a:bodyPr>
          <a:lstStyle/>
          <a:p>
            <a:r>
              <a:rPr lang="en-US" sz="2000" dirty="0"/>
              <a:t>A simple CDMA example: sender encoding, receiver decoding</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p:cNvSpPr>
            <a:spLocks noGrp="1"/>
          </p:cNvSpPr>
          <p:nvPr>
            <p:ph type="sldNum" sz="quarter" idx="12"/>
          </p:nvPr>
        </p:nvSpPr>
        <p:spPr>
          <a:noFill/>
        </p:spPr>
        <p:txBody>
          <a:bodyPr/>
          <a:lstStyle/>
          <a:p>
            <a:fld id="{D9332E2A-25F9-4715-A388-127DDE48EB32}" type="slidenum">
              <a:rPr lang="en-US" smtClean="0"/>
              <a:pPr/>
              <a:t>63</a:t>
            </a:fld>
            <a:endParaRPr lang="en-US"/>
          </a:p>
        </p:txBody>
      </p:sp>
      <p:sp>
        <p:nvSpPr>
          <p:cNvPr id="48131" name="Text Box 4"/>
          <p:cNvSpPr txBox="1">
            <a:spLocks noChangeArrowheads="1"/>
          </p:cNvSpPr>
          <p:nvPr/>
        </p:nvSpPr>
        <p:spPr bwMode="auto">
          <a:xfrm>
            <a:off x="0" y="762000"/>
            <a:ext cx="8991600" cy="3046413"/>
          </a:xfrm>
          <a:prstGeom prst="rect">
            <a:avLst/>
          </a:prstGeom>
          <a:noFill/>
          <a:ln w="9525">
            <a:noFill/>
            <a:miter lim="800000"/>
            <a:headEnd/>
            <a:tailEnd/>
          </a:ln>
        </p:spPr>
        <p:txBody>
          <a:bodyPr>
            <a:spAutoFit/>
          </a:bodyPr>
          <a:lstStyle/>
          <a:p>
            <a:pPr algn="justLow">
              <a:spcBef>
                <a:spcPct val="50000"/>
              </a:spcBef>
              <a:buFont typeface="Wingdings" pitchFamily="2" charset="2"/>
              <a:buChar char="v"/>
            </a:pPr>
            <a:r>
              <a:rPr lang="en-US"/>
              <a:t>In case of FHSP, spread spectrum is achieved by frequently jumping from one carrier frequency to another; thus if there is interference or performance degradation at a given frequency, it only affects a small fraction of transmission. </a:t>
            </a:r>
          </a:p>
          <a:p>
            <a:pPr algn="justLow">
              <a:spcBef>
                <a:spcPct val="50000"/>
              </a:spcBef>
              <a:buFont typeface="Wingdings" pitchFamily="2" charset="2"/>
              <a:buChar char="v"/>
            </a:pPr>
            <a:r>
              <a:rPr lang="en-US"/>
              <a:t>The amount of time spent at each frequency, the dwell time, is an adjustable parameter but must be less than 400 ms. </a:t>
            </a:r>
          </a:p>
          <a:p>
            <a:pPr algn="justLow">
              <a:spcBef>
                <a:spcPct val="50000"/>
              </a:spcBef>
              <a:buFont typeface="Wingdings" pitchFamily="2" charset="2"/>
              <a:buChar char="v"/>
            </a:pPr>
            <a:r>
              <a:rPr lang="en-US"/>
              <a:t>Operates at 2.4 GHz band at data rate of 1Mbps and 2Mbps </a:t>
            </a:r>
          </a:p>
        </p:txBody>
      </p:sp>
      <p:sp>
        <p:nvSpPr>
          <p:cNvPr id="48132" name="Text Box 5"/>
          <p:cNvSpPr txBox="1">
            <a:spLocks noChangeArrowheads="1"/>
          </p:cNvSpPr>
          <p:nvPr/>
        </p:nvSpPr>
        <p:spPr bwMode="auto">
          <a:xfrm>
            <a:off x="0" y="0"/>
            <a:ext cx="6019800" cy="519113"/>
          </a:xfrm>
          <a:prstGeom prst="rect">
            <a:avLst/>
          </a:prstGeom>
          <a:solidFill>
            <a:srgbClr val="66FF33"/>
          </a:solidFill>
          <a:ln w="9525">
            <a:noFill/>
            <a:miter lim="800000"/>
            <a:headEnd/>
            <a:tailEnd/>
          </a:ln>
        </p:spPr>
        <p:txBody>
          <a:bodyPr>
            <a:spAutoFit/>
          </a:bodyPr>
          <a:lstStyle/>
          <a:p>
            <a:pPr>
              <a:spcBef>
                <a:spcPct val="50000"/>
              </a:spcBef>
            </a:pPr>
            <a:r>
              <a:rPr lang="en-US" sz="2800" b="1"/>
              <a:t>Frequency Hopping Spread Spectrum</a:t>
            </a:r>
          </a:p>
        </p:txBody>
      </p:sp>
      <p:pic>
        <p:nvPicPr>
          <p:cNvPr id="48133" name="Picture 2" descr="4-25"/>
          <p:cNvPicPr>
            <a:picLocks noChangeAspect="1" noChangeArrowheads="1"/>
          </p:cNvPicPr>
          <p:nvPr/>
        </p:nvPicPr>
        <p:blipFill>
          <a:blip r:embed="rId2"/>
          <a:srcRect/>
          <a:stretch>
            <a:fillRect/>
          </a:stretch>
        </p:blipFill>
        <p:spPr bwMode="auto">
          <a:xfrm>
            <a:off x="1676400" y="3733800"/>
            <a:ext cx="5029200" cy="2965450"/>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4"/>
          <p:cNvSpPr>
            <a:spLocks noGrp="1"/>
          </p:cNvSpPr>
          <p:nvPr>
            <p:ph type="sldNum" sz="quarter" idx="12"/>
          </p:nvPr>
        </p:nvSpPr>
        <p:spPr>
          <a:noFill/>
        </p:spPr>
        <p:txBody>
          <a:bodyPr/>
          <a:lstStyle/>
          <a:p>
            <a:fld id="{AE650A93-E9DE-434E-9DAF-D04F72D14C7A}" type="slidenum">
              <a:rPr lang="en-US" smtClean="0"/>
              <a:pPr/>
              <a:t>64</a:t>
            </a:fld>
            <a:endParaRPr lang="en-US"/>
          </a:p>
        </p:txBody>
      </p:sp>
      <p:sp>
        <p:nvSpPr>
          <p:cNvPr id="49155" name="Text Box 2"/>
          <p:cNvSpPr txBox="1">
            <a:spLocks noChangeArrowheads="1"/>
          </p:cNvSpPr>
          <p:nvPr/>
        </p:nvSpPr>
        <p:spPr bwMode="auto">
          <a:xfrm>
            <a:off x="0" y="1143000"/>
            <a:ext cx="8915400" cy="2530475"/>
          </a:xfrm>
          <a:prstGeom prst="rect">
            <a:avLst/>
          </a:prstGeom>
          <a:noFill/>
          <a:ln w="9525">
            <a:noFill/>
            <a:miter lim="800000"/>
            <a:headEnd/>
            <a:tailEnd/>
          </a:ln>
        </p:spPr>
        <p:txBody>
          <a:bodyPr>
            <a:spAutoFit/>
          </a:bodyPr>
          <a:lstStyle/>
          <a:p>
            <a:pPr algn="just">
              <a:buFont typeface="Wingdings" pitchFamily="2" charset="2"/>
              <a:buChar char="v"/>
            </a:pPr>
            <a:r>
              <a:rPr lang="en-US" sz="2000" i="1"/>
              <a:t>Orthogonal Frequency Division Multiplexing </a:t>
            </a:r>
            <a:r>
              <a:rPr lang="en-US" sz="2000"/>
              <a:t>(OFDM) is a multi-carrier modulation scheme that transmits data over a number of orthogonal subcarriers. A conventional transmission uses only a single carrier modulated with all the data to be sent. </a:t>
            </a:r>
          </a:p>
          <a:p>
            <a:pPr algn="just">
              <a:buFont typeface="Wingdings" pitchFamily="2" charset="2"/>
              <a:buChar char="v"/>
            </a:pPr>
            <a:r>
              <a:rPr lang="en-US" sz="2000"/>
              <a:t>OFDM breaks the data to be sent into small chunks, allocating each sub-data stream to a sub-carrier and the data is sent in parallel orthogonal sub-carriers. As illustrated in Figure 1, this can be compared with a transport company utilizing several smaller trucks (multi-carrier) instead of one large truck (single carrier).</a:t>
            </a:r>
          </a:p>
        </p:txBody>
      </p:sp>
      <p:pic>
        <p:nvPicPr>
          <p:cNvPr id="49156" name="Picture 3"/>
          <p:cNvPicPr>
            <a:picLocks noGrp="1" noChangeAspect="1" noChangeArrowheads="1"/>
          </p:cNvPicPr>
          <p:nvPr>
            <p:ph/>
          </p:nvPr>
        </p:nvPicPr>
        <p:blipFill>
          <a:blip r:embed="rId2"/>
          <a:srcRect/>
          <a:stretch>
            <a:fillRect/>
          </a:stretch>
        </p:blipFill>
        <p:spPr>
          <a:xfrm>
            <a:off x="914400" y="4038600"/>
            <a:ext cx="6705600" cy="1422400"/>
          </a:xfrm>
          <a:noFill/>
        </p:spPr>
      </p:pic>
      <p:sp>
        <p:nvSpPr>
          <p:cNvPr id="49157" name="Text Box 4"/>
          <p:cNvSpPr txBox="1">
            <a:spLocks noChangeArrowheads="1"/>
          </p:cNvSpPr>
          <p:nvPr/>
        </p:nvSpPr>
        <p:spPr bwMode="auto">
          <a:xfrm>
            <a:off x="1676400" y="5867400"/>
            <a:ext cx="6324600" cy="457200"/>
          </a:xfrm>
          <a:prstGeom prst="rect">
            <a:avLst/>
          </a:prstGeom>
          <a:noFill/>
          <a:ln w="9525">
            <a:noFill/>
            <a:miter lim="800000"/>
            <a:headEnd/>
            <a:tailEnd/>
          </a:ln>
        </p:spPr>
        <p:txBody>
          <a:bodyPr>
            <a:spAutoFit/>
          </a:bodyPr>
          <a:lstStyle/>
          <a:p>
            <a:pPr>
              <a:spcBef>
                <a:spcPct val="50000"/>
              </a:spcBef>
            </a:pPr>
            <a:r>
              <a:rPr lang="en-US"/>
              <a:t>Fig.1 Single carrier vs. multi-carrier transmission</a:t>
            </a:r>
          </a:p>
        </p:txBody>
      </p:sp>
      <p:sp>
        <p:nvSpPr>
          <p:cNvPr id="49158" name="Text Box 5"/>
          <p:cNvSpPr txBox="1">
            <a:spLocks noChangeArrowheads="1"/>
          </p:cNvSpPr>
          <p:nvPr/>
        </p:nvSpPr>
        <p:spPr bwMode="auto">
          <a:xfrm>
            <a:off x="0" y="0"/>
            <a:ext cx="6858000" cy="946150"/>
          </a:xfrm>
          <a:prstGeom prst="rect">
            <a:avLst/>
          </a:prstGeom>
          <a:solidFill>
            <a:srgbClr val="66FF33"/>
          </a:solidFill>
          <a:ln w="9525">
            <a:noFill/>
            <a:miter lim="800000"/>
            <a:headEnd/>
            <a:tailEnd/>
          </a:ln>
        </p:spPr>
        <p:txBody>
          <a:bodyPr>
            <a:spAutoFit/>
          </a:bodyPr>
          <a:lstStyle/>
          <a:p>
            <a:pPr algn="ctr">
              <a:spcBef>
                <a:spcPct val="50000"/>
              </a:spcBef>
            </a:pPr>
            <a:r>
              <a:rPr lang="en-US" sz="2800"/>
              <a:t>Orthogonal Frequency Division Multiplexing IEEE 802.11a and 802.11g</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4"/>
          <p:cNvSpPr>
            <a:spLocks noGrp="1"/>
          </p:cNvSpPr>
          <p:nvPr>
            <p:ph type="sldNum" sz="quarter" idx="12"/>
          </p:nvPr>
        </p:nvSpPr>
        <p:spPr>
          <a:noFill/>
        </p:spPr>
        <p:txBody>
          <a:bodyPr/>
          <a:lstStyle/>
          <a:p>
            <a:fld id="{9E832E36-DD23-4A9A-993F-658E6821B4D9}" type="slidenum">
              <a:rPr lang="en-US" smtClean="0"/>
              <a:pPr/>
              <a:t>65</a:t>
            </a:fld>
            <a:endParaRPr lang="en-US"/>
          </a:p>
        </p:txBody>
      </p:sp>
      <p:pic>
        <p:nvPicPr>
          <p:cNvPr id="50179" name="Picture 4"/>
          <p:cNvPicPr>
            <a:picLocks noChangeAspect="1" noChangeArrowheads="1"/>
          </p:cNvPicPr>
          <p:nvPr/>
        </p:nvPicPr>
        <p:blipFill>
          <a:blip r:embed="rId2"/>
          <a:srcRect/>
          <a:stretch>
            <a:fillRect/>
          </a:stretch>
        </p:blipFill>
        <p:spPr bwMode="auto">
          <a:xfrm>
            <a:off x="0" y="762000"/>
            <a:ext cx="8629650" cy="5181600"/>
          </a:xfrm>
          <a:prstGeom prst="rect">
            <a:avLst/>
          </a:prstGeom>
          <a:noFill/>
          <a:ln w="9525">
            <a:noFill/>
            <a:miter lim="800000"/>
            <a:headEnd/>
            <a:tailEnd/>
          </a:ln>
        </p:spPr>
      </p:pic>
      <p:sp>
        <p:nvSpPr>
          <p:cNvPr id="50180" name="Rectangle 5"/>
          <p:cNvSpPr>
            <a:spLocks noChangeArrowheads="1"/>
          </p:cNvSpPr>
          <p:nvPr/>
        </p:nvSpPr>
        <p:spPr bwMode="auto">
          <a:xfrm>
            <a:off x="0" y="0"/>
            <a:ext cx="2714625" cy="461963"/>
          </a:xfrm>
          <a:prstGeom prst="rect">
            <a:avLst/>
          </a:prstGeom>
          <a:noFill/>
          <a:ln w="9525">
            <a:noFill/>
            <a:miter lim="800000"/>
            <a:headEnd/>
            <a:tailEnd/>
          </a:ln>
        </p:spPr>
        <p:txBody>
          <a:bodyPr wrap="none">
            <a:spAutoFit/>
          </a:bodyPr>
          <a:lstStyle/>
          <a:p>
            <a:r>
              <a:rPr lang="en-US"/>
              <a:t>OFDM Versus FDM</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p:cNvSpPr>
            <a:spLocks noGrp="1"/>
          </p:cNvSpPr>
          <p:nvPr>
            <p:ph type="sldNum" sz="quarter" idx="12"/>
          </p:nvPr>
        </p:nvSpPr>
        <p:spPr>
          <a:noFill/>
        </p:spPr>
        <p:txBody>
          <a:bodyPr/>
          <a:lstStyle/>
          <a:p>
            <a:fld id="{CC0C9AD4-3413-4A04-B531-D452B43DABF5}" type="slidenum">
              <a:rPr lang="en-US" smtClean="0"/>
              <a:pPr/>
              <a:t>66</a:t>
            </a:fld>
            <a:endParaRPr lang="en-US"/>
          </a:p>
        </p:txBody>
      </p:sp>
      <p:sp>
        <p:nvSpPr>
          <p:cNvPr id="99330" name="Text Box 2"/>
          <p:cNvSpPr txBox="1">
            <a:spLocks noChangeArrowheads="1"/>
          </p:cNvSpPr>
          <p:nvPr/>
        </p:nvSpPr>
        <p:spPr bwMode="auto">
          <a:xfrm>
            <a:off x="381000" y="1600200"/>
            <a:ext cx="8458200" cy="4108450"/>
          </a:xfrm>
          <a:prstGeom prst="rect">
            <a:avLst/>
          </a:prstGeom>
          <a:solidFill>
            <a:srgbClr val="FFFFCC"/>
          </a:solidFill>
          <a:ln w="9525" algn="ctr">
            <a:noFill/>
            <a:miter lim="800000"/>
            <a:headEnd/>
            <a:tailEnd/>
          </a:ln>
        </p:spPr>
        <p:txBody>
          <a:bodyPr>
            <a:spAutoFit/>
          </a:bodyPr>
          <a:lstStyle/>
          <a:p>
            <a:pPr marL="457200" indent="-457200" algn="just"/>
            <a:r>
              <a:rPr lang="en-US"/>
              <a:t> 1. It elongates the symbol period so that the signal is more robust against intersymbol interference caused by channel dispersions and multipath interference.</a:t>
            </a:r>
          </a:p>
          <a:p>
            <a:pPr marL="457200" indent="-457200" algn="just"/>
            <a:endParaRPr lang="en-US"/>
          </a:p>
          <a:p>
            <a:pPr marL="457200" indent="-457200" algn="just"/>
            <a:r>
              <a:rPr lang="en-US"/>
              <a:t>2.  It divides the entire frequency band into narrow bands so that it is less sensitive to wide-band impulse noise and fast channel fades.</a:t>
            </a:r>
          </a:p>
          <a:p>
            <a:pPr marL="457200" indent="-457200" algn="just"/>
            <a:endParaRPr lang="en-US"/>
          </a:p>
          <a:p>
            <a:pPr marL="457200" indent="-457200" algn="just"/>
            <a:r>
              <a:rPr lang="en-US"/>
              <a:t>3. Splitting the channel into narrowband channels enables significant simplification of equalizer design in multipath environments. </a:t>
            </a:r>
          </a:p>
        </p:txBody>
      </p:sp>
      <p:sp>
        <p:nvSpPr>
          <p:cNvPr id="51204" name="Text Box 3"/>
          <p:cNvSpPr txBox="1">
            <a:spLocks noChangeArrowheads="1"/>
          </p:cNvSpPr>
          <p:nvPr/>
        </p:nvSpPr>
        <p:spPr bwMode="auto">
          <a:xfrm>
            <a:off x="304800" y="584414"/>
            <a:ext cx="8610600" cy="457200"/>
          </a:xfrm>
          <a:prstGeom prst="rect">
            <a:avLst/>
          </a:prstGeom>
          <a:solidFill>
            <a:schemeClr val="hlink"/>
          </a:solidFill>
          <a:ln w="9525">
            <a:noFill/>
            <a:miter lim="800000"/>
            <a:headEnd/>
            <a:tailEnd/>
          </a:ln>
        </p:spPr>
        <p:txBody>
          <a:bodyPr>
            <a:spAutoFit/>
          </a:bodyPr>
          <a:lstStyle/>
          <a:p>
            <a:pPr>
              <a:spcBef>
                <a:spcPct val="50000"/>
              </a:spcBef>
            </a:pPr>
            <a:r>
              <a:rPr lang="en-US" b="1" dirty="0"/>
              <a:t>OFDM offers many advantages over single-carrier modulations: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99330">
                                            <p:txEl>
                                              <p:pRg st="0" end="0"/>
                                            </p:txEl>
                                          </p:spTgt>
                                        </p:tgtEl>
                                        <p:attrNameLst>
                                          <p:attrName>style.visibility</p:attrName>
                                        </p:attrNameLst>
                                      </p:cBhvr>
                                      <p:to>
                                        <p:strVal val="visible"/>
                                      </p:to>
                                    </p:set>
                                    <p:animEffect transition="in" filter="diamond(in)">
                                      <p:cBhvr>
                                        <p:cTn id="7" dur="2000"/>
                                        <p:tgtEl>
                                          <p:spTgt spid="993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99330">
                                            <p:txEl>
                                              <p:pRg st="2" end="2"/>
                                            </p:txEl>
                                          </p:spTgt>
                                        </p:tgtEl>
                                        <p:attrNameLst>
                                          <p:attrName>style.visibility</p:attrName>
                                        </p:attrNameLst>
                                      </p:cBhvr>
                                      <p:to>
                                        <p:strVal val="visible"/>
                                      </p:to>
                                    </p:set>
                                    <p:animEffect transition="in" filter="diamond(in)">
                                      <p:cBhvr>
                                        <p:cTn id="12" dur="2000"/>
                                        <p:tgtEl>
                                          <p:spTgt spid="9933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99330">
                                            <p:txEl>
                                              <p:pRg st="4" end="4"/>
                                            </p:txEl>
                                          </p:spTgt>
                                        </p:tgtEl>
                                        <p:attrNameLst>
                                          <p:attrName>style.visibility</p:attrName>
                                        </p:attrNameLst>
                                      </p:cBhvr>
                                      <p:to>
                                        <p:strVal val="visible"/>
                                      </p:to>
                                    </p:set>
                                    <p:animEffect transition="in" filter="diamond(in)">
                                      <p:cBhvr>
                                        <p:cTn id="17" dur="2000"/>
                                        <p:tgtEl>
                                          <p:spTgt spid="9933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p:cNvSpPr>
            <a:spLocks noGrp="1"/>
          </p:cNvSpPr>
          <p:nvPr>
            <p:ph type="sldNum" sz="quarter" idx="12"/>
          </p:nvPr>
        </p:nvSpPr>
        <p:spPr>
          <a:noFill/>
        </p:spPr>
        <p:txBody>
          <a:bodyPr/>
          <a:lstStyle/>
          <a:p>
            <a:fld id="{430676A3-111E-473F-BADF-BB5BA7C96AB8}" type="slidenum">
              <a:rPr lang="en-US" smtClean="0"/>
              <a:pPr/>
              <a:t>67</a:t>
            </a:fld>
            <a:endParaRPr lang="en-US"/>
          </a:p>
        </p:txBody>
      </p:sp>
      <p:sp>
        <p:nvSpPr>
          <p:cNvPr id="100354" name="Text Box 2"/>
          <p:cNvSpPr txBox="1">
            <a:spLocks noChangeArrowheads="1"/>
          </p:cNvSpPr>
          <p:nvPr/>
        </p:nvSpPr>
        <p:spPr bwMode="auto">
          <a:xfrm>
            <a:off x="304800" y="838200"/>
            <a:ext cx="8534400" cy="4473575"/>
          </a:xfrm>
          <a:prstGeom prst="rect">
            <a:avLst/>
          </a:prstGeom>
          <a:solidFill>
            <a:srgbClr val="FFFFCC"/>
          </a:solidFill>
          <a:ln w="9525" algn="ctr">
            <a:noFill/>
            <a:miter lim="800000"/>
            <a:headEnd/>
            <a:tailEnd/>
          </a:ln>
        </p:spPr>
        <p:txBody>
          <a:bodyPr>
            <a:spAutoFit/>
          </a:bodyPr>
          <a:lstStyle/>
          <a:p>
            <a:pPr marL="457200" indent="-457200" algn="just"/>
            <a:r>
              <a:rPr lang="en-US"/>
              <a:t>4. Different modulation formats and data rates can be used on different subcarriers depending on the noise level of individual subbands (the symbol periods are kept the same). In serial transmission, certain types of noise (such as timevarying tone interference) may cause an entire system to fail; the parallel OFDM system can avoid this problem by adaptively reducing the data rate of the affected subbands or dropping them.</a:t>
            </a:r>
          </a:p>
          <a:p>
            <a:pPr marL="457200" indent="-457200" algn="just"/>
            <a:endParaRPr lang="en-US"/>
          </a:p>
          <a:p>
            <a:pPr marL="457200" indent="-457200" algn="just"/>
            <a:r>
              <a:rPr lang="en-US"/>
              <a:t>5. OFDM can be implemented digitally using an inverse discrete Fourier transform and discrete Fourier transform (IDFT/DFT) pair (via the efficient fast algorithm IFFT/FFT pair), which greatly reduces the system complexity.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00354">
                                            <p:txEl>
                                              <p:pRg st="0" end="0"/>
                                            </p:txEl>
                                          </p:spTgt>
                                        </p:tgtEl>
                                        <p:attrNameLst>
                                          <p:attrName>style.visibility</p:attrName>
                                        </p:attrNameLst>
                                      </p:cBhvr>
                                      <p:to>
                                        <p:strVal val="visible"/>
                                      </p:to>
                                    </p:set>
                                    <p:animEffect transition="in" filter="diamond(in)">
                                      <p:cBhvr>
                                        <p:cTn id="7" dur="2000"/>
                                        <p:tgtEl>
                                          <p:spTgt spid="1003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100354">
                                            <p:txEl>
                                              <p:pRg st="2" end="2"/>
                                            </p:txEl>
                                          </p:spTgt>
                                        </p:tgtEl>
                                        <p:attrNameLst>
                                          <p:attrName>style.visibility</p:attrName>
                                        </p:attrNameLst>
                                      </p:cBhvr>
                                      <p:to>
                                        <p:strVal val="visible"/>
                                      </p:to>
                                    </p:set>
                                    <p:animEffect transition="in" filter="diamond(in)">
                                      <p:cBhvr>
                                        <p:cTn id="12" dur="2000"/>
                                        <p:tgtEl>
                                          <p:spTgt spid="10035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C2D1CEED-4BE9-4C2D-AB80-5D0385C8FBBA}" type="slidenum">
              <a:rPr lang="en-US" smtClean="0"/>
              <a:pPr>
                <a:defRPr/>
              </a:pPr>
              <a:t>68</a:t>
            </a:fld>
            <a:endParaRPr lang="en-US"/>
          </a:p>
        </p:txBody>
      </p:sp>
      <p:grpSp>
        <p:nvGrpSpPr>
          <p:cNvPr id="84" name="Group 83"/>
          <p:cNvGrpSpPr/>
          <p:nvPr/>
        </p:nvGrpSpPr>
        <p:grpSpPr>
          <a:xfrm>
            <a:off x="152400" y="152400"/>
            <a:ext cx="8610599" cy="5901083"/>
            <a:chOff x="0" y="499717"/>
            <a:chExt cx="8610599" cy="5901083"/>
          </a:xfrm>
        </p:grpSpPr>
        <p:sp>
          <p:nvSpPr>
            <p:cNvPr id="7" name="Text Box 3"/>
            <p:cNvSpPr txBox="1">
              <a:spLocks noChangeArrowheads="1"/>
            </p:cNvSpPr>
            <p:nvPr/>
          </p:nvSpPr>
          <p:spPr bwMode="auto">
            <a:xfrm>
              <a:off x="2284730" y="5909470"/>
              <a:ext cx="184731" cy="338554"/>
            </a:xfrm>
            <a:prstGeom prst="rect">
              <a:avLst/>
            </a:prstGeom>
            <a:solidFill>
              <a:srgbClr val="FFFFFF">
                <a:alpha val="0"/>
              </a:srgbClr>
            </a:solidFill>
            <a:ln w="9525">
              <a:noFill/>
              <a:miter lim="800000"/>
              <a:headEnd/>
              <a:tailEnd/>
            </a:ln>
          </p:spPr>
          <p:txBody>
            <a:bodyPr wrap="none">
              <a:spAutoFit/>
            </a:bodyPr>
            <a:lstStyle/>
            <a:p>
              <a:endParaRPr lang="en-US" sz="1600"/>
            </a:p>
          </p:txBody>
        </p:sp>
        <p:sp>
          <p:nvSpPr>
            <p:cNvPr id="8" name="Text Box 11"/>
            <p:cNvSpPr txBox="1">
              <a:spLocks noChangeArrowheads="1"/>
            </p:cNvSpPr>
            <p:nvPr/>
          </p:nvSpPr>
          <p:spPr bwMode="auto">
            <a:xfrm>
              <a:off x="2954355" y="1194561"/>
              <a:ext cx="616657" cy="2271371"/>
            </a:xfrm>
            <a:prstGeom prst="rect">
              <a:avLst/>
            </a:prstGeom>
            <a:solidFill>
              <a:srgbClr val="FFC000"/>
            </a:solidFill>
            <a:ln w="9525">
              <a:solidFill>
                <a:srgbClr val="000000"/>
              </a:solidFill>
              <a:miter lim="800000"/>
              <a:headEnd/>
              <a:tailEnd/>
            </a:ln>
          </p:spPr>
          <p:txBody>
            <a:bodyPr/>
            <a:lstStyle/>
            <a:p>
              <a:pPr marL="0" marR="0" fontAlgn="base">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0" marR="0" algn="ctr" fontAlgn="base">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 </a:t>
              </a:r>
              <a:r>
                <a:rPr lang="en-US" sz="1600" kern="1200" dirty="0" smtClean="0">
                  <a:solidFill>
                    <a:srgbClr val="000000"/>
                  </a:solidFill>
                  <a:effectLst/>
                  <a:latin typeface="Times New Roman" panose="02020603050405020304" pitchFamily="18" charset="0"/>
                  <a:ea typeface="Times New Roman" panose="02020603050405020304" pitchFamily="18" charset="0"/>
                </a:rPr>
                <a:t>S/P</a:t>
              </a:r>
            </a:p>
            <a:p>
              <a:pPr marL="0" marR="0" algn="ctr" fontAlgn="base">
                <a:spcBef>
                  <a:spcPts val="0"/>
                </a:spcBef>
                <a:spcAft>
                  <a:spcPts val="0"/>
                </a:spcAft>
              </a:pPr>
              <a:endParaRPr lang="en-US" sz="1600" dirty="0">
                <a:solidFill>
                  <a:srgbClr val="000000"/>
                </a:solidFill>
                <a:ea typeface="Times New Roman" panose="02020603050405020304" pitchFamily="18" charset="0"/>
              </a:endParaRPr>
            </a:p>
            <a:p>
              <a:pPr marL="0" marR="0" algn="ctr" fontAlgn="base">
                <a:spcBef>
                  <a:spcPts val="0"/>
                </a:spcBef>
                <a:spcAft>
                  <a:spcPts val="0"/>
                </a:spcAft>
              </a:pPr>
              <a:r>
                <a:rPr lang="en-US" sz="1600" dirty="0" smtClean="0">
                  <a:solidFill>
                    <a:srgbClr val="000000"/>
                  </a:solidFill>
                  <a:effectLst/>
                  <a:latin typeface="Times New Roman" panose="02020603050405020304" pitchFamily="18" charset="0"/>
                  <a:ea typeface="Times New Roman" panose="02020603050405020304" pitchFamily="18" charset="0"/>
                </a:rPr>
                <a:t>Or</a:t>
              </a:r>
            </a:p>
            <a:p>
              <a:pPr marL="0" marR="0" algn="ctr" fontAlgn="base">
                <a:spcBef>
                  <a:spcPts val="0"/>
                </a:spcBef>
                <a:spcAft>
                  <a:spcPts val="0"/>
                </a:spcAft>
              </a:pPr>
              <a:endParaRPr lang="en-US" sz="1600" dirty="0" smtClean="0">
                <a:solidFill>
                  <a:srgbClr val="000000"/>
                </a:solidFill>
                <a:ea typeface="Times New Roman" panose="02020603050405020304" pitchFamily="18" charset="0"/>
              </a:endParaRPr>
            </a:p>
            <a:p>
              <a:pPr marL="0" marR="0" algn="ctr" fontAlgn="base">
                <a:spcBef>
                  <a:spcPts val="0"/>
                </a:spcBef>
                <a:spcAft>
                  <a:spcPts val="0"/>
                </a:spcAft>
              </a:pPr>
              <a:r>
                <a:rPr lang="en-US" sz="1600" dirty="0" smtClean="0">
                  <a:solidFill>
                    <a:srgbClr val="000000"/>
                  </a:solidFill>
                  <a:ea typeface="Times New Roman" panose="02020603050405020304" pitchFamily="18" charset="0"/>
                </a:rPr>
                <a:t>D</a:t>
              </a:r>
            </a:p>
            <a:p>
              <a:pPr marL="0" marR="0" algn="ctr" fontAlgn="base">
                <a:spcBef>
                  <a:spcPts val="0"/>
                </a:spcBef>
                <a:spcAft>
                  <a:spcPts val="0"/>
                </a:spcAft>
              </a:pPr>
              <a:r>
                <a:rPr lang="en-US" sz="1600" dirty="0" smtClean="0">
                  <a:solidFill>
                    <a:srgbClr val="000000"/>
                  </a:solidFill>
                  <a:ea typeface="Times New Roman" panose="02020603050405020304" pitchFamily="18" charset="0"/>
                </a:rPr>
                <a:t>M</a:t>
              </a:r>
            </a:p>
            <a:p>
              <a:pPr marL="0" marR="0" algn="ctr" fontAlgn="base">
                <a:spcBef>
                  <a:spcPts val="0"/>
                </a:spcBef>
                <a:spcAft>
                  <a:spcPts val="0"/>
                </a:spcAft>
              </a:pPr>
              <a:r>
                <a:rPr lang="en-US" sz="1600" dirty="0" smtClean="0">
                  <a:solidFill>
                    <a:srgbClr val="000000"/>
                  </a:solidFill>
                  <a:ea typeface="Times New Roman" panose="02020603050405020304" pitchFamily="18" charset="0"/>
                </a:rPr>
                <a:t>U</a:t>
              </a:r>
            </a:p>
            <a:p>
              <a:pPr marL="0" marR="0" algn="ctr" fontAlgn="base">
                <a:spcBef>
                  <a:spcPts val="0"/>
                </a:spcBef>
                <a:spcAft>
                  <a:spcPts val="0"/>
                </a:spcAft>
              </a:pPr>
              <a:r>
                <a:rPr lang="en-US" sz="1600" dirty="0" smtClean="0">
                  <a:solidFill>
                    <a:srgbClr val="000000"/>
                  </a:solidFill>
                  <a:ea typeface="Times New Roman" panose="02020603050405020304" pitchFamily="18" charset="0"/>
                </a:rPr>
                <a:t>X</a:t>
              </a:r>
              <a:endParaRPr lang="en-US" sz="1600" dirty="0">
                <a:effectLst/>
                <a:latin typeface="Times New Roman" panose="02020603050405020304" pitchFamily="18" charset="0"/>
                <a:ea typeface="Times New Roman" panose="02020603050405020304" pitchFamily="18" charset="0"/>
              </a:endParaRPr>
            </a:p>
          </p:txBody>
        </p:sp>
        <p:sp>
          <p:nvSpPr>
            <p:cNvPr id="9" name="Text Box 13"/>
            <p:cNvSpPr txBox="1">
              <a:spLocks noChangeArrowheads="1"/>
            </p:cNvSpPr>
            <p:nvPr/>
          </p:nvSpPr>
          <p:spPr bwMode="auto">
            <a:xfrm>
              <a:off x="3725176" y="1044011"/>
              <a:ext cx="464074" cy="453193"/>
            </a:xfrm>
            <a:prstGeom prst="rect">
              <a:avLst/>
            </a:prstGeom>
            <a:noFill/>
            <a:ln w="9525">
              <a:noFill/>
              <a:miter lim="800000"/>
              <a:headEnd/>
              <a:tailEnd/>
            </a:ln>
          </p:spPr>
          <p:txBody>
            <a:bodyPr/>
            <a:lstStyle/>
            <a:p>
              <a:endParaRPr lang="en-US" sz="1600"/>
            </a:p>
          </p:txBody>
        </p:sp>
        <p:sp>
          <p:nvSpPr>
            <p:cNvPr id="10" name="Text Box 15"/>
            <p:cNvSpPr txBox="1">
              <a:spLocks noChangeArrowheads="1"/>
            </p:cNvSpPr>
            <p:nvPr/>
          </p:nvSpPr>
          <p:spPr bwMode="auto">
            <a:xfrm>
              <a:off x="3725176" y="1850803"/>
              <a:ext cx="184731" cy="338554"/>
            </a:xfrm>
            <a:prstGeom prst="rect">
              <a:avLst/>
            </a:prstGeom>
            <a:noFill/>
            <a:ln w="9525">
              <a:noFill/>
              <a:miter lim="800000"/>
              <a:headEnd/>
              <a:tailEnd/>
            </a:ln>
          </p:spPr>
          <p:txBody>
            <a:bodyPr wrap="none">
              <a:spAutoFit/>
            </a:bodyPr>
            <a:lstStyle/>
            <a:p>
              <a:endParaRPr lang="en-US" sz="1600"/>
            </a:p>
          </p:txBody>
        </p:sp>
        <p:sp>
          <p:nvSpPr>
            <p:cNvPr id="11" name="Text Box 22"/>
            <p:cNvSpPr txBox="1">
              <a:spLocks noChangeArrowheads="1"/>
            </p:cNvSpPr>
            <p:nvPr/>
          </p:nvSpPr>
          <p:spPr bwMode="auto">
            <a:xfrm>
              <a:off x="5676423" y="1121960"/>
              <a:ext cx="618238" cy="2269827"/>
            </a:xfrm>
            <a:prstGeom prst="rect">
              <a:avLst/>
            </a:prstGeom>
            <a:noFill/>
            <a:ln w="9525">
              <a:solidFill>
                <a:srgbClr val="000000"/>
              </a:solidFill>
              <a:miter lim="800000"/>
              <a:headEnd/>
              <a:tailEnd/>
            </a:ln>
          </p:spPr>
          <p:txBody>
            <a:bodyPr/>
            <a:lstStyle/>
            <a:p>
              <a:pPr marL="0" marR="0" fontAlgn="base">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0" marR="0" fontAlgn="base">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0" marR="0" fontAlgn="base">
                <a:spcBef>
                  <a:spcPts val="0"/>
                </a:spcBef>
                <a:spcAft>
                  <a:spcPts val="0"/>
                </a:spcAft>
              </a:pPr>
              <a:r>
                <a:rPr lang="en-US" sz="4800" kern="1200" dirty="0">
                  <a:solidFill>
                    <a:srgbClr val="000000"/>
                  </a:solidFill>
                  <a:effectLst/>
                  <a:latin typeface="Times New Roman" panose="02020603050405020304" pitchFamily="18" charset="0"/>
                  <a:ea typeface="Times New Roman" panose="02020603050405020304" pitchFamily="18" charset="0"/>
                </a:rPr>
                <a:t>Σ</a:t>
              </a:r>
              <a:endParaRPr lang="en-US" sz="4800" dirty="0">
                <a:effectLst/>
                <a:latin typeface="Times New Roman" panose="02020603050405020304" pitchFamily="18" charset="0"/>
                <a:ea typeface="Times New Roman" panose="02020603050405020304" pitchFamily="18" charset="0"/>
              </a:endParaRPr>
            </a:p>
          </p:txBody>
        </p:sp>
        <p:sp>
          <p:nvSpPr>
            <p:cNvPr id="12" name="Text Box 24"/>
            <p:cNvSpPr txBox="1">
              <a:spLocks noChangeArrowheads="1"/>
            </p:cNvSpPr>
            <p:nvPr/>
          </p:nvSpPr>
          <p:spPr bwMode="auto">
            <a:xfrm>
              <a:off x="6312762" y="1661651"/>
              <a:ext cx="758962" cy="455510"/>
            </a:xfrm>
            <a:prstGeom prst="rect">
              <a:avLst/>
            </a:prstGeom>
            <a:noFill/>
            <a:ln w="9525">
              <a:noFill/>
              <a:miter lim="800000"/>
              <a:headEnd/>
              <a:tailEnd/>
            </a:ln>
          </p:spPr>
          <p:txBody>
            <a:bodyPr/>
            <a:lstStyle/>
            <a:p>
              <a:pPr marL="0" marR="0" fontAlgn="base">
                <a:spcBef>
                  <a:spcPts val="0"/>
                </a:spcBef>
                <a:spcAft>
                  <a:spcPts val="0"/>
                </a:spcAft>
              </a:pPr>
              <a:r>
                <a:rPr lang="en-US" sz="1600" i="1" kern="1200" dirty="0">
                  <a:solidFill>
                    <a:srgbClr val="000000"/>
                  </a:solidFill>
                  <a:effectLst/>
                  <a:latin typeface="Times New Roman" panose="02020603050405020304" pitchFamily="18" charset="0"/>
                  <a:ea typeface="Times New Roman" panose="02020603050405020304" pitchFamily="18" charset="0"/>
                </a:rPr>
                <a:t>x</a:t>
              </a:r>
              <a:r>
                <a:rPr lang="en-US" sz="1600" kern="1200" dirty="0">
                  <a:solidFill>
                    <a:srgbClr val="000000"/>
                  </a:solidFill>
                  <a:effectLst/>
                  <a:latin typeface="Times New Roman" panose="02020603050405020304" pitchFamily="18" charset="0"/>
                  <a:ea typeface="Times New Roman" panose="02020603050405020304" pitchFamily="18" charset="0"/>
                </a:rPr>
                <a:t>(</a:t>
              </a:r>
              <a:r>
                <a:rPr lang="en-US" sz="1600" i="1" kern="1200" dirty="0">
                  <a:solidFill>
                    <a:srgbClr val="000000"/>
                  </a:solidFill>
                  <a:effectLst/>
                  <a:latin typeface="Times New Roman" panose="02020603050405020304" pitchFamily="18" charset="0"/>
                  <a:ea typeface="Times New Roman" panose="02020603050405020304" pitchFamily="18" charset="0"/>
                </a:rPr>
                <a:t>t</a:t>
              </a:r>
              <a:r>
                <a:rPr lang="en-US" sz="1600" kern="1200" dirty="0">
                  <a:solidFill>
                    <a:srgbClr val="000000"/>
                  </a:solidFill>
                  <a:effectLst/>
                  <a:latin typeface="Times New Roman" panose="02020603050405020304" pitchFamily="18" charset="0"/>
                  <a:ea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endParaRPr>
            </a:p>
          </p:txBody>
        </p:sp>
        <p:sp>
          <p:nvSpPr>
            <p:cNvPr id="13" name="Text Box 28"/>
            <p:cNvSpPr txBox="1">
              <a:spLocks noChangeArrowheads="1"/>
            </p:cNvSpPr>
            <p:nvPr/>
          </p:nvSpPr>
          <p:spPr bwMode="auto">
            <a:xfrm>
              <a:off x="7082002" y="1901758"/>
              <a:ext cx="1080730" cy="408414"/>
            </a:xfrm>
            <a:prstGeom prst="rect">
              <a:avLst/>
            </a:prstGeom>
            <a:solidFill>
              <a:srgbClr val="92D050"/>
            </a:solidFill>
            <a:ln w="9525">
              <a:solidFill>
                <a:srgbClr val="000000"/>
              </a:solidFill>
              <a:miter lim="800000"/>
              <a:headEnd/>
              <a:tailEnd/>
            </a:ln>
          </p:spPr>
          <p:txBody>
            <a:bodyPr>
              <a:noAutofit/>
            </a:bodyPr>
            <a:lstStyle/>
            <a:p>
              <a:pPr marL="0" marR="0" fontAlgn="base">
                <a:spcBef>
                  <a:spcPts val="0"/>
                </a:spcBef>
                <a:spcAft>
                  <a:spcPts val="0"/>
                </a:spcAft>
              </a:pPr>
              <a:r>
                <a:rPr lang="en-US" sz="1600" kern="1200">
                  <a:solidFill>
                    <a:srgbClr val="000000"/>
                  </a:solidFill>
                  <a:effectLst/>
                  <a:latin typeface="Times New Roman" panose="02020603050405020304" pitchFamily="18" charset="0"/>
                  <a:ea typeface="Times New Roman" panose="02020603050405020304" pitchFamily="18" charset="0"/>
                </a:rPr>
                <a:t>Channel</a:t>
              </a:r>
              <a:endParaRPr lang="en-US" sz="1600">
                <a:effectLst/>
                <a:latin typeface="Times New Roman" panose="02020603050405020304" pitchFamily="18" charset="0"/>
                <a:ea typeface="Times New Roman" panose="02020603050405020304" pitchFamily="18" charset="0"/>
              </a:endParaRPr>
            </a:p>
          </p:txBody>
        </p:sp>
        <p:sp>
          <p:nvSpPr>
            <p:cNvPr id="14" name="Text Box 18"/>
            <p:cNvSpPr txBox="1">
              <a:spLocks noChangeArrowheads="1"/>
            </p:cNvSpPr>
            <p:nvPr/>
          </p:nvSpPr>
          <p:spPr bwMode="auto">
            <a:xfrm>
              <a:off x="4344204" y="2368077"/>
              <a:ext cx="184731" cy="338554"/>
            </a:xfrm>
            <a:prstGeom prst="rect">
              <a:avLst/>
            </a:prstGeom>
            <a:noFill/>
            <a:ln w="9525">
              <a:noFill/>
              <a:miter lim="800000"/>
              <a:headEnd/>
              <a:tailEnd/>
            </a:ln>
          </p:spPr>
          <p:txBody>
            <a:bodyPr wrap="none">
              <a:spAutoFit/>
            </a:bodyPr>
            <a:lstStyle/>
            <a:p>
              <a:endParaRPr lang="en-US" sz="1600"/>
            </a:p>
          </p:txBody>
        </p:sp>
        <p:sp>
          <p:nvSpPr>
            <p:cNvPr id="15" name="Text Box 17"/>
            <p:cNvSpPr txBox="1">
              <a:spLocks noChangeArrowheads="1"/>
            </p:cNvSpPr>
            <p:nvPr/>
          </p:nvSpPr>
          <p:spPr bwMode="auto">
            <a:xfrm>
              <a:off x="3571012" y="2759506"/>
              <a:ext cx="184731" cy="338554"/>
            </a:xfrm>
            <a:prstGeom prst="rect">
              <a:avLst/>
            </a:prstGeom>
            <a:noFill/>
            <a:ln w="9525">
              <a:noFill/>
              <a:miter lim="800000"/>
              <a:headEnd/>
              <a:tailEnd/>
            </a:ln>
          </p:spPr>
          <p:txBody>
            <a:bodyPr wrap="none">
              <a:spAutoFit/>
            </a:bodyPr>
            <a:lstStyle/>
            <a:p>
              <a:endParaRPr lang="en-US" sz="1600"/>
            </a:p>
          </p:txBody>
        </p:sp>
        <p:sp>
          <p:nvSpPr>
            <p:cNvPr id="16" name="Text Box 36"/>
            <p:cNvSpPr txBox="1">
              <a:spLocks noChangeArrowheads="1"/>
            </p:cNvSpPr>
            <p:nvPr/>
          </p:nvSpPr>
          <p:spPr bwMode="auto">
            <a:xfrm>
              <a:off x="5364060" y="3554718"/>
              <a:ext cx="184731" cy="338554"/>
            </a:xfrm>
            <a:prstGeom prst="rect">
              <a:avLst/>
            </a:prstGeom>
            <a:noFill/>
            <a:ln w="9525">
              <a:noFill/>
              <a:miter lim="800000"/>
              <a:headEnd/>
              <a:tailEnd/>
            </a:ln>
          </p:spPr>
          <p:txBody>
            <a:bodyPr wrap="none">
              <a:spAutoFit/>
            </a:bodyPr>
            <a:lstStyle/>
            <a:p>
              <a:endParaRPr lang="en-US" sz="1600"/>
            </a:p>
          </p:txBody>
        </p:sp>
        <p:sp>
          <p:nvSpPr>
            <p:cNvPr id="17" name="Text Box 38"/>
            <p:cNvSpPr txBox="1">
              <a:spLocks noChangeArrowheads="1"/>
            </p:cNvSpPr>
            <p:nvPr/>
          </p:nvSpPr>
          <p:spPr bwMode="auto">
            <a:xfrm>
              <a:off x="5364060" y="4461876"/>
              <a:ext cx="184731" cy="338554"/>
            </a:xfrm>
            <a:prstGeom prst="rect">
              <a:avLst/>
            </a:prstGeom>
            <a:noFill/>
            <a:ln w="9525">
              <a:noFill/>
              <a:miter lim="800000"/>
              <a:headEnd/>
              <a:tailEnd/>
            </a:ln>
          </p:spPr>
          <p:txBody>
            <a:bodyPr wrap="none">
              <a:spAutoFit/>
            </a:bodyPr>
            <a:lstStyle/>
            <a:p>
              <a:endParaRPr lang="en-US" sz="1600"/>
            </a:p>
          </p:txBody>
        </p:sp>
        <p:sp>
          <p:nvSpPr>
            <p:cNvPr id="18" name="Text Box 32"/>
            <p:cNvSpPr txBox="1">
              <a:spLocks noChangeArrowheads="1"/>
            </p:cNvSpPr>
            <p:nvPr/>
          </p:nvSpPr>
          <p:spPr bwMode="auto">
            <a:xfrm>
              <a:off x="7585604" y="4626323"/>
              <a:ext cx="618238" cy="455510"/>
            </a:xfrm>
            <a:prstGeom prst="rect">
              <a:avLst/>
            </a:prstGeom>
            <a:noFill/>
            <a:ln w="9525">
              <a:noFill/>
              <a:miter lim="800000"/>
              <a:headEnd/>
              <a:tailEnd/>
            </a:ln>
          </p:spPr>
          <p:txBody>
            <a:bodyPr/>
            <a:lstStyle/>
            <a:p>
              <a:pPr marL="0" marR="0" fontAlgn="base">
                <a:spcBef>
                  <a:spcPts val="0"/>
                </a:spcBef>
                <a:spcAft>
                  <a:spcPts val="0"/>
                </a:spcAft>
              </a:pPr>
              <a:r>
                <a:rPr lang="en-US" sz="1600" i="1" kern="1200" dirty="0">
                  <a:solidFill>
                    <a:srgbClr val="000000"/>
                  </a:solidFill>
                  <a:effectLst/>
                  <a:latin typeface="Times New Roman" panose="02020603050405020304" pitchFamily="18" charset="0"/>
                  <a:ea typeface="Times New Roman" panose="02020603050405020304" pitchFamily="18" charset="0"/>
                </a:rPr>
                <a:t>r</a:t>
              </a:r>
              <a:r>
                <a:rPr lang="en-US" sz="1600" kern="1200" dirty="0">
                  <a:solidFill>
                    <a:srgbClr val="000000"/>
                  </a:solidFill>
                  <a:effectLst/>
                  <a:latin typeface="Times New Roman" panose="02020603050405020304" pitchFamily="18" charset="0"/>
                  <a:ea typeface="Times New Roman" panose="02020603050405020304" pitchFamily="18" charset="0"/>
                </a:rPr>
                <a:t>(</a:t>
              </a:r>
              <a:r>
                <a:rPr lang="en-US" sz="1600" i="1" kern="1200" dirty="0">
                  <a:solidFill>
                    <a:srgbClr val="000000"/>
                  </a:solidFill>
                  <a:effectLst/>
                  <a:latin typeface="Times New Roman" panose="02020603050405020304" pitchFamily="18" charset="0"/>
                  <a:ea typeface="Times New Roman" panose="02020603050405020304" pitchFamily="18" charset="0"/>
                </a:rPr>
                <a:t>t</a:t>
              </a:r>
              <a:r>
                <a:rPr lang="en-US" sz="1600" kern="1200" dirty="0">
                  <a:solidFill>
                    <a:srgbClr val="000000"/>
                  </a:solidFill>
                  <a:effectLst/>
                  <a:latin typeface="Times New Roman" panose="02020603050405020304" pitchFamily="18" charset="0"/>
                  <a:ea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endParaRPr>
            </a:p>
          </p:txBody>
        </p:sp>
        <p:sp>
          <p:nvSpPr>
            <p:cNvPr id="19" name="Text Box 47"/>
            <p:cNvSpPr txBox="1">
              <a:spLocks noChangeArrowheads="1"/>
            </p:cNvSpPr>
            <p:nvPr/>
          </p:nvSpPr>
          <p:spPr bwMode="auto">
            <a:xfrm>
              <a:off x="2438894" y="4097469"/>
              <a:ext cx="184731" cy="338554"/>
            </a:xfrm>
            <a:prstGeom prst="rect">
              <a:avLst/>
            </a:prstGeom>
            <a:noFill/>
            <a:ln w="9525">
              <a:noFill/>
              <a:miter lim="800000"/>
              <a:headEnd/>
              <a:tailEnd/>
            </a:ln>
          </p:spPr>
          <p:txBody>
            <a:bodyPr wrap="none">
              <a:spAutoFit/>
            </a:bodyPr>
            <a:lstStyle/>
            <a:p>
              <a:endParaRPr lang="en-US" sz="1600"/>
            </a:p>
          </p:txBody>
        </p:sp>
        <p:cxnSp>
          <p:nvCxnSpPr>
            <p:cNvPr id="20" name="Line 60"/>
            <p:cNvCxnSpPr/>
            <p:nvPr/>
          </p:nvCxnSpPr>
          <p:spPr bwMode="auto">
            <a:xfrm>
              <a:off x="4822509" y="1800620"/>
              <a:ext cx="6325" cy="264041"/>
            </a:xfrm>
            <a:prstGeom prst="line">
              <a:avLst/>
            </a:prstGeom>
            <a:noFill/>
            <a:ln w="9525">
              <a:solidFill>
                <a:schemeClr val="tx1"/>
              </a:solidFill>
              <a:round/>
              <a:headEnd/>
              <a:tailEnd type="triangle" w="med" len="med"/>
            </a:ln>
          </p:spPr>
        </p:cxnSp>
        <p:sp>
          <p:nvSpPr>
            <p:cNvPr id="21" name="Text Box 68"/>
            <p:cNvSpPr txBox="1">
              <a:spLocks noChangeArrowheads="1"/>
            </p:cNvSpPr>
            <p:nvPr/>
          </p:nvSpPr>
          <p:spPr bwMode="auto">
            <a:xfrm>
              <a:off x="3574965" y="2184329"/>
              <a:ext cx="507556" cy="1009069"/>
            </a:xfrm>
            <a:prstGeom prst="rect">
              <a:avLst/>
            </a:prstGeom>
            <a:noFill/>
            <a:ln w="9525">
              <a:noFill/>
              <a:miter lim="800000"/>
              <a:headEnd/>
              <a:tailEnd/>
            </a:ln>
          </p:spPr>
          <p:txBody>
            <a:bodyPr/>
            <a:lstStyle/>
            <a:p>
              <a:pPr marL="0" marR="0" fontAlgn="base">
                <a:spcBef>
                  <a:spcPts val="0"/>
                </a:spcBef>
                <a:spcAft>
                  <a:spcPts val="0"/>
                </a:spcAft>
              </a:pPr>
              <a:r>
                <a:rPr lang="en-US" sz="1600" kern="1200">
                  <a:solidFill>
                    <a:srgbClr val="000000"/>
                  </a:solidFill>
                  <a:effectLst/>
                  <a:latin typeface="Times New Roman" panose="02020603050405020304" pitchFamily="18" charset="0"/>
                  <a:ea typeface="Times New Roman" panose="02020603050405020304" pitchFamily="18" charset="0"/>
                </a:rPr>
                <a:t>………</a:t>
              </a:r>
              <a:endParaRPr lang="en-US" sz="1600">
                <a:effectLst/>
                <a:latin typeface="Times New Roman" panose="02020603050405020304" pitchFamily="18" charset="0"/>
                <a:ea typeface="Times New Roman" panose="02020603050405020304" pitchFamily="18" charset="0"/>
              </a:endParaRPr>
            </a:p>
          </p:txBody>
        </p:sp>
        <p:sp>
          <p:nvSpPr>
            <p:cNvPr id="22" name="Text Box 41"/>
            <p:cNvSpPr txBox="1">
              <a:spLocks noChangeArrowheads="1"/>
            </p:cNvSpPr>
            <p:nvPr/>
          </p:nvSpPr>
          <p:spPr bwMode="auto">
            <a:xfrm>
              <a:off x="5527711" y="5220801"/>
              <a:ext cx="184731" cy="338554"/>
            </a:xfrm>
            <a:prstGeom prst="rect">
              <a:avLst/>
            </a:prstGeom>
            <a:noFill/>
            <a:ln w="9525">
              <a:noFill/>
              <a:miter lim="800000"/>
              <a:headEnd/>
              <a:tailEnd/>
            </a:ln>
          </p:spPr>
          <p:txBody>
            <a:bodyPr wrap="none">
              <a:spAutoFit/>
            </a:bodyPr>
            <a:lstStyle/>
            <a:p>
              <a:endParaRPr lang="en-US" sz="1600"/>
            </a:p>
          </p:txBody>
        </p:sp>
        <p:sp>
          <p:nvSpPr>
            <p:cNvPr id="23" name="Text Box 83"/>
            <p:cNvSpPr txBox="1"/>
            <p:nvPr/>
          </p:nvSpPr>
          <p:spPr>
            <a:xfrm>
              <a:off x="0" y="1780546"/>
              <a:ext cx="2939031" cy="494112"/>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600" b="1" dirty="0">
                  <a:solidFill>
                    <a:srgbClr val="0000FF"/>
                  </a:solidFill>
                  <a:effectLst/>
                  <a:latin typeface="+mj-lt"/>
                  <a:ea typeface="Calibri" panose="020F0502020204030204" pitchFamily="34" charset="0"/>
                  <a:cs typeface="Times New Roman" panose="02020603050405020304" pitchFamily="18" charset="0"/>
                </a:rPr>
                <a:t>Δ O … </a:t>
              </a:r>
              <a:r>
                <a:rPr lang="en-US" sz="1600" b="1" dirty="0">
                  <a:solidFill>
                    <a:srgbClr val="0000FF"/>
                  </a:solidFill>
                  <a:effectLst/>
                  <a:latin typeface="+mj-lt"/>
                  <a:ea typeface="Calibri" panose="020F0502020204030204" pitchFamily="34" charset="0"/>
                  <a:cs typeface="Cambria Math" panose="02040503050406030204" pitchFamily="18" charset="0"/>
                </a:rPr>
                <a:t>↗</a:t>
              </a:r>
              <a:r>
                <a:rPr lang="en-US" sz="1600" b="1" dirty="0">
                  <a:solidFill>
                    <a:srgbClr val="0000FF"/>
                  </a:solidFill>
                  <a:effectLst/>
                  <a:latin typeface="+mj-lt"/>
                  <a:ea typeface="Calibri" panose="020F0502020204030204" pitchFamily="34" charset="0"/>
                  <a:cs typeface="Times New Roman" panose="02020603050405020304" pitchFamily="18" charset="0"/>
                </a:rPr>
                <a:t>     </a:t>
              </a:r>
              <a:r>
                <a:rPr lang="en-US" sz="1600" b="1" dirty="0">
                  <a:effectLst/>
                  <a:latin typeface="+mj-lt"/>
                  <a:ea typeface="Calibri" panose="020F0502020204030204" pitchFamily="34" charset="0"/>
                  <a:cs typeface="Times New Roman" panose="02020603050405020304" pitchFamily="18" charset="0"/>
                </a:rPr>
                <a:t>τ × … </a:t>
              </a:r>
              <a:r>
                <a:rPr lang="en-US" sz="1600" b="1" dirty="0" smtClean="0">
                  <a:effectLst/>
                  <a:latin typeface="+mj-lt"/>
                  <a:ea typeface="Calibri" panose="020F0502020204030204" pitchFamily="34" charset="0"/>
                  <a:cs typeface="Times New Roman" panose="02020603050405020304" pitchFamily="18" charset="0"/>
                </a:rPr>
                <a:t>τ    </a:t>
              </a:r>
              <a:r>
                <a:rPr lang="en-US" sz="1600" b="1" dirty="0">
                  <a:solidFill>
                    <a:srgbClr val="FF0000"/>
                  </a:solidFill>
                  <a:effectLst/>
                  <a:latin typeface="+mj-lt"/>
                  <a:ea typeface="Calibri" panose="020F0502020204030204" pitchFamily="34" charset="0"/>
                  <a:cs typeface="Times New Roman" panose="02020603050405020304" pitchFamily="18" charset="0"/>
                </a:rPr>
                <a:t>ɛ Ψ…Φ</a:t>
              </a:r>
            </a:p>
          </p:txBody>
        </p:sp>
        <p:sp>
          <p:nvSpPr>
            <p:cNvPr id="24" name="Text Box 24"/>
            <p:cNvSpPr txBox="1">
              <a:spLocks noChangeArrowheads="1"/>
            </p:cNvSpPr>
            <p:nvPr/>
          </p:nvSpPr>
          <p:spPr bwMode="auto">
            <a:xfrm>
              <a:off x="3651652" y="899638"/>
              <a:ext cx="949493" cy="372128"/>
            </a:xfrm>
            <a:prstGeom prst="rect">
              <a:avLst/>
            </a:prstGeom>
            <a:noFill/>
            <a:ln w="9525">
              <a:noFill/>
              <a:miter lim="800000"/>
              <a:headEnd/>
              <a:tailEnd/>
            </a:ln>
          </p:spPr>
          <p:txBody>
            <a:bodyPr wrap="square">
              <a:noAutofit/>
            </a:bodyPr>
            <a:lstStyle/>
            <a:p>
              <a:pPr marL="0" marR="0">
                <a:lnSpc>
                  <a:spcPct val="107000"/>
                </a:lnSpc>
                <a:spcBef>
                  <a:spcPts val="0"/>
                </a:spcBef>
                <a:spcAft>
                  <a:spcPts val="800"/>
                </a:spcAft>
              </a:pPr>
              <a:r>
                <a:rPr lang="en-US" sz="1600" dirty="0">
                  <a:solidFill>
                    <a:srgbClr val="0000FF"/>
                  </a:solidFill>
                  <a:effectLst/>
                  <a:ea typeface="Calibri" panose="020F0502020204030204" pitchFamily="34" charset="0"/>
                  <a:cs typeface="Times New Roman" panose="02020603050405020304" pitchFamily="18" charset="0"/>
                </a:rPr>
                <a:t>Δ</a:t>
              </a:r>
              <a:r>
                <a:rPr lang="en-US" sz="1600" dirty="0">
                  <a:effectLst/>
                  <a:ea typeface="Calibri" panose="020F0502020204030204" pitchFamily="34" charset="0"/>
                  <a:cs typeface="Times New Roman" panose="02020603050405020304" pitchFamily="18" charset="0"/>
                </a:rPr>
                <a:t>  τ  </a:t>
              </a:r>
              <a:r>
                <a:rPr lang="en-US" sz="1600" dirty="0">
                  <a:solidFill>
                    <a:srgbClr val="FF0000"/>
                  </a:solidFill>
                  <a:effectLst/>
                  <a:ea typeface="Calibri" panose="020F0502020204030204" pitchFamily="34" charset="0"/>
                  <a:cs typeface="Times New Roman" panose="02020603050405020304" pitchFamily="18" charset="0"/>
                </a:rPr>
                <a:t>ɛ</a:t>
              </a:r>
              <a:r>
                <a:rPr lang="en-US" sz="1600" dirty="0">
                  <a:effectLst/>
                  <a:ea typeface="Calibri" panose="020F0502020204030204" pitchFamily="34" charset="0"/>
                  <a:cs typeface="Times New Roman" panose="02020603050405020304" pitchFamily="18" charset="0"/>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5" name="Text Box 24"/>
            <p:cNvSpPr txBox="1">
              <a:spLocks noChangeArrowheads="1"/>
            </p:cNvSpPr>
            <p:nvPr/>
          </p:nvSpPr>
          <p:spPr bwMode="auto">
            <a:xfrm>
              <a:off x="3586033" y="1902530"/>
              <a:ext cx="1092589" cy="372128"/>
            </a:xfrm>
            <a:prstGeom prst="rect">
              <a:avLst/>
            </a:prstGeom>
            <a:noFill/>
            <a:ln w="9525">
              <a:noFill/>
              <a:miter lim="800000"/>
              <a:headEnd/>
              <a:tailEnd/>
            </a:ln>
          </p:spPr>
          <p:txBody>
            <a:bodyPr wrap="square">
              <a:noAutofit/>
            </a:bodyPr>
            <a:lstStyle/>
            <a:p>
              <a:pPr marL="0" marR="0">
                <a:lnSpc>
                  <a:spcPct val="107000"/>
                </a:lnSpc>
                <a:spcBef>
                  <a:spcPts val="0"/>
                </a:spcBef>
                <a:spcAft>
                  <a:spcPts val="800"/>
                </a:spcAft>
              </a:pPr>
              <a:r>
                <a:rPr lang="en-US" sz="1600" dirty="0">
                  <a:solidFill>
                    <a:srgbClr val="0000FF"/>
                  </a:solidFill>
                  <a:effectLst/>
                  <a:ea typeface="Calibri" panose="020F0502020204030204" pitchFamily="34" charset="0"/>
                  <a:cs typeface="Times New Roman" panose="02020603050405020304" pitchFamily="18" charset="0"/>
                </a:rPr>
                <a:t>O</a:t>
              </a:r>
              <a:r>
                <a:rPr lang="en-US" sz="1600" dirty="0">
                  <a:effectLst/>
                  <a:ea typeface="Calibri" panose="020F0502020204030204" pitchFamily="34" charset="0"/>
                  <a:cs typeface="Times New Roman" panose="02020603050405020304" pitchFamily="18" charset="0"/>
                </a:rPr>
                <a:t>  ×  </a:t>
              </a:r>
              <a:r>
                <a:rPr lang="en-US" sz="1600" dirty="0">
                  <a:solidFill>
                    <a:srgbClr val="FF0000"/>
                  </a:solidFill>
                  <a:effectLst/>
                  <a:ea typeface="Calibri" panose="020F0502020204030204" pitchFamily="34" charset="0"/>
                  <a:cs typeface="Times New Roman" panose="02020603050405020304" pitchFamily="18" charset="0"/>
                </a:rPr>
                <a:t>Ψ</a:t>
              </a:r>
              <a:r>
                <a:rPr lang="en-US" sz="1600" dirty="0">
                  <a:effectLst/>
                  <a:ea typeface="Calibri" panose="020F0502020204030204" pitchFamily="34" charset="0"/>
                  <a:cs typeface="Times New Roman" panose="02020603050405020304" pitchFamily="18" charset="0"/>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6" name="Text Box 24"/>
            <p:cNvSpPr txBox="1">
              <a:spLocks noChangeArrowheads="1"/>
            </p:cNvSpPr>
            <p:nvPr/>
          </p:nvSpPr>
          <p:spPr bwMode="auto">
            <a:xfrm>
              <a:off x="3612122" y="2899247"/>
              <a:ext cx="1065709" cy="372128"/>
            </a:xfrm>
            <a:prstGeom prst="rect">
              <a:avLst/>
            </a:prstGeom>
            <a:noFill/>
            <a:ln w="9525">
              <a:noFill/>
              <a:miter lim="800000"/>
              <a:headEnd/>
              <a:tailEnd/>
            </a:ln>
          </p:spPr>
          <p:txBody>
            <a:bodyPr wrap="square">
              <a:noAutofit/>
            </a:bodyPr>
            <a:lstStyle/>
            <a:p>
              <a:pPr marL="0" marR="0">
                <a:lnSpc>
                  <a:spcPct val="107000"/>
                </a:lnSpc>
                <a:spcBef>
                  <a:spcPts val="0"/>
                </a:spcBef>
                <a:spcAft>
                  <a:spcPts val="800"/>
                </a:spcAft>
              </a:pPr>
              <a:r>
                <a:rPr lang="en-US" sz="1600" dirty="0">
                  <a:solidFill>
                    <a:srgbClr val="0000FF"/>
                  </a:solidFill>
                  <a:effectLst/>
                  <a:latin typeface="Cambria Math" panose="02040503050406030204" pitchFamily="18" charset="0"/>
                  <a:ea typeface="Calibri" panose="020F0502020204030204" pitchFamily="34" charset="0"/>
                  <a:cs typeface="Cambria Math" panose="02040503050406030204" pitchFamily="18" charset="0"/>
                </a:rPr>
                <a:t>↗</a:t>
              </a:r>
              <a:r>
                <a:rPr lang="en-US" sz="1600" dirty="0">
                  <a:effectLst/>
                  <a:ea typeface="Calibri" panose="020F0502020204030204" pitchFamily="34" charset="0"/>
                  <a:cs typeface="Times New Roman" panose="02020603050405020304" pitchFamily="18" charset="0"/>
                </a:rPr>
                <a:t>  τ  </a:t>
              </a:r>
              <a:r>
                <a:rPr lang="en-US" sz="1600" dirty="0">
                  <a:solidFill>
                    <a:srgbClr val="FF0000"/>
                  </a:solidFill>
                  <a:effectLst/>
                  <a:ea typeface="Calibri" panose="020F0502020204030204" pitchFamily="34" charset="0"/>
                  <a:cs typeface="Times New Roman" panose="02020603050405020304" pitchFamily="18" charset="0"/>
                </a:rPr>
                <a:t>Φ</a:t>
              </a:r>
              <a:r>
                <a:rPr lang="en-US" sz="1600" dirty="0">
                  <a:effectLst/>
                  <a:ea typeface="Calibri" panose="020F0502020204030204" pitchFamily="34" charset="0"/>
                  <a:cs typeface="Times New Roman" panose="02020603050405020304" pitchFamily="18" charset="0"/>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Text Box 24"/>
            <p:cNvSpPr txBox="1">
              <a:spLocks noChangeArrowheads="1"/>
            </p:cNvSpPr>
            <p:nvPr/>
          </p:nvSpPr>
          <p:spPr bwMode="auto">
            <a:xfrm>
              <a:off x="4232606" y="499717"/>
              <a:ext cx="1320278" cy="353631"/>
            </a:xfrm>
            <a:prstGeom prst="rect">
              <a:avLst/>
            </a:prstGeom>
            <a:noFill/>
            <a:ln w="9525">
              <a:noFill/>
              <a:miter lim="800000"/>
              <a:headEnd/>
              <a:tailEnd/>
            </a:ln>
          </p:spPr>
          <p:txBody>
            <a:bodyPr wrap="square">
              <a:noAutofit/>
            </a:bodyPr>
            <a:lstStyle/>
            <a:p>
              <a:pPr marL="0" marR="0">
                <a:lnSpc>
                  <a:spcPct val="107000"/>
                </a:lnSpc>
                <a:spcBef>
                  <a:spcPts val="0"/>
                </a:spcBef>
                <a:spcAft>
                  <a:spcPts val="800"/>
                </a:spcAft>
              </a:pPr>
              <a:r>
                <a:rPr lang="en-US" sz="1600" dirty="0">
                  <a:effectLst/>
                  <a:ea typeface="Calibri" panose="020F0502020204030204" pitchFamily="34" charset="0"/>
                  <a:cs typeface="Times New Roman" panose="02020603050405020304" pitchFamily="18" charset="0"/>
                </a:rPr>
                <a:t>Subcarrier-0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8" name="Text Box 24"/>
            <p:cNvSpPr txBox="1">
              <a:spLocks noChangeArrowheads="1"/>
            </p:cNvSpPr>
            <p:nvPr/>
          </p:nvSpPr>
          <p:spPr bwMode="auto">
            <a:xfrm>
              <a:off x="4250915" y="1510329"/>
              <a:ext cx="1276796" cy="342790"/>
            </a:xfrm>
            <a:prstGeom prst="rect">
              <a:avLst/>
            </a:prstGeom>
            <a:noFill/>
            <a:ln w="9525">
              <a:noFill/>
              <a:miter lim="800000"/>
              <a:headEnd/>
              <a:tailEnd/>
            </a:ln>
          </p:spPr>
          <p:txBody>
            <a:bodyPr wrap="square">
              <a:noAutofit/>
            </a:bodyPr>
            <a:lstStyle/>
            <a:p>
              <a:pPr marL="0" marR="0">
                <a:lnSpc>
                  <a:spcPct val="107000"/>
                </a:lnSpc>
                <a:spcBef>
                  <a:spcPts val="0"/>
                </a:spcBef>
                <a:spcAft>
                  <a:spcPts val="800"/>
                </a:spcAft>
              </a:pPr>
              <a:r>
                <a:rPr lang="en-US" sz="1600" dirty="0">
                  <a:effectLst/>
                  <a:ea typeface="Calibri" panose="020F0502020204030204" pitchFamily="34" charset="0"/>
                  <a:cs typeface="Times New Roman" panose="02020603050405020304" pitchFamily="18" charset="0"/>
                </a:rPr>
                <a:t>Subcarrier-1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9" name="Text Box 24"/>
            <p:cNvSpPr txBox="1">
              <a:spLocks noChangeArrowheads="1"/>
            </p:cNvSpPr>
            <p:nvPr/>
          </p:nvSpPr>
          <p:spPr bwMode="auto">
            <a:xfrm>
              <a:off x="4137094" y="2406679"/>
              <a:ext cx="1601726" cy="359272"/>
            </a:xfrm>
            <a:prstGeom prst="rect">
              <a:avLst/>
            </a:prstGeom>
            <a:noFill/>
            <a:ln w="9525">
              <a:noFill/>
              <a:miter lim="800000"/>
              <a:headEnd/>
              <a:tailEnd/>
            </a:ln>
          </p:spPr>
          <p:txBody>
            <a:bodyPr wrap="square">
              <a:noAutofit/>
            </a:bodyPr>
            <a:lstStyle/>
            <a:p>
              <a:pPr marL="0" marR="0">
                <a:lnSpc>
                  <a:spcPct val="107000"/>
                </a:lnSpc>
                <a:spcBef>
                  <a:spcPts val="0"/>
                </a:spcBef>
                <a:spcAft>
                  <a:spcPts val="800"/>
                </a:spcAft>
              </a:pPr>
              <a:r>
                <a:rPr lang="en-US" sz="1600" dirty="0">
                  <a:effectLst/>
                  <a:ea typeface="Calibri" panose="020F0502020204030204" pitchFamily="34" charset="0"/>
                  <a:cs typeface="Times New Roman" panose="02020603050405020304" pitchFamily="18" charset="0"/>
                </a:rPr>
                <a:t>Subcarrier-</a:t>
              </a:r>
              <a:r>
                <a:rPr lang="en-US" sz="1600" i="1" dirty="0">
                  <a:effectLst/>
                  <a:ea typeface="Calibri" panose="020F0502020204030204" pitchFamily="34" charset="0"/>
                  <a:cs typeface="Times New Roman" panose="02020603050405020304" pitchFamily="18" charset="0"/>
                </a:rPr>
                <a:t>N</a:t>
              </a:r>
              <a:r>
                <a:rPr lang="en-US" sz="1600" i="1" baseline="-25000" dirty="0">
                  <a:effectLst/>
                  <a:ea typeface="Calibri" panose="020F0502020204030204" pitchFamily="34" charset="0"/>
                  <a:cs typeface="Times New Roman" panose="02020603050405020304" pitchFamily="18" charset="0"/>
                </a:rPr>
                <a:t>c</a:t>
              </a:r>
              <a:r>
                <a:rPr lang="en-US" sz="1600" i="1" dirty="0">
                  <a:effectLst/>
                  <a:ea typeface="Calibri" panose="020F0502020204030204" pitchFamily="34" charset="0"/>
                  <a:cs typeface="Times New Roman" panose="02020603050405020304" pitchFamily="18" charset="0"/>
                </a:rPr>
                <a:t>-</a:t>
              </a:r>
              <a:r>
                <a:rPr lang="en-US" sz="1600" dirty="0">
                  <a:effectLst/>
                  <a:ea typeface="Calibri" panose="020F0502020204030204" pitchFamily="34" charset="0"/>
                  <a:cs typeface="Times New Roman" panose="02020603050405020304" pitchFamily="18" charset="0"/>
                </a:rPr>
                <a:t>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0" name="Text Box 24"/>
            <p:cNvSpPr txBox="1">
              <a:spLocks noChangeArrowheads="1"/>
            </p:cNvSpPr>
            <p:nvPr/>
          </p:nvSpPr>
          <p:spPr bwMode="auto">
            <a:xfrm>
              <a:off x="4646208" y="3577879"/>
              <a:ext cx="1255450" cy="304307"/>
            </a:xfrm>
            <a:prstGeom prst="rect">
              <a:avLst/>
            </a:prstGeom>
            <a:noFill/>
            <a:ln w="9525">
              <a:noFill/>
              <a:miter lim="800000"/>
              <a:headEnd/>
              <a:tailEnd/>
            </a:ln>
          </p:spPr>
          <p:txBody>
            <a:bodyPr wrap="square">
              <a:noAutofit/>
            </a:bodyPr>
            <a:lstStyle/>
            <a:p>
              <a:pPr marL="0" marR="0">
                <a:lnSpc>
                  <a:spcPct val="107000"/>
                </a:lnSpc>
                <a:spcBef>
                  <a:spcPts val="0"/>
                </a:spcBef>
                <a:spcAft>
                  <a:spcPts val="800"/>
                </a:spcAft>
              </a:pPr>
              <a:r>
                <a:rPr lang="en-US" sz="1600" dirty="0">
                  <a:effectLst/>
                  <a:ea typeface="Calibri" panose="020F0502020204030204" pitchFamily="34" charset="0"/>
                  <a:cs typeface="Times New Roman" panose="02020603050405020304" pitchFamily="18" charset="0"/>
                </a:rPr>
                <a:t>Subcarrier-0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1" name="Text Box 24"/>
            <p:cNvSpPr txBox="1">
              <a:spLocks noChangeArrowheads="1"/>
            </p:cNvSpPr>
            <p:nvPr/>
          </p:nvSpPr>
          <p:spPr bwMode="auto">
            <a:xfrm>
              <a:off x="4711035" y="4491985"/>
              <a:ext cx="1245437" cy="444941"/>
            </a:xfrm>
            <a:prstGeom prst="rect">
              <a:avLst/>
            </a:prstGeom>
            <a:noFill/>
            <a:ln w="9525">
              <a:noFill/>
              <a:miter lim="800000"/>
              <a:headEnd/>
              <a:tailEnd/>
            </a:ln>
          </p:spPr>
          <p:txBody>
            <a:bodyPr wrap="square">
              <a:noAutofit/>
            </a:bodyPr>
            <a:lstStyle/>
            <a:p>
              <a:pPr marL="0" marR="0">
                <a:lnSpc>
                  <a:spcPct val="107000"/>
                </a:lnSpc>
                <a:spcBef>
                  <a:spcPts val="0"/>
                </a:spcBef>
                <a:spcAft>
                  <a:spcPts val="800"/>
                </a:spcAft>
              </a:pPr>
              <a:r>
                <a:rPr lang="en-US" sz="1600" dirty="0">
                  <a:effectLst/>
                  <a:ea typeface="Calibri" panose="020F0502020204030204" pitchFamily="34" charset="0"/>
                  <a:cs typeface="Times New Roman" panose="02020603050405020304" pitchFamily="18" charset="0"/>
                </a:rPr>
                <a:t>Subcarrier-1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2" name="Text Box 24"/>
            <p:cNvSpPr txBox="1">
              <a:spLocks noChangeArrowheads="1"/>
            </p:cNvSpPr>
            <p:nvPr/>
          </p:nvSpPr>
          <p:spPr bwMode="auto">
            <a:xfrm>
              <a:off x="4560825" y="5341240"/>
              <a:ext cx="1494206" cy="407613"/>
            </a:xfrm>
            <a:prstGeom prst="rect">
              <a:avLst/>
            </a:prstGeom>
            <a:noFill/>
            <a:ln w="9525">
              <a:noFill/>
              <a:miter lim="800000"/>
              <a:headEnd/>
              <a:tailEnd/>
            </a:ln>
          </p:spPr>
          <p:txBody>
            <a:bodyPr wrap="square">
              <a:noAutofit/>
            </a:bodyPr>
            <a:lstStyle/>
            <a:p>
              <a:pPr marL="0" marR="0">
                <a:lnSpc>
                  <a:spcPct val="107000"/>
                </a:lnSpc>
                <a:spcBef>
                  <a:spcPts val="0"/>
                </a:spcBef>
                <a:spcAft>
                  <a:spcPts val="800"/>
                </a:spcAft>
              </a:pPr>
              <a:r>
                <a:rPr lang="en-US" sz="1600" dirty="0">
                  <a:effectLst/>
                  <a:ea typeface="Calibri" panose="020F0502020204030204" pitchFamily="34" charset="0"/>
                  <a:cs typeface="Times New Roman" panose="02020603050405020304" pitchFamily="18" charset="0"/>
                </a:rPr>
                <a:t>Subcarrier-</a:t>
              </a:r>
              <a:r>
                <a:rPr lang="en-US" sz="1600" i="1" dirty="0">
                  <a:effectLst/>
                  <a:ea typeface="Calibri" panose="020F0502020204030204" pitchFamily="34" charset="0"/>
                  <a:cs typeface="Times New Roman" panose="02020603050405020304" pitchFamily="18" charset="0"/>
                </a:rPr>
                <a:t>N</a:t>
              </a:r>
              <a:r>
                <a:rPr lang="en-US" sz="1600" i="1" baseline="-25000" dirty="0">
                  <a:effectLst/>
                  <a:ea typeface="Calibri" panose="020F0502020204030204" pitchFamily="34" charset="0"/>
                  <a:cs typeface="Times New Roman" panose="02020603050405020304" pitchFamily="18" charset="0"/>
                </a:rPr>
                <a:t>c</a:t>
              </a:r>
              <a:r>
                <a:rPr lang="en-US" sz="1600" i="1" dirty="0">
                  <a:effectLst/>
                  <a:ea typeface="Calibri" panose="020F0502020204030204" pitchFamily="34" charset="0"/>
                  <a:cs typeface="Times New Roman" panose="02020603050405020304" pitchFamily="18" charset="0"/>
                </a:rPr>
                <a:t>-</a:t>
              </a:r>
              <a:r>
                <a:rPr lang="en-US" sz="1600" dirty="0">
                  <a:effectLst/>
                  <a:ea typeface="Calibri" panose="020F0502020204030204" pitchFamily="34" charset="0"/>
                  <a:cs typeface="Times New Roman" panose="02020603050405020304" pitchFamily="18" charset="0"/>
                </a:rPr>
                <a:t>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3" name="Text Box 28"/>
            <p:cNvSpPr txBox="1">
              <a:spLocks noChangeArrowheads="1"/>
            </p:cNvSpPr>
            <p:nvPr/>
          </p:nvSpPr>
          <p:spPr bwMode="auto">
            <a:xfrm>
              <a:off x="4658857" y="4170399"/>
              <a:ext cx="1080730" cy="331982"/>
            </a:xfrm>
            <a:prstGeom prst="rect">
              <a:avLst/>
            </a:prstGeom>
            <a:solidFill>
              <a:srgbClr val="FF99FF"/>
            </a:solidFill>
            <a:ln w="9525">
              <a:solidFill>
                <a:srgbClr val="000000"/>
              </a:solidFill>
              <a:miter lim="800000"/>
              <a:headEnd/>
              <a:tailEnd/>
            </a:ln>
          </p:spPr>
          <p:txBody>
            <a:bodyPr>
              <a:noAutofit/>
            </a:bodyPr>
            <a:lstStyle/>
            <a:p>
              <a:pPr marL="0" marR="0" fontAlgn="base">
                <a:spcBef>
                  <a:spcPts val="0"/>
                </a:spcBef>
                <a:spcAft>
                  <a:spcPts val="0"/>
                </a:spcAft>
              </a:pPr>
              <a:r>
                <a:rPr lang="en-US" sz="1600" kern="1200" dirty="0" smtClean="0">
                  <a:solidFill>
                    <a:srgbClr val="000000"/>
                  </a:solidFill>
                  <a:effectLst/>
                  <a:latin typeface="Times New Roman" panose="02020603050405020304" pitchFamily="18" charset="0"/>
                  <a:ea typeface="Times New Roman" panose="02020603050405020304" pitchFamily="18" charset="0"/>
                </a:rPr>
                <a:t> D-MOD</a:t>
              </a:r>
              <a:endParaRPr lang="en-US" sz="1600" dirty="0">
                <a:effectLst/>
                <a:latin typeface="Times New Roman" panose="02020603050405020304" pitchFamily="18" charset="0"/>
                <a:ea typeface="Times New Roman" panose="02020603050405020304" pitchFamily="18" charset="0"/>
              </a:endParaRPr>
            </a:p>
          </p:txBody>
        </p:sp>
        <p:sp>
          <p:nvSpPr>
            <p:cNvPr id="34" name="Text Box 28"/>
            <p:cNvSpPr txBox="1">
              <a:spLocks noChangeArrowheads="1"/>
            </p:cNvSpPr>
            <p:nvPr/>
          </p:nvSpPr>
          <p:spPr bwMode="auto">
            <a:xfrm>
              <a:off x="4663601" y="5006944"/>
              <a:ext cx="1080730" cy="331982"/>
            </a:xfrm>
            <a:prstGeom prst="rect">
              <a:avLst/>
            </a:prstGeom>
            <a:solidFill>
              <a:srgbClr val="FF99FF"/>
            </a:solidFill>
            <a:ln w="9525">
              <a:solidFill>
                <a:srgbClr val="000000"/>
              </a:solidFill>
              <a:miter lim="800000"/>
              <a:headEnd/>
              <a:tailEnd/>
            </a:ln>
          </p:spPr>
          <p:txBody>
            <a:bodyPr>
              <a:noAutofit/>
            </a:bodyPr>
            <a:lstStyle/>
            <a:p>
              <a:pPr marL="0" marR="0" fontAlgn="base">
                <a:spcBef>
                  <a:spcPts val="0"/>
                </a:spcBef>
                <a:spcAft>
                  <a:spcPts val="0"/>
                </a:spcAft>
              </a:pPr>
              <a:r>
                <a:rPr lang="en-US" sz="1600" kern="1200" dirty="0" smtClean="0">
                  <a:solidFill>
                    <a:srgbClr val="000000"/>
                  </a:solidFill>
                  <a:effectLst/>
                  <a:latin typeface="Times New Roman" panose="02020603050405020304" pitchFamily="18" charset="0"/>
                  <a:ea typeface="Times New Roman" panose="02020603050405020304" pitchFamily="18" charset="0"/>
                </a:rPr>
                <a:t> D-MOD</a:t>
              </a:r>
              <a:endParaRPr lang="en-US" sz="1600" dirty="0">
                <a:effectLst/>
                <a:latin typeface="Times New Roman" panose="02020603050405020304" pitchFamily="18" charset="0"/>
                <a:ea typeface="Times New Roman" panose="02020603050405020304" pitchFamily="18" charset="0"/>
              </a:endParaRPr>
            </a:p>
          </p:txBody>
        </p:sp>
        <p:sp>
          <p:nvSpPr>
            <p:cNvPr id="35" name="Text Box 28"/>
            <p:cNvSpPr txBox="1">
              <a:spLocks noChangeArrowheads="1"/>
            </p:cNvSpPr>
            <p:nvPr/>
          </p:nvSpPr>
          <p:spPr bwMode="auto">
            <a:xfrm>
              <a:off x="4677831" y="5916418"/>
              <a:ext cx="1080730" cy="331982"/>
            </a:xfrm>
            <a:prstGeom prst="rect">
              <a:avLst/>
            </a:prstGeom>
            <a:solidFill>
              <a:srgbClr val="FF99FF"/>
            </a:solidFill>
            <a:ln w="9525">
              <a:solidFill>
                <a:srgbClr val="000000"/>
              </a:solidFill>
              <a:miter lim="800000"/>
              <a:headEnd/>
              <a:tailEnd/>
            </a:ln>
          </p:spPr>
          <p:txBody>
            <a:bodyPr>
              <a:noAutofit/>
            </a:bodyPr>
            <a:lstStyle/>
            <a:p>
              <a:pPr marL="0" marR="0" fontAlgn="base">
                <a:spcBef>
                  <a:spcPts val="0"/>
                </a:spcBef>
                <a:spcAft>
                  <a:spcPts val="0"/>
                </a:spcAft>
              </a:pPr>
              <a:r>
                <a:rPr lang="en-US" sz="1600" kern="1200" dirty="0" smtClean="0">
                  <a:solidFill>
                    <a:srgbClr val="000000"/>
                  </a:solidFill>
                  <a:effectLst/>
                  <a:latin typeface="Times New Roman" panose="02020603050405020304" pitchFamily="18" charset="0"/>
                  <a:ea typeface="Times New Roman" panose="02020603050405020304" pitchFamily="18" charset="0"/>
                </a:rPr>
                <a:t> D-MOD</a:t>
              </a:r>
              <a:endParaRPr lang="en-US" sz="1600" dirty="0">
                <a:effectLst/>
                <a:latin typeface="Times New Roman" panose="02020603050405020304" pitchFamily="18" charset="0"/>
                <a:ea typeface="Times New Roman" panose="02020603050405020304" pitchFamily="18" charset="0"/>
              </a:endParaRPr>
            </a:p>
          </p:txBody>
        </p:sp>
        <p:sp>
          <p:nvSpPr>
            <p:cNvPr id="36" name="Text Box 24"/>
            <p:cNvSpPr txBox="1">
              <a:spLocks noChangeArrowheads="1"/>
            </p:cNvSpPr>
            <p:nvPr/>
          </p:nvSpPr>
          <p:spPr bwMode="auto">
            <a:xfrm>
              <a:off x="3709364" y="3962360"/>
              <a:ext cx="949493" cy="372128"/>
            </a:xfrm>
            <a:prstGeom prst="rect">
              <a:avLst/>
            </a:prstGeom>
            <a:noFill/>
            <a:ln w="9525">
              <a:noFill/>
              <a:miter lim="800000"/>
              <a:headEnd/>
              <a:tailEnd/>
            </a:ln>
          </p:spPr>
          <p:txBody>
            <a:bodyPr wrap="square">
              <a:noAutofit/>
            </a:bodyPr>
            <a:lstStyle/>
            <a:p>
              <a:pPr marL="0" marR="0">
                <a:lnSpc>
                  <a:spcPct val="107000"/>
                </a:lnSpc>
                <a:spcBef>
                  <a:spcPts val="0"/>
                </a:spcBef>
                <a:spcAft>
                  <a:spcPts val="800"/>
                </a:spcAft>
              </a:pPr>
              <a:r>
                <a:rPr lang="en-US" sz="1600">
                  <a:effectLst/>
                  <a:ea typeface="Calibri" panose="020F0502020204030204" pitchFamily="34" charset="0"/>
                  <a:cs typeface="Times New Roman" panose="02020603050405020304" pitchFamily="18" charset="0"/>
                </a:rPr>
                <a:t>Δ  τ  ɛ …</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7" name="Text Box 24"/>
            <p:cNvSpPr txBox="1">
              <a:spLocks noChangeArrowheads="1"/>
            </p:cNvSpPr>
            <p:nvPr/>
          </p:nvSpPr>
          <p:spPr bwMode="auto">
            <a:xfrm>
              <a:off x="3756009" y="4861798"/>
              <a:ext cx="1092589" cy="372128"/>
            </a:xfrm>
            <a:prstGeom prst="rect">
              <a:avLst/>
            </a:prstGeom>
            <a:noFill/>
            <a:ln w="9525">
              <a:noFill/>
              <a:miter lim="800000"/>
              <a:headEnd/>
              <a:tailEnd/>
            </a:ln>
          </p:spPr>
          <p:txBody>
            <a:bodyPr wrap="square">
              <a:noAutofit/>
            </a:bodyPr>
            <a:lstStyle/>
            <a:p>
              <a:pPr marL="0" marR="0">
                <a:lnSpc>
                  <a:spcPct val="107000"/>
                </a:lnSpc>
                <a:spcBef>
                  <a:spcPts val="0"/>
                </a:spcBef>
                <a:spcAft>
                  <a:spcPts val="800"/>
                </a:spcAft>
              </a:pPr>
              <a:r>
                <a:rPr lang="en-US" sz="1600">
                  <a:effectLst/>
                  <a:ea typeface="Calibri" panose="020F0502020204030204" pitchFamily="34" charset="0"/>
                  <a:cs typeface="Times New Roman" panose="02020603050405020304" pitchFamily="18" charset="0"/>
                </a:rPr>
                <a:t>O  ×  Ψ …</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8" name="Text Box 24"/>
            <p:cNvSpPr txBox="1">
              <a:spLocks noChangeArrowheads="1"/>
            </p:cNvSpPr>
            <p:nvPr/>
          </p:nvSpPr>
          <p:spPr bwMode="auto">
            <a:xfrm>
              <a:off x="3782889" y="5748884"/>
              <a:ext cx="1065709" cy="372128"/>
            </a:xfrm>
            <a:prstGeom prst="rect">
              <a:avLst/>
            </a:prstGeom>
            <a:noFill/>
            <a:ln w="9525">
              <a:noFill/>
              <a:miter lim="800000"/>
              <a:headEnd/>
              <a:tailEnd/>
            </a:ln>
          </p:spPr>
          <p:txBody>
            <a:bodyPr wrap="square">
              <a:noAutofit/>
            </a:bodyPr>
            <a:lstStyle/>
            <a:p>
              <a:pPr marL="0" marR="0">
                <a:lnSpc>
                  <a:spcPct val="107000"/>
                </a:lnSpc>
                <a:spcBef>
                  <a:spcPts val="0"/>
                </a:spcBef>
                <a:spcAft>
                  <a:spcPts val="800"/>
                </a:spcAft>
              </a:pPr>
              <a:r>
                <a:rPr lang="en-US" sz="1600">
                  <a:effectLst/>
                  <a:latin typeface="Cambria Math" panose="02040503050406030204" pitchFamily="18" charset="0"/>
                  <a:ea typeface="Calibri" panose="020F0502020204030204" pitchFamily="34" charset="0"/>
                  <a:cs typeface="Cambria Math" panose="02040503050406030204" pitchFamily="18" charset="0"/>
                </a:rPr>
                <a:t>↗</a:t>
              </a:r>
              <a:r>
                <a:rPr lang="en-US" sz="1600">
                  <a:effectLst/>
                  <a:ea typeface="Calibri" panose="020F0502020204030204" pitchFamily="34" charset="0"/>
                  <a:cs typeface="Times New Roman" panose="02020603050405020304" pitchFamily="18" charset="0"/>
                </a:rPr>
                <a:t>  τ  Φ …</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9" name="Text Box 11"/>
            <p:cNvSpPr txBox="1">
              <a:spLocks noChangeArrowheads="1"/>
            </p:cNvSpPr>
            <p:nvPr/>
          </p:nvSpPr>
          <p:spPr bwMode="auto">
            <a:xfrm>
              <a:off x="3072347" y="4129429"/>
              <a:ext cx="661453" cy="2271371"/>
            </a:xfrm>
            <a:prstGeom prst="rect">
              <a:avLst/>
            </a:prstGeom>
            <a:solidFill>
              <a:srgbClr val="FFC000"/>
            </a:solidFill>
            <a:ln w="9525">
              <a:solidFill>
                <a:srgbClr val="000000"/>
              </a:solidFill>
              <a:miter lim="800000"/>
              <a:headEnd/>
              <a:tailEnd/>
            </a:ln>
          </p:spPr>
          <p:txBody>
            <a:bodyPr wrap="square"/>
            <a:lstStyle/>
            <a:p>
              <a:pPr marL="0" marR="0" fontAlgn="base">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0" marR="0" fontAlgn="base">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0" marR="0" algn="ctr" fontAlgn="base">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P/S</a:t>
              </a:r>
              <a:endParaRPr lang="en-US" sz="1600" dirty="0">
                <a:effectLst/>
                <a:latin typeface="Times New Roman" panose="02020603050405020304" pitchFamily="18" charset="0"/>
                <a:ea typeface="Times New Roman" panose="02020603050405020304" pitchFamily="18" charset="0"/>
              </a:endParaRPr>
            </a:p>
            <a:p>
              <a:pPr marL="0" marR="0" algn="ctr" fontAlgn="base">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0" marR="0" algn="ctr" fontAlgn="base">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Or</a:t>
              </a:r>
              <a:endParaRPr lang="en-US" sz="1600" dirty="0">
                <a:effectLst/>
                <a:latin typeface="Times New Roman" panose="02020603050405020304" pitchFamily="18" charset="0"/>
                <a:ea typeface="Times New Roman" panose="02020603050405020304" pitchFamily="18" charset="0"/>
              </a:endParaRPr>
            </a:p>
            <a:p>
              <a:pPr marL="0" marR="0" algn="ctr" fontAlgn="base">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0" marR="0" algn="ctr" fontAlgn="base">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MUX</a:t>
              </a:r>
              <a:endParaRPr lang="en-US" sz="1600" dirty="0">
                <a:effectLst/>
                <a:latin typeface="Times New Roman" panose="02020603050405020304" pitchFamily="18" charset="0"/>
                <a:ea typeface="Times New Roman" panose="02020603050405020304" pitchFamily="18" charset="0"/>
              </a:endParaRPr>
            </a:p>
          </p:txBody>
        </p:sp>
        <p:sp>
          <p:nvSpPr>
            <p:cNvPr id="40" name="Text Box 103"/>
            <p:cNvSpPr txBox="1"/>
            <p:nvPr/>
          </p:nvSpPr>
          <p:spPr>
            <a:xfrm>
              <a:off x="152399" y="4783454"/>
              <a:ext cx="2801955" cy="321946"/>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600" b="1"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Δ O … </a:t>
              </a:r>
              <a:r>
                <a:rPr lang="en-US" sz="1600" b="1" dirty="0">
                  <a:solidFill>
                    <a:srgbClr val="0000FF"/>
                  </a:solidFill>
                  <a:effectLst/>
                  <a:latin typeface="Cambria Math" panose="02040503050406030204" pitchFamily="18" charset="0"/>
                  <a:ea typeface="Calibri" panose="020F0502020204030204" pitchFamily="34" charset="0"/>
                  <a:cs typeface="Cambria Math" panose="02040503050406030204" pitchFamily="18" charset="0"/>
                </a:rPr>
                <a:t>↗</a:t>
              </a:r>
              <a:r>
                <a:rPr lang="en-US" sz="1600" b="1"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τ × … τ </a:t>
              </a:r>
              <a:r>
                <a:rPr lang="en-US" sz="1600" b="1"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ɛ Ψ…Φ</a:t>
              </a:r>
              <a:endParaRPr lang="en-US" sz="1600" b="1" dirty="0">
                <a:solidFill>
                  <a:srgbClr val="FF0000"/>
                </a:solidFill>
                <a:effectLst/>
                <a:ea typeface="Calibri" panose="020F0502020204030204" pitchFamily="34" charset="0"/>
                <a:cs typeface="Times New Roman" panose="02020603050405020304" pitchFamily="18" charset="0"/>
              </a:endParaRPr>
            </a:p>
          </p:txBody>
        </p:sp>
        <p:sp>
          <p:nvSpPr>
            <p:cNvPr id="41" name="Text Box 28"/>
            <p:cNvSpPr txBox="1">
              <a:spLocks noChangeArrowheads="1"/>
            </p:cNvSpPr>
            <p:nvPr/>
          </p:nvSpPr>
          <p:spPr bwMode="auto">
            <a:xfrm>
              <a:off x="4520505" y="1179120"/>
              <a:ext cx="758962" cy="331982"/>
            </a:xfrm>
            <a:prstGeom prst="rect">
              <a:avLst/>
            </a:prstGeom>
            <a:solidFill>
              <a:srgbClr val="66CCFF"/>
            </a:solidFill>
            <a:ln w="9525">
              <a:solidFill>
                <a:srgbClr val="000000"/>
              </a:solidFill>
              <a:miter lim="800000"/>
              <a:headEnd/>
              <a:tailEnd/>
            </a:ln>
          </p:spPr>
          <p:txBody>
            <a:bodyPr wrap="square">
              <a:noAutofit/>
            </a:bodyPr>
            <a:lstStyle/>
            <a:p>
              <a:pPr marL="0" marR="0" fontAlgn="base">
                <a:spcBef>
                  <a:spcPts val="0"/>
                </a:spcBef>
                <a:spcAft>
                  <a:spcPts val="0"/>
                </a:spcAft>
              </a:pPr>
              <a:r>
                <a:rPr lang="en-US" sz="1600" kern="1200">
                  <a:solidFill>
                    <a:srgbClr val="000000"/>
                  </a:solidFill>
                  <a:effectLst/>
                  <a:latin typeface="Times New Roman" panose="02020603050405020304" pitchFamily="18" charset="0"/>
                  <a:ea typeface="Times New Roman" panose="02020603050405020304" pitchFamily="18" charset="0"/>
                </a:rPr>
                <a:t>MOD</a:t>
              </a:r>
              <a:endParaRPr lang="en-US" sz="1600">
                <a:effectLst/>
                <a:latin typeface="Times New Roman" panose="02020603050405020304" pitchFamily="18" charset="0"/>
                <a:ea typeface="Times New Roman" panose="02020603050405020304" pitchFamily="18" charset="0"/>
              </a:endParaRPr>
            </a:p>
          </p:txBody>
        </p:sp>
        <p:sp>
          <p:nvSpPr>
            <p:cNvPr id="42" name="Text Box 28"/>
            <p:cNvSpPr txBox="1">
              <a:spLocks noChangeArrowheads="1"/>
            </p:cNvSpPr>
            <p:nvPr/>
          </p:nvSpPr>
          <p:spPr bwMode="auto">
            <a:xfrm>
              <a:off x="4518924" y="2053852"/>
              <a:ext cx="705993" cy="331982"/>
            </a:xfrm>
            <a:prstGeom prst="rect">
              <a:avLst/>
            </a:prstGeom>
            <a:solidFill>
              <a:srgbClr val="66CCFF"/>
            </a:solidFill>
            <a:ln w="9525">
              <a:solidFill>
                <a:srgbClr val="000000"/>
              </a:solidFill>
              <a:miter lim="800000"/>
              <a:headEnd/>
              <a:tailEnd/>
            </a:ln>
          </p:spPr>
          <p:txBody>
            <a:bodyPr wrap="square">
              <a:noAutofit/>
            </a:bodyPr>
            <a:lstStyle/>
            <a:p>
              <a:pPr marL="0" marR="0" fontAlgn="base">
                <a:spcBef>
                  <a:spcPts val="0"/>
                </a:spcBef>
                <a:spcAft>
                  <a:spcPts val="0"/>
                </a:spcAft>
              </a:pPr>
              <a:r>
                <a:rPr lang="en-US" sz="1600" kern="1200">
                  <a:solidFill>
                    <a:srgbClr val="000000"/>
                  </a:solidFill>
                  <a:effectLst/>
                  <a:latin typeface="Times New Roman" panose="02020603050405020304" pitchFamily="18" charset="0"/>
                  <a:ea typeface="Times New Roman" panose="02020603050405020304" pitchFamily="18" charset="0"/>
                </a:rPr>
                <a:t>MOD</a:t>
              </a:r>
              <a:endParaRPr lang="en-US" sz="1600">
                <a:effectLst/>
                <a:latin typeface="Times New Roman" panose="02020603050405020304" pitchFamily="18" charset="0"/>
                <a:ea typeface="Times New Roman" panose="02020603050405020304" pitchFamily="18" charset="0"/>
              </a:endParaRPr>
            </a:p>
          </p:txBody>
        </p:sp>
        <p:sp>
          <p:nvSpPr>
            <p:cNvPr id="43" name="Text Box 28"/>
            <p:cNvSpPr txBox="1">
              <a:spLocks noChangeArrowheads="1"/>
            </p:cNvSpPr>
            <p:nvPr/>
          </p:nvSpPr>
          <p:spPr bwMode="auto">
            <a:xfrm>
              <a:off x="4520505" y="3015827"/>
              <a:ext cx="758962" cy="331982"/>
            </a:xfrm>
            <a:prstGeom prst="rect">
              <a:avLst/>
            </a:prstGeom>
            <a:solidFill>
              <a:srgbClr val="66CCFF"/>
            </a:solidFill>
            <a:ln w="9525">
              <a:solidFill>
                <a:srgbClr val="000000"/>
              </a:solidFill>
              <a:miter lim="800000"/>
              <a:headEnd/>
              <a:tailEnd/>
            </a:ln>
          </p:spPr>
          <p:txBody>
            <a:bodyPr wrap="square">
              <a:noAutofit/>
            </a:bodyPr>
            <a:lstStyle/>
            <a:p>
              <a:pPr marL="0" marR="0" fontAlgn="base">
                <a:spcBef>
                  <a:spcPts val="0"/>
                </a:spcBef>
                <a:spcAft>
                  <a:spcPts val="0"/>
                </a:spcAft>
              </a:pPr>
              <a:r>
                <a:rPr lang="en-US" sz="1600" kern="1200">
                  <a:solidFill>
                    <a:srgbClr val="000000"/>
                  </a:solidFill>
                  <a:effectLst/>
                  <a:latin typeface="Times New Roman" panose="02020603050405020304" pitchFamily="18" charset="0"/>
                  <a:ea typeface="Times New Roman" panose="02020603050405020304" pitchFamily="18" charset="0"/>
                </a:rPr>
                <a:t>MOD</a:t>
              </a:r>
              <a:endParaRPr lang="en-US" sz="1600">
                <a:effectLst/>
                <a:latin typeface="Times New Roman" panose="02020603050405020304" pitchFamily="18" charset="0"/>
                <a:ea typeface="Times New Roman" panose="02020603050405020304" pitchFamily="18" charset="0"/>
              </a:endParaRPr>
            </a:p>
          </p:txBody>
        </p:sp>
        <p:cxnSp>
          <p:nvCxnSpPr>
            <p:cNvPr id="44" name="Line 60"/>
            <p:cNvCxnSpPr/>
            <p:nvPr/>
          </p:nvCxnSpPr>
          <p:spPr bwMode="auto">
            <a:xfrm>
              <a:off x="4900777" y="2747153"/>
              <a:ext cx="6325" cy="264041"/>
            </a:xfrm>
            <a:prstGeom prst="line">
              <a:avLst/>
            </a:prstGeom>
            <a:noFill/>
            <a:ln w="9525">
              <a:solidFill>
                <a:schemeClr val="tx1"/>
              </a:solidFill>
              <a:round/>
              <a:headEnd/>
              <a:tailEnd type="triangle" w="med" len="med"/>
            </a:ln>
          </p:spPr>
        </p:cxnSp>
        <p:sp>
          <p:nvSpPr>
            <p:cNvPr id="45" name="Text Box 28"/>
            <p:cNvSpPr txBox="1">
              <a:spLocks noChangeArrowheads="1"/>
            </p:cNvSpPr>
            <p:nvPr/>
          </p:nvSpPr>
          <p:spPr bwMode="auto">
            <a:xfrm>
              <a:off x="7237994" y="1283440"/>
              <a:ext cx="758962" cy="331982"/>
            </a:xfrm>
            <a:prstGeom prst="rect">
              <a:avLst/>
            </a:prstGeom>
            <a:solidFill>
              <a:srgbClr val="FF0000"/>
            </a:solidFill>
            <a:ln w="9525">
              <a:solidFill>
                <a:srgbClr val="000000"/>
              </a:solidFill>
              <a:miter lim="800000"/>
              <a:headEnd/>
              <a:tailEnd/>
            </a:ln>
          </p:spPr>
          <p:txBody>
            <a:bodyPr wrap="square">
              <a:noAutofit/>
            </a:bodyPr>
            <a:lstStyle/>
            <a:p>
              <a:pPr marL="0" marR="0" fontAlgn="base">
                <a:spcBef>
                  <a:spcPts val="0"/>
                </a:spcBef>
                <a:spcAft>
                  <a:spcPts val="0"/>
                </a:spcAft>
              </a:pPr>
              <a:r>
                <a:rPr lang="en-US" sz="1600" kern="1200">
                  <a:solidFill>
                    <a:srgbClr val="000000"/>
                  </a:solidFill>
                  <a:effectLst/>
                  <a:latin typeface="Times New Roman" panose="02020603050405020304" pitchFamily="18" charset="0"/>
                  <a:ea typeface="Times New Roman" panose="02020603050405020304" pitchFamily="18" charset="0"/>
                </a:rPr>
                <a:t>Noise</a:t>
              </a:r>
              <a:endParaRPr lang="en-US" sz="1600">
                <a:effectLst/>
                <a:latin typeface="Times New Roman" panose="02020603050405020304" pitchFamily="18" charset="0"/>
                <a:ea typeface="Times New Roman" panose="02020603050405020304" pitchFamily="18" charset="0"/>
              </a:endParaRPr>
            </a:p>
          </p:txBody>
        </p:sp>
        <p:cxnSp>
          <p:nvCxnSpPr>
            <p:cNvPr id="49" name="Line 10"/>
            <p:cNvCxnSpPr/>
            <p:nvPr/>
          </p:nvCxnSpPr>
          <p:spPr bwMode="auto">
            <a:xfrm>
              <a:off x="749413" y="2274659"/>
              <a:ext cx="2162251" cy="0"/>
            </a:xfrm>
            <a:prstGeom prst="line">
              <a:avLst/>
            </a:prstGeom>
            <a:noFill/>
            <a:ln w="9525">
              <a:solidFill>
                <a:srgbClr val="000000"/>
              </a:solidFill>
              <a:round/>
              <a:headEnd/>
              <a:tailEnd type="triangle" w="med" len="med"/>
            </a:ln>
          </p:spPr>
        </p:cxnSp>
        <p:cxnSp>
          <p:nvCxnSpPr>
            <p:cNvPr id="50" name="Line 12"/>
            <p:cNvCxnSpPr/>
            <p:nvPr/>
          </p:nvCxnSpPr>
          <p:spPr bwMode="auto">
            <a:xfrm>
              <a:off x="3590474" y="1374954"/>
              <a:ext cx="926566" cy="0"/>
            </a:xfrm>
            <a:prstGeom prst="line">
              <a:avLst/>
            </a:prstGeom>
            <a:noFill/>
            <a:ln w="9525">
              <a:solidFill>
                <a:srgbClr val="000000"/>
              </a:solidFill>
              <a:round/>
              <a:headEnd/>
              <a:tailEnd type="triangle" w="med" len="med"/>
            </a:ln>
          </p:spPr>
        </p:cxnSp>
        <p:cxnSp>
          <p:nvCxnSpPr>
            <p:cNvPr id="51" name="Line 12"/>
            <p:cNvCxnSpPr/>
            <p:nvPr/>
          </p:nvCxnSpPr>
          <p:spPr bwMode="auto">
            <a:xfrm>
              <a:off x="3607925" y="2216397"/>
              <a:ext cx="926566" cy="0"/>
            </a:xfrm>
            <a:prstGeom prst="line">
              <a:avLst/>
            </a:prstGeom>
            <a:noFill/>
            <a:ln w="9525">
              <a:solidFill>
                <a:srgbClr val="000000"/>
              </a:solidFill>
              <a:round/>
              <a:headEnd/>
              <a:tailEnd type="triangle" w="med" len="med"/>
            </a:ln>
          </p:spPr>
        </p:cxnSp>
        <p:cxnSp>
          <p:nvCxnSpPr>
            <p:cNvPr id="52" name="Line 12"/>
            <p:cNvCxnSpPr/>
            <p:nvPr/>
          </p:nvCxnSpPr>
          <p:spPr bwMode="auto">
            <a:xfrm>
              <a:off x="3571012" y="3172020"/>
              <a:ext cx="926566" cy="0"/>
            </a:xfrm>
            <a:prstGeom prst="line">
              <a:avLst/>
            </a:prstGeom>
            <a:noFill/>
            <a:ln w="9525">
              <a:solidFill>
                <a:srgbClr val="000000"/>
              </a:solidFill>
              <a:round/>
              <a:headEnd/>
              <a:tailEnd type="triangle" w="med" len="med"/>
            </a:ln>
          </p:spPr>
        </p:cxnSp>
        <p:cxnSp>
          <p:nvCxnSpPr>
            <p:cNvPr id="53" name="Line 60"/>
            <p:cNvCxnSpPr/>
            <p:nvPr/>
          </p:nvCxnSpPr>
          <p:spPr bwMode="auto">
            <a:xfrm>
              <a:off x="4816184" y="894200"/>
              <a:ext cx="6325" cy="264041"/>
            </a:xfrm>
            <a:prstGeom prst="line">
              <a:avLst/>
            </a:prstGeom>
            <a:noFill/>
            <a:ln w="9525">
              <a:solidFill>
                <a:schemeClr val="tx1"/>
              </a:solidFill>
              <a:round/>
              <a:headEnd/>
              <a:tailEnd type="triangle" w="med" len="med"/>
            </a:ln>
          </p:spPr>
        </p:cxnSp>
        <p:cxnSp>
          <p:nvCxnSpPr>
            <p:cNvPr id="54" name="Line 35"/>
            <p:cNvCxnSpPr/>
            <p:nvPr/>
          </p:nvCxnSpPr>
          <p:spPr bwMode="auto">
            <a:xfrm>
              <a:off x="5188276" y="3889134"/>
              <a:ext cx="0" cy="302644"/>
            </a:xfrm>
            <a:prstGeom prst="line">
              <a:avLst/>
            </a:prstGeom>
            <a:noFill/>
            <a:ln w="9525">
              <a:solidFill>
                <a:srgbClr val="000000"/>
              </a:solidFill>
              <a:round/>
              <a:headEnd/>
              <a:tailEnd type="triangle" w="med" len="med"/>
            </a:ln>
          </p:spPr>
        </p:cxnSp>
        <p:cxnSp>
          <p:nvCxnSpPr>
            <p:cNvPr id="55" name="Line 35"/>
            <p:cNvCxnSpPr/>
            <p:nvPr/>
          </p:nvCxnSpPr>
          <p:spPr bwMode="auto">
            <a:xfrm>
              <a:off x="5188276" y="4702756"/>
              <a:ext cx="0" cy="302644"/>
            </a:xfrm>
            <a:prstGeom prst="line">
              <a:avLst/>
            </a:prstGeom>
            <a:noFill/>
            <a:ln w="9525">
              <a:solidFill>
                <a:srgbClr val="000000"/>
              </a:solidFill>
              <a:round/>
              <a:headEnd/>
              <a:tailEnd type="triangle" w="med" len="med"/>
            </a:ln>
          </p:spPr>
        </p:cxnSp>
        <p:cxnSp>
          <p:nvCxnSpPr>
            <p:cNvPr id="56" name="Line 35"/>
            <p:cNvCxnSpPr/>
            <p:nvPr/>
          </p:nvCxnSpPr>
          <p:spPr bwMode="auto">
            <a:xfrm>
              <a:off x="5179213" y="5606826"/>
              <a:ext cx="0" cy="302644"/>
            </a:xfrm>
            <a:prstGeom prst="line">
              <a:avLst/>
            </a:prstGeom>
            <a:noFill/>
            <a:ln w="9525">
              <a:solidFill>
                <a:srgbClr val="000000"/>
              </a:solidFill>
              <a:round/>
              <a:headEnd/>
              <a:tailEnd type="triangle" w="med" len="med"/>
            </a:ln>
          </p:spPr>
        </p:cxnSp>
        <p:cxnSp>
          <p:nvCxnSpPr>
            <p:cNvPr id="57" name="Line 46"/>
            <p:cNvCxnSpPr/>
            <p:nvPr/>
          </p:nvCxnSpPr>
          <p:spPr bwMode="auto">
            <a:xfrm flipH="1">
              <a:off x="3719642" y="4368458"/>
              <a:ext cx="926566" cy="0"/>
            </a:xfrm>
            <a:prstGeom prst="line">
              <a:avLst/>
            </a:prstGeom>
            <a:noFill/>
            <a:ln w="9525">
              <a:solidFill>
                <a:srgbClr val="000000"/>
              </a:solidFill>
              <a:round/>
              <a:headEnd/>
              <a:tailEnd type="triangle" w="med" len="med"/>
            </a:ln>
          </p:spPr>
        </p:cxnSp>
        <p:cxnSp>
          <p:nvCxnSpPr>
            <p:cNvPr id="58" name="Line 46"/>
            <p:cNvCxnSpPr/>
            <p:nvPr/>
          </p:nvCxnSpPr>
          <p:spPr bwMode="auto">
            <a:xfrm flipH="1">
              <a:off x="3709364" y="5180387"/>
              <a:ext cx="926566" cy="0"/>
            </a:xfrm>
            <a:prstGeom prst="line">
              <a:avLst/>
            </a:prstGeom>
            <a:noFill/>
            <a:ln w="9525">
              <a:solidFill>
                <a:srgbClr val="000000"/>
              </a:solidFill>
              <a:round/>
              <a:headEnd/>
              <a:tailEnd type="triangle" w="med" len="med"/>
            </a:ln>
          </p:spPr>
        </p:cxnSp>
        <p:cxnSp>
          <p:nvCxnSpPr>
            <p:cNvPr id="59" name="Line 46"/>
            <p:cNvCxnSpPr/>
            <p:nvPr/>
          </p:nvCxnSpPr>
          <p:spPr bwMode="auto">
            <a:xfrm flipH="1">
              <a:off x="3724597" y="6078667"/>
              <a:ext cx="926566" cy="0"/>
            </a:xfrm>
            <a:prstGeom prst="line">
              <a:avLst/>
            </a:prstGeom>
            <a:noFill/>
            <a:ln w="9525">
              <a:solidFill>
                <a:srgbClr val="000000"/>
              </a:solidFill>
              <a:round/>
              <a:headEnd/>
              <a:tailEnd type="triangle" w="med" len="med"/>
            </a:ln>
          </p:spPr>
        </p:cxnSp>
        <p:cxnSp>
          <p:nvCxnSpPr>
            <p:cNvPr id="60" name="Line 40"/>
            <p:cNvCxnSpPr/>
            <p:nvPr/>
          </p:nvCxnSpPr>
          <p:spPr bwMode="auto">
            <a:xfrm flipH="1">
              <a:off x="5739588" y="4291730"/>
              <a:ext cx="1080730" cy="0"/>
            </a:xfrm>
            <a:prstGeom prst="line">
              <a:avLst/>
            </a:prstGeom>
            <a:noFill/>
            <a:ln w="9525">
              <a:solidFill>
                <a:srgbClr val="000000"/>
              </a:solidFill>
              <a:round/>
              <a:headEnd/>
              <a:tailEnd type="triangle" w="med" len="med"/>
            </a:ln>
          </p:spPr>
        </p:cxnSp>
        <p:cxnSp>
          <p:nvCxnSpPr>
            <p:cNvPr id="61" name="Line 40"/>
            <p:cNvCxnSpPr/>
            <p:nvPr/>
          </p:nvCxnSpPr>
          <p:spPr bwMode="auto">
            <a:xfrm flipH="1">
              <a:off x="5739588" y="5172934"/>
              <a:ext cx="1080730" cy="0"/>
            </a:xfrm>
            <a:prstGeom prst="line">
              <a:avLst/>
            </a:prstGeom>
            <a:noFill/>
            <a:ln w="9525">
              <a:solidFill>
                <a:srgbClr val="000000"/>
              </a:solidFill>
              <a:round/>
              <a:headEnd/>
              <a:tailEnd type="triangle" w="med" len="med"/>
            </a:ln>
          </p:spPr>
        </p:cxnSp>
        <p:cxnSp>
          <p:nvCxnSpPr>
            <p:cNvPr id="62" name="Line 40"/>
            <p:cNvCxnSpPr/>
            <p:nvPr/>
          </p:nvCxnSpPr>
          <p:spPr bwMode="auto">
            <a:xfrm flipH="1">
              <a:off x="5739586" y="6100046"/>
              <a:ext cx="1080730" cy="0"/>
            </a:xfrm>
            <a:prstGeom prst="line">
              <a:avLst/>
            </a:prstGeom>
            <a:noFill/>
            <a:ln w="9525">
              <a:solidFill>
                <a:srgbClr val="000000"/>
              </a:solidFill>
              <a:round/>
              <a:headEnd/>
              <a:tailEnd type="triangle" w="med" len="med"/>
            </a:ln>
          </p:spPr>
        </p:cxnSp>
        <p:cxnSp>
          <p:nvCxnSpPr>
            <p:cNvPr id="63" name="Line 44"/>
            <p:cNvCxnSpPr/>
            <p:nvPr/>
          </p:nvCxnSpPr>
          <p:spPr bwMode="auto">
            <a:xfrm>
              <a:off x="6820317" y="4287927"/>
              <a:ext cx="0" cy="1815862"/>
            </a:xfrm>
            <a:prstGeom prst="line">
              <a:avLst/>
            </a:prstGeom>
            <a:noFill/>
            <a:ln w="9525">
              <a:solidFill>
                <a:srgbClr val="000000"/>
              </a:solidFill>
              <a:round/>
              <a:headEnd/>
              <a:tailEnd/>
            </a:ln>
          </p:spPr>
        </p:cxnSp>
        <p:cxnSp>
          <p:nvCxnSpPr>
            <p:cNvPr id="64" name="Line 31"/>
            <p:cNvCxnSpPr/>
            <p:nvPr/>
          </p:nvCxnSpPr>
          <p:spPr bwMode="auto">
            <a:xfrm flipH="1">
              <a:off x="6759048" y="5172934"/>
              <a:ext cx="1851551" cy="0"/>
            </a:xfrm>
            <a:prstGeom prst="line">
              <a:avLst/>
            </a:prstGeom>
            <a:noFill/>
            <a:ln w="9525">
              <a:solidFill>
                <a:srgbClr val="000000"/>
              </a:solidFill>
              <a:round/>
              <a:headEnd/>
              <a:tailEnd type="triangle" w="med" len="med"/>
            </a:ln>
          </p:spPr>
        </p:cxnSp>
        <p:cxnSp>
          <p:nvCxnSpPr>
            <p:cNvPr id="65" name="Line 30"/>
            <p:cNvCxnSpPr/>
            <p:nvPr/>
          </p:nvCxnSpPr>
          <p:spPr bwMode="auto">
            <a:xfrm>
              <a:off x="8610599" y="2157545"/>
              <a:ext cx="0" cy="3027980"/>
            </a:xfrm>
            <a:prstGeom prst="line">
              <a:avLst/>
            </a:prstGeom>
            <a:noFill/>
            <a:ln w="9525">
              <a:solidFill>
                <a:srgbClr val="000000"/>
              </a:solidFill>
              <a:round/>
              <a:headEnd/>
              <a:tailEnd/>
            </a:ln>
          </p:spPr>
        </p:cxnSp>
        <p:cxnSp>
          <p:nvCxnSpPr>
            <p:cNvPr id="67" name="Line 29"/>
            <p:cNvCxnSpPr/>
            <p:nvPr/>
          </p:nvCxnSpPr>
          <p:spPr bwMode="auto">
            <a:xfrm>
              <a:off x="8148107" y="2173400"/>
              <a:ext cx="462492" cy="0"/>
            </a:xfrm>
            <a:prstGeom prst="line">
              <a:avLst/>
            </a:prstGeom>
            <a:noFill/>
            <a:ln w="9525">
              <a:solidFill>
                <a:srgbClr val="000000"/>
              </a:solidFill>
              <a:round/>
              <a:headEnd/>
              <a:tailEnd/>
            </a:ln>
          </p:spPr>
        </p:cxnSp>
        <p:cxnSp>
          <p:nvCxnSpPr>
            <p:cNvPr id="68" name="Line 60"/>
            <p:cNvCxnSpPr/>
            <p:nvPr/>
          </p:nvCxnSpPr>
          <p:spPr bwMode="auto">
            <a:xfrm>
              <a:off x="7573350" y="1646213"/>
              <a:ext cx="6325" cy="264041"/>
            </a:xfrm>
            <a:prstGeom prst="line">
              <a:avLst/>
            </a:prstGeom>
            <a:noFill/>
            <a:ln w="9525">
              <a:solidFill>
                <a:schemeClr val="tx1"/>
              </a:solidFill>
              <a:round/>
              <a:headEnd/>
              <a:tailEnd type="triangle" w="med" len="med"/>
            </a:ln>
          </p:spPr>
        </p:cxnSp>
        <p:cxnSp>
          <p:nvCxnSpPr>
            <p:cNvPr id="69" name="Line 45"/>
            <p:cNvCxnSpPr/>
            <p:nvPr/>
          </p:nvCxnSpPr>
          <p:spPr bwMode="auto">
            <a:xfrm flipH="1">
              <a:off x="2121434" y="5181600"/>
              <a:ext cx="926566" cy="0"/>
            </a:xfrm>
            <a:prstGeom prst="line">
              <a:avLst/>
            </a:prstGeom>
            <a:noFill/>
            <a:ln w="9525">
              <a:solidFill>
                <a:srgbClr val="000000"/>
              </a:solidFill>
              <a:round/>
              <a:headEnd/>
              <a:tailEnd type="triangle" w="med" len="med"/>
            </a:ln>
          </p:spPr>
        </p:cxnSp>
        <p:cxnSp>
          <p:nvCxnSpPr>
            <p:cNvPr id="70" name="Line 19"/>
            <p:cNvCxnSpPr/>
            <p:nvPr/>
          </p:nvCxnSpPr>
          <p:spPr bwMode="auto">
            <a:xfrm>
              <a:off x="5285594" y="1313336"/>
              <a:ext cx="386202" cy="0"/>
            </a:xfrm>
            <a:prstGeom prst="line">
              <a:avLst/>
            </a:prstGeom>
            <a:noFill/>
            <a:ln w="9525">
              <a:solidFill>
                <a:srgbClr val="000000"/>
              </a:solidFill>
              <a:round/>
              <a:headEnd/>
              <a:tailEnd type="triangle" w="med" len="med"/>
            </a:ln>
          </p:spPr>
        </p:cxnSp>
        <p:cxnSp>
          <p:nvCxnSpPr>
            <p:cNvPr id="79" name="Line 19"/>
            <p:cNvCxnSpPr/>
            <p:nvPr/>
          </p:nvCxnSpPr>
          <p:spPr bwMode="auto">
            <a:xfrm>
              <a:off x="5231241" y="2216397"/>
              <a:ext cx="386202" cy="0"/>
            </a:xfrm>
            <a:prstGeom prst="line">
              <a:avLst/>
            </a:prstGeom>
            <a:noFill/>
            <a:ln w="9525">
              <a:solidFill>
                <a:srgbClr val="000000"/>
              </a:solidFill>
              <a:round/>
              <a:headEnd/>
              <a:tailEnd type="triangle" w="med" len="med"/>
            </a:ln>
          </p:spPr>
        </p:cxnSp>
        <p:cxnSp>
          <p:nvCxnSpPr>
            <p:cNvPr id="80" name="Line 19"/>
            <p:cNvCxnSpPr/>
            <p:nvPr/>
          </p:nvCxnSpPr>
          <p:spPr bwMode="auto">
            <a:xfrm>
              <a:off x="5285594" y="3181817"/>
              <a:ext cx="386202" cy="0"/>
            </a:xfrm>
            <a:prstGeom prst="line">
              <a:avLst/>
            </a:prstGeom>
            <a:noFill/>
            <a:ln w="9525">
              <a:solidFill>
                <a:srgbClr val="000000"/>
              </a:solidFill>
              <a:round/>
              <a:headEnd/>
              <a:tailEnd type="triangle" w="med" len="med"/>
            </a:ln>
          </p:spPr>
        </p:cxnSp>
        <p:cxnSp>
          <p:nvCxnSpPr>
            <p:cNvPr id="82" name="Straight Arrow Connector 81"/>
            <p:cNvCxnSpPr/>
            <p:nvPr/>
          </p:nvCxnSpPr>
          <p:spPr>
            <a:xfrm>
              <a:off x="6273035" y="2120753"/>
              <a:ext cx="83841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 name="TextBox 1"/>
          <p:cNvSpPr txBox="1"/>
          <p:nvPr/>
        </p:nvSpPr>
        <p:spPr>
          <a:xfrm>
            <a:off x="1337941" y="6246975"/>
            <a:ext cx="6233524" cy="523220"/>
          </a:xfrm>
          <a:prstGeom prst="rect">
            <a:avLst/>
          </a:prstGeom>
          <a:noFill/>
        </p:spPr>
        <p:txBody>
          <a:bodyPr wrap="square" rtlCol="0">
            <a:spAutoFit/>
          </a:bodyPr>
          <a:lstStyle/>
          <a:p>
            <a:pPr algn="ctr"/>
            <a:r>
              <a:rPr lang="en-US" sz="2800" dirty="0" smtClean="0"/>
              <a:t>OFDMA Communication System</a:t>
            </a:r>
            <a:endParaRPr lang="en-US" sz="2800" dirty="0"/>
          </a:p>
        </p:txBody>
      </p:sp>
    </p:spTree>
    <p:extLst>
      <p:ext uri="{BB962C8B-B14F-4D97-AF65-F5344CB8AC3E}">
        <p14:creationId xmlns:p14="http://schemas.microsoft.com/office/powerpoint/2010/main" val="288222004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1" name="Slide Number Placeholder 7"/>
          <p:cNvSpPr>
            <a:spLocks noGrp="1"/>
          </p:cNvSpPr>
          <p:nvPr>
            <p:ph type="sldNum" sz="quarter" idx="12"/>
          </p:nvPr>
        </p:nvSpPr>
        <p:spPr>
          <a:noFill/>
        </p:spPr>
        <p:txBody>
          <a:bodyPr/>
          <a:lstStyle/>
          <a:p>
            <a:fld id="{C18EC19C-4088-47A4-927C-B12F5B960056}" type="slidenum">
              <a:rPr lang="en-US" smtClean="0"/>
              <a:pPr/>
              <a:t>69</a:t>
            </a:fld>
            <a:endParaRPr lang="en-US"/>
          </a:p>
        </p:txBody>
      </p:sp>
      <p:sp>
        <p:nvSpPr>
          <p:cNvPr id="5132" name="Rectangle 2"/>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en-US"/>
          </a:p>
        </p:txBody>
      </p:sp>
      <p:sp>
        <p:nvSpPr>
          <p:cNvPr id="5133" name="Rectangle 3"/>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en-US"/>
          </a:p>
        </p:txBody>
      </p:sp>
      <p:sp>
        <p:nvSpPr>
          <p:cNvPr id="5134" name="Rectangle 4"/>
          <p:cNvSpPr>
            <a:spLocks noChangeArrowheads="1"/>
          </p:cNvSpPr>
          <p:nvPr/>
        </p:nvSpPr>
        <p:spPr bwMode="auto">
          <a:xfrm>
            <a:off x="0" y="3343275"/>
            <a:ext cx="9144000" cy="0"/>
          </a:xfrm>
          <a:prstGeom prst="rect">
            <a:avLst/>
          </a:prstGeom>
          <a:noFill/>
          <a:ln w="9525">
            <a:noFill/>
            <a:miter lim="800000"/>
            <a:headEnd/>
            <a:tailEnd/>
          </a:ln>
        </p:spPr>
        <p:txBody>
          <a:bodyPr wrap="none" anchor="ctr">
            <a:spAutoFit/>
          </a:bodyPr>
          <a:lstStyle/>
          <a:p>
            <a:endParaRPr lang="en-US"/>
          </a:p>
        </p:txBody>
      </p:sp>
      <p:sp>
        <p:nvSpPr>
          <p:cNvPr id="5135" name="Rectangle 5"/>
          <p:cNvSpPr>
            <a:spLocks noChangeArrowheads="1"/>
          </p:cNvSpPr>
          <p:nvPr/>
        </p:nvSpPr>
        <p:spPr bwMode="auto">
          <a:xfrm>
            <a:off x="0" y="3343275"/>
            <a:ext cx="9144000" cy="0"/>
          </a:xfrm>
          <a:prstGeom prst="rect">
            <a:avLst/>
          </a:prstGeom>
          <a:noFill/>
          <a:ln w="9525">
            <a:noFill/>
            <a:miter lim="800000"/>
            <a:headEnd/>
            <a:tailEnd/>
          </a:ln>
        </p:spPr>
        <p:txBody>
          <a:bodyPr wrap="none" anchor="ctr">
            <a:spAutoFit/>
          </a:bodyPr>
          <a:lstStyle/>
          <a:p>
            <a:endParaRPr lang="en-US"/>
          </a:p>
        </p:txBody>
      </p:sp>
      <p:sp>
        <p:nvSpPr>
          <p:cNvPr id="5136" name="Rectangle 6"/>
          <p:cNvSpPr>
            <a:spLocks noChangeArrowheads="1"/>
          </p:cNvSpPr>
          <p:nvPr/>
        </p:nvSpPr>
        <p:spPr bwMode="auto">
          <a:xfrm>
            <a:off x="0" y="3343275"/>
            <a:ext cx="9144000" cy="0"/>
          </a:xfrm>
          <a:prstGeom prst="rect">
            <a:avLst/>
          </a:prstGeom>
          <a:noFill/>
          <a:ln w="9525">
            <a:noFill/>
            <a:miter lim="800000"/>
            <a:headEnd/>
            <a:tailEnd/>
          </a:ln>
        </p:spPr>
        <p:txBody>
          <a:bodyPr wrap="none" anchor="ctr">
            <a:spAutoFit/>
          </a:bodyPr>
          <a:lstStyle/>
          <a:p>
            <a:endParaRPr lang="en-US"/>
          </a:p>
        </p:txBody>
      </p:sp>
      <p:sp>
        <p:nvSpPr>
          <p:cNvPr id="5137" name="Rectangle 7"/>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en-US"/>
          </a:p>
        </p:txBody>
      </p:sp>
      <p:sp>
        <p:nvSpPr>
          <p:cNvPr id="5138" name="Rectangle 8"/>
          <p:cNvSpPr>
            <a:spLocks noChangeArrowheads="1"/>
          </p:cNvSpPr>
          <p:nvPr/>
        </p:nvSpPr>
        <p:spPr bwMode="auto">
          <a:xfrm>
            <a:off x="0" y="3333750"/>
            <a:ext cx="9144000" cy="0"/>
          </a:xfrm>
          <a:prstGeom prst="rect">
            <a:avLst/>
          </a:prstGeom>
          <a:noFill/>
          <a:ln w="9525">
            <a:noFill/>
            <a:miter lim="800000"/>
            <a:headEnd/>
            <a:tailEnd/>
          </a:ln>
        </p:spPr>
        <p:txBody>
          <a:bodyPr wrap="none" anchor="ctr">
            <a:spAutoFit/>
          </a:bodyPr>
          <a:lstStyle/>
          <a:p>
            <a:endParaRPr lang="en-US"/>
          </a:p>
        </p:txBody>
      </p:sp>
      <p:sp>
        <p:nvSpPr>
          <p:cNvPr id="5139" name="Rectangle 9"/>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en-US"/>
          </a:p>
        </p:txBody>
      </p:sp>
      <p:sp>
        <p:nvSpPr>
          <p:cNvPr id="5140"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en-US"/>
          </a:p>
        </p:txBody>
      </p:sp>
      <p:sp>
        <p:nvSpPr>
          <p:cNvPr id="5141" name="Rectangle 11"/>
          <p:cNvSpPr>
            <a:spLocks noChangeArrowheads="1"/>
          </p:cNvSpPr>
          <p:nvPr/>
        </p:nvSpPr>
        <p:spPr bwMode="auto">
          <a:xfrm>
            <a:off x="0" y="3333750"/>
            <a:ext cx="9144000" cy="0"/>
          </a:xfrm>
          <a:prstGeom prst="rect">
            <a:avLst/>
          </a:prstGeom>
          <a:noFill/>
          <a:ln w="9525">
            <a:noFill/>
            <a:miter lim="800000"/>
            <a:headEnd/>
            <a:tailEnd/>
          </a:ln>
        </p:spPr>
        <p:txBody>
          <a:bodyPr wrap="none" anchor="ctr">
            <a:spAutoFit/>
          </a:bodyPr>
          <a:lstStyle/>
          <a:p>
            <a:endParaRPr lang="en-US"/>
          </a:p>
        </p:txBody>
      </p:sp>
      <p:sp>
        <p:nvSpPr>
          <p:cNvPr id="5142" name="Rectangle 12"/>
          <p:cNvSpPr>
            <a:spLocks noChangeArrowheads="1"/>
          </p:cNvSpPr>
          <p:nvPr/>
        </p:nvSpPr>
        <p:spPr bwMode="auto">
          <a:xfrm>
            <a:off x="0" y="3200400"/>
            <a:ext cx="9144000" cy="0"/>
          </a:xfrm>
          <a:prstGeom prst="rect">
            <a:avLst/>
          </a:prstGeom>
          <a:noFill/>
          <a:ln w="9525">
            <a:noFill/>
            <a:miter lim="800000"/>
            <a:headEnd/>
            <a:tailEnd/>
          </a:ln>
        </p:spPr>
        <p:txBody>
          <a:bodyPr wrap="none" anchor="ctr">
            <a:spAutoFit/>
          </a:bodyPr>
          <a:lstStyle/>
          <a:p>
            <a:endParaRPr lang="en-US"/>
          </a:p>
        </p:txBody>
      </p:sp>
      <p:sp>
        <p:nvSpPr>
          <p:cNvPr id="5143" name="Rectangle 13"/>
          <p:cNvSpPr>
            <a:spLocks noChangeArrowheads="1"/>
          </p:cNvSpPr>
          <p:nvPr/>
        </p:nvSpPr>
        <p:spPr bwMode="auto">
          <a:xfrm>
            <a:off x="0" y="3343275"/>
            <a:ext cx="9144000" cy="0"/>
          </a:xfrm>
          <a:prstGeom prst="rect">
            <a:avLst/>
          </a:prstGeom>
          <a:noFill/>
          <a:ln w="9525">
            <a:noFill/>
            <a:miter lim="800000"/>
            <a:headEnd/>
            <a:tailEnd/>
          </a:ln>
        </p:spPr>
        <p:txBody>
          <a:bodyPr wrap="none" anchor="ctr">
            <a:spAutoFit/>
          </a:bodyPr>
          <a:lstStyle/>
          <a:p>
            <a:endParaRPr lang="en-US"/>
          </a:p>
        </p:txBody>
      </p:sp>
      <p:sp>
        <p:nvSpPr>
          <p:cNvPr id="5144" name="Rectangle 14"/>
          <p:cNvSpPr>
            <a:spLocks noChangeArrowheads="1"/>
          </p:cNvSpPr>
          <p:nvPr/>
        </p:nvSpPr>
        <p:spPr bwMode="auto">
          <a:xfrm>
            <a:off x="0" y="3343275"/>
            <a:ext cx="9144000" cy="0"/>
          </a:xfrm>
          <a:prstGeom prst="rect">
            <a:avLst/>
          </a:prstGeom>
          <a:noFill/>
          <a:ln w="9525" algn="ctr">
            <a:noFill/>
            <a:miter lim="800000"/>
            <a:headEnd/>
            <a:tailEnd/>
          </a:ln>
        </p:spPr>
        <p:txBody>
          <a:bodyPr wrap="none" anchor="ctr">
            <a:spAutoFit/>
          </a:bodyPr>
          <a:lstStyle/>
          <a:p>
            <a:endParaRPr lang="en-US"/>
          </a:p>
        </p:txBody>
      </p:sp>
      <p:sp>
        <p:nvSpPr>
          <p:cNvPr id="5145" name="Line 15"/>
          <p:cNvSpPr>
            <a:spLocks noChangeShapeType="1"/>
          </p:cNvSpPr>
          <p:nvPr/>
        </p:nvSpPr>
        <p:spPr bwMode="auto">
          <a:xfrm>
            <a:off x="1752600" y="5029200"/>
            <a:ext cx="1524000" cy="0"/>
          </a:xfrm>
          <a:prstGeom prst="line">
            <a:avLst/>
          </a:prstGeom>
          <a:noFill/>
          <a:ln w="9525">
            <a:noFill/>
            <a:round/>
            <a:headEnd/>
            <a:tailEnd type="triangle" w="med" len="med"/>
          </a:ln>
        </p:spPr>
        <p:txBody>
          <a:bodyPr wrap="none" anchor="ctr">
            <a:spAutoFit/>
          </a:bodyPr>
          <a:lstStyle/>
          <a:p>
            <a:endParaRPr lang="en-US"/>
          </a:p>
        </p:txBody>
      </p:sp>
      <p:sp>
        <p:nvSpPr>
          <p:cNvPr id="5146" name="Rectangle 16"/>
          <p:cNvSpPr>
            <a:spLocks noChangeArrowheads="1"/>
          </p:cNvSpPr>
          <p:nvPr/>
        </p:nvSpPr>
        <p:spPr bwMode="auto">
          <a:xfrm>
            <a:off x="0" y="3309938"/>
            <a:ext cx="9144000" cy="0"/>
          </a:xfrm>
          <a:prstGeom prst="rect">
            <a:avLst/>
          </a:prstGeom>
          <a:noFill/>
          <a:ln w="9525" algn="ctr">
            <a:noFill/>
            <a:miter lim="800000"/>
            <a:headEnd/>
            <a:tailEnd/>
          </a:ln>
        </p:spPr>
        <p:txBody>
          <a:bodyPr wrap="none" anchor="ctr">
            <a:spAutoFit/>
          </a:bodyPr>
          <a:lstStyle/>
          <a:p>
            <a:endParaRPr lang="en-US"/>
          </a:p>
        </p:txBody>
      </p:sp>
      <p:sp>
        <p:nvSpPr>
          <p:cNvPr id="5147" name="Rectangle 17"/>
          <p:cNvSpPr>
            <a:spLocks noChangeArrowheads="1"/>
          </p:cNvSpPr>
          <p:nvPr/>
        </p:nvSpPr>
        <p:spPr bwMode="auto">
          <a:xfrm>
            <a:off x="0" y="3309938"/>
            <a:ext cx="9144000" cy="0"/>
          </a:xfrm>
          <a:prstGeom prst="rect">
            <a:avLst/>
          </a:prstGeom>
          <a:noFill/>
          <a:ln w="9525" algn="ctr">
            <a:noFill/>
            <a:miter lim="800000"/>
            <a:headEnd/>
            <a:tailEnd/>
          </a:ln>
        </p:spPr>
        <p:txBody>
          <a:bodyPr wrap="none" anchor="ctr">
            <a:spAutoFit/>
          </a:bodyPr>
          <a:lstStyle/>
          <a:p>
            <a:endParaRPr lang="en-US"/>
          </a:p>
        </p:txBody>
      </p:sp>
      <p:grpSp>
        <p:nvGrpSpPr>
          <p:cNvPr id="5148" name="Group 18"/>
          <p:cNvGrpSpPr>
            <a:grpSpLocks/>
          </p:cNvGrpSpPr>
          <p:nvPr/>
        </p:nvGrpSpPr>
        <p:grpSpPr bwMode="auto">
          <a:xfrm>
            <a:off x="0" y="0"/>
            <a:ext cx="9118600" cy="5786438"/>
            <a:chOff x="0" y="0"/>
            <a:chExt cx="5744" cy="3645"/>
          </a:xfrm>
        </p:grpSpPr>
        <p:grpSp>
          <p:nvGrpSpPr>
            <p:cNvPr id="5153" name="Group 19"/>
            <p:cNvGrpSpPr>
              <a:grpSpLocks/>
            </p:cNvGrpSpPr>
            <p:nvPr/>
          </p:nvGrpSpPr>
          <p:grpSpPr bwMode="auto">
            <a:xfrm>
              <a:off x="192" y="0"/>
              <a:ext cx="5160" cy="1560"/>
              <a:chOff x="240" y="720"/>
              <a:chExt cx="5160" cy="1560"/>
            </a:xfrm>
          </p:grpSpPr>
          <p:sp>
            <p:nvSpPr>
              <p:cNvPr id="5183" name="Text Box 20"/>
              <p:cNvSpPr txBox="1">
                <a:spLocks noChangeArrowheads="1"/>
              </p:cNvSpPr>
              <p:nvPr/>
            </p:nvSpPr>
            <p:spPr bwMode="auto">
              <a:xfrm>
                <a:off x="312" y="1128"/>
                <a:ext cx="116" cy="288"/>
              </a:xfrm>
              <a:prstGeom prst="rect">
                <a:avLst/>
              </a:prstGeom>
              <a:solidFill>
                <a:srgbClr val="FFFFFF">
                  <a:alpha val="1961"/>
                </a:srgbClr>
              </a:solidFill>
              <a:ln w="9525">
                <a:noFill/>
                <a:miter lim="800000"/>
                <a:headEnd/>
                <a:tailEnd/>
              </a:ln>
            </p:spPr>
            <p:txBody>
              <a:bodyPr wrap="none">
                <a:spAutoFit/>
              </a:bodyPr>
              <a:lstStyle/>
              <a:p>
                <a:endParaRPr lang="en-US"/>
              </a:p>
            </p:txBody>
          </p:sp>
          <p:sp>
            <p:nvSpPr>
              <p:cNvPr id="5184" name="Line 21"/>
              <p:cNvSpPr>
                <a:spLocks noChangeShapeType="1"/>
              </p:cNvSpPr>
              <p:nvPr/>
            </p:nvSpPr>
            <p:spPr bwMode="auto">
              <a:xfrm>
                <a:off x="240" y="1344"/>
                <a:ext cx="1008" cy="0"/>
              </a:xfrm>
              <a:prstGeom prst="line">
                <a:avLst/>
              </a:prstGeom>
              <a:noFill/>
              <a:ln w="9525">
                <a:solidFill>
                  <a:srgbClr val="000000"/>
                </a:solidFill>
                <a:round/>
                <a:headEnd/>
                <a:tailEnd type="triangle" w="med" len="med"/>
              </a:ln>
            </p:spPr>
            <p:txBody>
              <a:bodyPr/>
              <a:lstStyle/>
              <a:p>
                <a:endParaRPr lang="en-US"/>
              </a:p>
            </p:txBody>
          </p:sp>
          <p:sp>
            <p:nvSpPr>
              <p:cNvPr id="5185" name="Text Box 22"/>
              <p:cNvSpPr txBox="1">
                <a:spLocks noChangeArrowheads="1"/>
              </p:cNvSpPr>
              <p:nvPr/>
            </p:nvSpPr>
            <p:spPr bwMode="auto">
              <a:xfrm>
                <a:off x="1248" y="912"/>
                <a:ext cx="288" cy="1080"/>
              </a:xfrm>
              <a:prstGeom prst="rect">
                <a:avLst/>
              </a:prstGeom>
              <a:solidFill>
                <a:srgbClr val="FFCCCC"/>
              </a:solidFill>
              <a:ln w="9525">
                <a:solidFill>
                  <a:srgbClr val="000000"/>
                </a:solidFill>
                <a:miter lim="800000"/>
                <a:headEnd/>
                <a:tailEnd/>
              </a:ln>
            </p:spPr>
            <p:txBody>
              <a:bodyPr/>
              <a:lstStyle/>
              <a:p>
                <a:endParaRPr lang="en-US" sz="1200"/>
              </a:p>
              <a:p>
                <a:endParaRPr lang="en-US" sz="1200"/>
              </a:p>
              <a:p>
                <a:endParaRPr lang="en-US" sz="1200"/>
              </a:p>
              <a:p>
                <a:endParaRPr lang="en-US" sz="1200"/>
              </a:p>
              <a:p>
                <a:r>
                  <a:rPr lang="en-US" sz="1200"/>
                  <a:t>S/P</a:t>
                </a:r>
                <a:endParaRPr lang="en-US"/>
              </a:p>
            </p:txBody>
          </p:sp>
          <p:sp>
            <p:nvSpPr>
              <p:cNvPr id="5186" name="Line 23"/>
              <p:cNvSpPr>
                <a:spLocks noChangeShapeType="1"/>
              </p:cNvSpPr>
              <p:nvPr/>
            </p:nvSpPr>
            <p:spPr bwMode="auto">
              <a:xfrm>
                <a:off x="1536" y="984"/>
                <a:ext cx="432" cy="0"/>
              </a:xfrm>
              <a:prstGeom prst="line">
                <a:avLst/>
              </a:prstGeom>
              <a:noFill/>
              <a:ln w="9525">
                <a:solidFill>
                  <a:srgbClr val="000000"/>
                </a:solidFill>
                <a:round/>
                <a:headEnd/>
                <a:tailEnd type="triangle" w="med" len="med"/>
              </a:ln>
            </p:spPr>
            <p:txBody>
              <a:bodyPr/>
              <a:lstStyle/>
              <a:p>
                <a:endParaRPr lang="en-US"/>
              </a:p>
            </p:txBody>
          </p:sp>
          <p:sp>
            <p:nvSpPr>
              <p:cNvPr id="5187" name="Text Box 24"/>
              <p:cNvSpPr txBox="1">
                <a:spLocks noChangeArrowheads="1"/>
              </p:cNvSpPr>
              <p:nvPr/>
            </p:nvSpPr>
            <p:spPr bwMode="auto">
              <a:xfrm>
                <a:off x="1608" y="840"/>
                <a:ext cx="216" cy="216"/>
              </a:xfrm>
              <a:prstGeom prst="rect">
                <a:avLst/>
              </a:prstGeom>
              <a:solidFill>
                <a:srgbClr val="FFFFFF">
                  <a:alpha val="0"/>
                </a:srgbClr>
              </a:solidFill>
              <a:ln w="9525">
                <a:noFill/>
                <a:miter lim="800000"/>
                <a:headEnd/>
                <a:tailEnd/>
              </a:ln>
            </p:spPr>
            <p:txBody>
              <a:bodyPr/>
              <a:lstStyle/>
              <a:p>
                <a:pPr algn="ctr"/>
                <a:endParaRPr lang="en-US"/>
              </a:p>
            </p:txBody>
          </p:sp>
          <p:sp>
            <p:nvSpPr>
              <p:cNvPr id="5188" name="Line 25"/>
              <p:cNvSpPr>
                <a:spLocks noChangeShapeType="1"/>
              </p:cNvSpPr>
              <p:nvPr/>
            </p:nvSpPr>
            <p:spPr bwMode="auto">
              <a:xfrm>
                <a:off x="1536" y="1386"/>
                <a:ext cx="432" cy="0"/>
              </a:xfrm>
              <a:prstGeom prst="line">
                <a:avLst/>
              </a:prstGeom>
              <a:noFill/>
              <a:ln w="9525">
                <a:solidFill>
                  <a:srgbClr val="000000"/>
                </a:solidFill>
                <a:round/>
                <a:headEnd/>
                <a:tailEnd type="triangle" w="med" len="med"/>
              </a:ln>
            </p:spPr>
            <p:txBody>
              <a:bodyPr/>
              <a:lstStyle/>
              <a:p>
                <a:endParaRPr lang="en-US"/>
              </a:p>
            </p:txBody>
          </p:sp>
          <p:sp>
            <p:nvSpPr>
              <p:cNvPr id="5189" name="Text Box 26"/>
              <p:cNvSpPr txBox="1">
                <a:spLocks noChangeArrowheads="1"/>
              </p:cNvSpPr>
              <p:nvPr/>
            </p:nvSpPr>
            <p:spPr bwMode="auto">
              <a:xfrm>
                <a:off x="1608" y="1224"/>
                <a:ext cx="116" cy="288"/>
              </a:xfrm>
              <a:prstGeom prst="rect">
                <a:avLst/>
              </a:prstGeom>
              <a:solidFill>
                <a:srgbClr val="FFFFFF">
                  <a:alpha val="0"/>
                </a:srgbClr>
              </a:solidFill>
              <a:ln w="9525">
                <a:noFill/>
                <a:miter lim="800000"/>
                <a:headEnd/>
                <a:tailEnd/>
              </a:ln>
            </p:spPr>
            <p:txBody>
              <a:bodyPr wrap="none">
                <a:spAutoFit/>
              </a:bodyPr>
              <a:lstStyle/>
              <a:p>
                <a:endParaRPr lang="en-US"/>
              </a:p>
            </p:txBody>
          </p:sp>
          <p:sp>
            <p:nvSpPr>
              <p:cNvPr id="5190" name="Line 27"/>
              <p:cNvSpPr>
                <a:spLocks noChangeShapeType="1"/>
              </p:cNvSpPr>
              <p:nvPr/>
            </p:nvSpPr>
            <p:spPr bwMode="auto">
              <a:xfrm>
                <a:off x="1536" y="1836"/>
                <a:ext cx="432" cy="0"/>
              </a:xfrm>
              <a:prstGeom prst="line">
                <a:avLst/>
              </a:prstGeom>
              <a:noFill/>
              <a:ln w="9525">
                <a:solidFill>
                  <a:srgbClr val="000000"/>
                </a:solidFill>
                <a:round/>
                <a:headEnd/>
                <a:tailEnd type="triangle" w="med" len="med"/>
              </a:ln>
            </p:spPr>
            <p:txBody>
              <a:bodyPr/>
              <a:lstStyle/>
              <a:p>
                <a:endParaRPr lang="en-US"/>
              </a:p>
            </p:txBody>
          </p:sp>
          <p:sp>
            <p:nvSpPr>
              <p:cNvPr id="5191" name="Text Box 28"/>
              <p:cNvSpPr txBox="1">
                <a:spLocks noChangeArrowheads="1"/>
              </p:cNvSpPr>
              <p:nvPr/>
            </p:nvSpPr>
            <p:spPr bwMode="auto">
              <a:xfrm>
                <a:off x="1536" y="1656"/>
                <a:ext cx="116" cy="288"/>
              </a:xfrm>
              <a:prstGeom prst="rect">
                <a:avLst/>
              </a:prstGeom>
              <a:solidFill>
                <a:srgbClr val="FFFFFF">
                  <a:alpha val="0"/>
                </a:srgbClr>
              </a:solidFill>
              <a:ln w="9525">
                <a:noFill/>
                <a:miter lim="800000"/>
                <a:headEnd/>
                <a:tailEnd/>
              </a:ln>
            </p:spPr>
            <p:txBody>
              <a:bodyPr wrap="none">
                <a:spAutoFit/>
              </a:bodyPr>
              <a:lstStyle/>
              <a:p>
                <a:endParaRPr lang="en-US"/>
              </a:p>
            </p:txBody>
          </p:sp>
          <p:sp>
            <p:nvSpPr>
              <p:cNvPr id="5192" name="Text Box 29"/>
              <p:cNvSpPr txBox="1">
                <a:spLocks noChangeArrowheads="1"/>
              </p:cNvSpPr>
              <p:nvPr/>
            </p:nvSpPr>
            <p:spPr bwMode="auto">
              <a:xfrm>
                <a:off x="1968" y="768"/>
                <a:ext cx="360" cy="1440"/>
              </a:xfrm>
              <a:prstGeom prst="rect">
                <a:avLst/>
              </a:prstGeom>
              <a:solidFill>
                <a:srgbClr val="CCCC00"/>
              </a:solidFill>
              <a:ln w="9525">
                <a:solidFill>
                  <a:srgbClr val="000000"/>
                </a:solidFill>
                <a:miter lim="800000"/>
                <a:headEnd/>
                <a:tailEnd/>
              </a:ln>
            </p:spPr>
            <p:txBody>
              <a:bodyPr/>
              <a:lstStyle/>
              <a:p>
                <a:endParaRPr lang="en-US" sz="1200"/>
              </a:p>
              <a:p>
                <a:endParaRPr lang="en-US" sz="1200"/>
              </a:p>
              <a:p>
                <a:endParaRPr lang="en-US" sz="1200"/>
              </a:p>
              <a:p>
                <a:endParaRPr lang="en-US" sz="1200"/>
              </a:p>
              <a:p>
                <a:endParaRPr lang="en-US" sz="1200"/>
              </a:p>
              <a:p>
                <a:r>
                  <a:rPr lang="en-US" sz="1200"/>
                  <a:t>IDFT</a:t>
                </a:r>
                <a:endParaRPr lang="en-US"/>
              </a:p>
            </p:txBody>
          </p:sp>
          <p:sp>
            <p:nvSpPr>
              <p:cNvPr id="5193" name="Line 30"/>
              <p:cNvSpPr>
                <a:spLocks noChangeShapeType="1"/>
              </p:cNvSpPr>
              <p:nvPr/>
            </p:nvSpPr>
            <p:spPr bwMode="auto">
              <a:xfrm>
                <a:off x="1752" y="2172"/>
                <a:ext cx="216" cy="0"/>
              </a:xfrm>
              <a:prstGeom prst="line">
                <a:avLst/>
              </a:prstGeom>
              <a:noFill/>
              <a:ln w="9525">
                <a:solidFill>
                  <a:srgbClr val="000000"/>
                </a:solidFill>
                <a:round/>
                <a:headEnd/>
                <a:tailEnd type="triangle" w="med" len="med"/>
              </a:ln>
            </p:spPr>
            <p:txBody>
              <a:bodyPr/>
              <a:lstStyle/>
              <a:p>
                <a:endParaRPr lang="en-US"/>
              </a:p>
            </p:txBody>
          </p:sp>
          <p:sp>
            <p:nvSpPr>
              <p:cNvPr id="5194" name="Line 31"/>
              <p:cNvSpPr>
                <a:spLocks noChangeShapeType="1"/>
              </p:cNvSpPr>
              <p:nvPr/>
            </p:nvSpPr>
            <p:spPr bwMode="auto">
              <a:xfrm>
                <a:off x="1752" y="1968"/>
                <a:ext cx="216" cy="0"/>
              </a:xfrm>
              <a:prstGeom prst="line">
                <a:avLst/>
              </a:prstGeom>
              <a:noFill/>
              <a:ln w="9525">
                <a:solidFill>
                  <a:srgbClr val="000000"/>
                </a:solidFill>
                <a:round/>
                <a:headEnd/>
                <a:tailEnd type="triangle" w="med" len="med"/>
              </a:ln>
            </p:spPr>
            <p:txBody>
              <a:bodyPr/>
              <a:lstStyle/>
              <a:p>
                <a:endParaRPr lang="en-US"/>
              </a:p>
            </p:txBody>
          </p:sp>
          <p:sp>
            <p:nvSpPr>
              <p:cNvPr id="5195" name="Text Box 32"/>
              <p:cNvSpPr txBox="1">
                <a:spLocks noChangeArrowheads="1"/>
              </p:cNvSpPr>
              <p:nvPr/>
            </p:nvSpPr>
            <p:spPr bwMode="auto">
              <a:xfrm>
                <a:off x="1608" y="1896"/>
                <a:ext cx="144" cy="144"/>
              </a:xfrm>
              <a:prstGeom prst="rect">
                <a:avLst/>
              </a:prstGeom>
              <a:solidFill>
                <a:srgbClr val="FFFFFF">
                  <a:alpha val="0"/>
                </a:srgbClr>
              </a:solidFill>
              <a:ln w="9525">
                <a:noFill/>
                <a:miter lim="800000"/>
                <a:headEnd/>
                <a:tailEnd/>
              </a:ln>
            </p:spPr>
            <p:txBody>
              <a:bodyPr/>
              <a:lstStyle/>
              <a:p>
                <a:r>
                  <a:rPr lang="en-US" sz="1200"/>
                  <a:t>0</a:t>
                </a:r>
                <a:endParaRPr lang="en-US"/>
              </a:p>
            </p:txBody>
          </p:sp>
          <p:sp>
            <p:nvSpPr>
              <p:cNvPr id="5196" name="Text Box 33"/>
              <p:cNvSpPr txBox="1">
                <a:spLocks noChangeArrowheads="1"/>
              </p:cNvSpPr>
              <p:nvPr/>
            </p:nvSpPr>
            <p:spPr bwMode="auto">
              <a:xfrm>
                <a:off x="1608" y="2088"/>
                <a:ext cx="144" cy="144"/>
              </a:xfrm>
              <a:prstGeom prst="rect">
                <a:avLst/>
              </a:prstGeom>
              <a:solidFill>
                <a:srgbClr val="FFFFFF">
                  <a:alpha val="0"/>
                </a:srgbClr>
              </a:solidFill>
              <a:ln w="9525">
                <a:noFill/>
                <a:miter lim="800000"/>
                <a:headEnd/>
                <a:tailEnd/>
              </a:ln>
            </p:spPr>
            <p:txBody>
              <a:bodyPr/>
              <a:lstStyle/>
              <a:p>
                <a:r>
                  <a:rPr lang="en-US" sz="1200"/>
                  <a:t>0</a:t>
                </a:r>
                <a:endParaRPr lang="en-US"/>
              </a:p>
            </p:txBody>
          </p:sp>
          <p:sp>
            <p:nvSpPr>
              <p:cNvPr id="5197" name="Text Box 34"/>
              <p:cNvSpPr txBox="1">
                <a:spLocks noChangeArrowheads="1"/>
              </p:cNvSpPr>
              <p:nvPr/>
            </p:nvSpPr>
            <p:spPr bwMode="auto">
              <a:xfrm>
                <a:off x="1710" y="1908"/>
                <a:ext cx="288" cy="288"/>
              </a:xfrm>
              <a:prstGeom prst="rect">
                <a:avLst/>
              </a:prstGeom>
              <a:solidFill>
                <a:srgbClr val="FFFFFF">
                  <a:alpha val="0"/>
                </a:srgbClr>
              </a:solidFill>
              <a:ln w="9525">
                <a:noFill/>
                <a:miter lim="800000"/>
                <a:headEnd/>
                <a:tailEnd/>
              </a:ln>
            </p:spPr>
            <p:txBody>
              <a:bodyPr/>
              <a:lstStyle/>
              <a:p>
                <a:r>
                  <a:rPr lang="en-US" sz="1200"/>
                  <a:t>……</a:t>
                </a:r>
                <a:endParaRPr lang="en-US"/>
              </a:p>
            </p:txBody>
          </p:sp>
          <p:sp>
            <p:nvSpPr>
              <p:cNvPr id="5198" name="Line 35"/>
              <p:cNvSpPr>
                <a:spLocks noChangeShapeType="1"/>
              </p:cNvSpPr>
              <p:nvPr/>
            </p:nvSpPr>
            <p:spPr bwMode="auto">
              <a:xfrm>
                <a:off x="2328" y="912"/>
                <a:ext cx="432" cy="0"/>
              </a:xfrm>
              <a:prstGeom prst="line">
                <a:avLst/>
              </a:prstGeom>
              <a:noFill/>
              <a:ln w="9525">
                <a:solidFill>
                  <a:srgbClr val="000000"/>
                </a:solidFill>
                <a:round/>
                <a:headEnd/>
                <a:tailEnd type="triangle" w="med" len="med"/>
              </a:ln>
            </p:spPr>
            <p:txBody>
              <a:bodyPr/>
              <a:lstStyle/>
              <a:p>
                <a:endParaRPr lang="en-US"/>
              </a:p>
            </p:txBody>
          </p:sp>
          <p:sp>
            <p:nvSpPr>
              <p:cNvPr id="5199" name="Text Box 36"/>
              <p:cNvSpPr txBox="1">
                <a:spLocks noChangeArrowheads="1"/>
              </p:cNvSpPr>
              <p:nvPr/>
            </p:nvSpPr>
            <p:spPr bwMode="auto">
              <a:xfrm>
                <a:off x="2400" y="768"/>
                <a:ext cx="288" cy="216"/>
              </a:xfrm>
              <a:prstGeom prst="rect">
                <a:avLst/>
              </a:prstGeom>
              <a:solidFill>
                <a:srgbClr val="FFFFFF">
                  <a:alpha val="0"/>
                </a:srgbClr>
              </a:solidFill>
              <a:ln w="9525">
                <a:noFill/>
                <a:miter lim="800000"/>
                <a:headEnd/>
                <a:tailEnd/>
              </a:ln>
            </p:spPr>
            <p:txBody>
              <a:bodyPr/>
              <a:lstStyle/>
              <a:p>
                <a:r>
                  <a:rPr lang="en-US" sz="1200"/>
                  <a:t>A</a:t>
                </a:r>
                <a:r>
                  <a:rPr lang="en-US" sz="1200" baseline="-25000"/>
                  <a:t>0</a:t>
                </a:r>
                <a:endParaRPr lang="en-US"/>
              </a:p>
            </p:txBody>
          </p:sp>
          <p:sp>
            <p:nvSpPr>
              <p:cNvPr id="5200" name="Line 37"/>
              <p:cNvSpPr>
                <a:spLocks noChangeShapeType="1"/>
              </p:cNvSpPr>
              <p:nvPr/>
            </p:nvSpPr>
            <p:spPr bwMode="auto">
              <a:xfrm>
                <a:off x="2328" y="1200"/>
                <a:ext cx="432" cy="0"/>
              </a:xfrm>
              <a:prstGeom prst="line">
                <a:avLst/>
              </a:prstGeom>
              <a:noFill/>
              <a:ln w="9525">
                <a:solidFill>
                  <a:srgbClr val="000000"/>
                </a:solidFill>
                <a:round/>
                <a:headEnd/>
                <a:tailEnd type="triangle" w="med" len="med"/>
              </a:ln>
            </p:spPr>
            <p:txBody>
              <a:bodyPr/>
              <a:lstStyle/>
              <a:p>
                <a:endParaRPr lang="en-US"/>
              </a:p>
            </p:txBody>
          </p:sp>
          <p:sp>
            <p:nvSpPr>
              <p:cNvPr id="5201" name="Text Box 38"/>
              <p:cNvSpPr txBox="1">
                <a:spLocks noChangeArrowheads="1"/>
              </p:cNvSpPr>
              <p:nvPr/>
            </p:nvSpPr>
            <p:spPr bwMode="auto">
              <a:xfrm>
                <a:off x="2400" y="1056"/>
                <a:ext cx="288" cy="216"/>
              </a:xfrm>
              <a:prstGeom prst="rect">
                <a:avLst/>
              </a:prstGeom>
              <a:solidFill>
                <a:srgbClr val="FFFFFF">
                  <a:alpha val="0"/>
                </a:srgbClr>
              </a:solidFill>
              <a:ln w="9525">
                <a:noFill/>
                <a:miter lim="800000"/>
                <a:headEnd/>
                <a:tailEnd/>
              </a:ln>
            </p:spPr>
            <p:txBody>
              <a:bodyPr/>
              <a:lstStyle/>
              <a:p>
                <a:r>
                  <a:rPr lang="en-US" sz="1200"/>
                  <a:t>A</a:t>
                </a:r>
                <a:r>
                  <a:rPr lang="en-US" sz="1200" baseline="-25000"/>
                  <a:t>1</a:t>
                </a:r>
                <a:endParaRPr lang="en-US"/>
              </a:p>
            </p:txBody>
          </p:sp>
          <p:sp>
            <p:nvSpPr>
              <p:cNvPr id="5202" name="Line 39"/>
              <p:cNvSpPr>
                <a:spLocks noChangeShapeType="1"/>
              </p:cNvSpPr>
              <p:nvPr/>
            </p:nvSpPr>
            <p:spPr bwMode="auto">
              <a:xfrm>
                <a:off x="2328" y="2064"/>
                <a:ext cx="432" cy="0"/>
              </a:xfrm>
              <a:prstGeom prst="line">
                <a:avLst/>
              </a:prstGeom>
              <a:noFill/>
              <a:ln w="9525">
                <a:solidFill>
                  <a:srgbClr val="000000"/>
                </a:solidFill>
                <a:round/>
                <a:headEnd/>
                <a:tailEnd type="triangle" w="med" len="med"/>
              </a:ln>
            </p:spPr>
            <p:txBody>
              <a:bodyPr/>
              <a:lstStyle/>
              <a:p>
                <a:endParaRPr lang="en-US"/>
              </a:p>
            </p:txBody>
          </p:sp>
          <p:sp>
            <p:nvSpPr>
              <p:cNvPr id="5203" name="Text Box 40"/>
              <p:cNvSpPr txBox="1">
                <a:spLocks noChangeArrowheads="1"/>
              </p:cNvSpPr>
              <p:nvPr/>
            </p:nvSpPr>
            <p:spPr bwMode="auto">
              <a:xfrm>
                <a:off x="2400" y="1872"/>
                <a:ext cx="288" cy="216"/>
              </a:xfrm>
              <a:prstGeom prst="rect">
                <a:avLst/>
              </a:prstGeom>
              <a:solidFill>
                <a:srgbClr val="FFFFFF">
                  <a:alpha val="0"/>
                </a:srgbClr>
              </a:solidFill>
              <a:ln w="9525">
                <a:noFill/>
                <a:miter lim="800000"/>
                <a:headEnd/>
                <a:tailEnd/>
              </a:ln>
            </p:spPr>
            <p:txBody>
              <a:bodyPr/>
              <a:lstStyle/>
              <a:p>
                <a:r>
                  <a:rPr lang="en-US" sz="1200"/>
                  <a:t>A</a:t>
                </a:r>
                <a:r>
                  <a:rPr lang="en-US" sz="1200" baseline="-25000"/>
                  <a:t>N-1</a:t>
                </a:r>
                <a:endParaRPr lang="en-US"/>
              </a:p>
            </p:txBody>
          </p:sp>
          <p:sp>
            <p:nvSpPr>
              <p:cNvPr id="5204" name="Text Box 41"/>
              <p:cNvSpPr txBox="1">
                <a:spLocks noChangeArrowheads="1"/>
              </p:cNvSpPr>
              <p:nvPr/>
            </p:nvSpPr>
            <p:spPr bwMode="auto">
              <a:xfrm>
                <a:off x="2760" y="768"/>
                <a:ext cx="288" cy="1512"/>
              </a:xfrm>
              <a:prstGeom prst="rect">
                <a:avLst/>
              </a:prstGeom>
              <a:solidFill>
                <a:srgbClr val="FF99FF"/>
              </a:solidFill>
              <a:ln w="9525">
                <a:solidFill>
                  <a:srgbClr val="000000"/>
                </a:solidFill>
                <a:miter lim="800000"/>
                <a:headEnd/>
                <a:tailEnd/>
              </a:ln>
            </p:spPr>
            <p:txBody>
              <a:bodyPr/>
              <a:lstStyle/>
              <a:p>
                <a:endParaRPr lang="en-US" sz="1200"/>
              </a:p>
              <a:p>
                <a:endParaRPr lang="en-US" sz="1200"/>
              </a:p>
              <a:p>
                <a:endParaRPr lang="en-US" sz="1200"/>
              </a:p>
              <a:p>
                <a:endParaRPr lang="en-US" sz="1200"/>
              </a:p>
              <a:p>
                <a:endParaRPr lang="en-US" sz="1200"/>
              </a:p>
              <a:p>
                <a:endParaRPr lang="en-US" sz="1200"/>
              </a:p>
              <a:p>
                <a:r>
                  <a:rPr lang="en-US" sz="1200"/>
                  <a:t>P/S</a:t>
                </a:r>
                <a:endParaRPr lang="en-US"/>
              </a:p>
            </p:txBody>
          </p:sp>
          <p:graphicFrame>
            <p:nvGraphicFramePr>
              <p:cNvPr id="5127" name="Object 7"/>
              <p:cNvGraphicFramePr>
                <a:graphicFrameLocks noChangeAspect="1"/>
              </p:cNvGraphicFramePr>
              <p:nvPr/>
            </p:nvGraphicFramePr>
            <p:xfrm>
              <a:off x="288" y="1056"/>
              <a:ext cx="816" cy="219"/>
            </p:xfrm>
            <a:graphic>
              <a:graphicData uri="http://schemas.openxmlformats.org/presentationml/2006/ole">
                <mc:AlternateContent xmlns:mc="http://schemas.openxmlformats.org/markup-compatibility/2006">
                  <mc:Choice xmlns:v="urn:schemas-microsoft-com:vml" Requires="v">
                    <p:oleObj spid="_x0000_s9425" name="Equation" r:id="rId3" imgW="888614" imgH="241195" progId="Equation.3">
                      <p:embed/>
                    </p:oleObj>
                  </mc:Choice>
                  <mc:Fallback>
                    <p:oleObj name="Equation" r:id="rId3" imgW="888614" imgH="24119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 y="1056"/>
                            <a:ext cx="816" cy="2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8" name="Object 8"/>
              <p:cNvGraphicFramePr>
                <a:graphicFrameLocks noChangeAspect="1"/>
              </p:cNvGraphicFramePr>
              <p:nvPr/>
            </p:nvGraphicFramePr>
            <p:xfrm>
              <a:off x="1584" y="720"/>
              <a:ext cx="213" cy="240"/>
            </p:xfrm>
            <a:graphic>
              <a:graphicData uri="http://schemas.openxmlformats.org/presentationml/2006/ole">
                <mc:AlternateContent xmlns:mc="http://schemas.openxmlformats.org/markup-compatibility/2006">
                  <mc:Choice xmlns:v="urn:schemas-microsoft-com:vml" Requires="v">
                    <p:oleObj spid="_x0000_s9426" name="Equation" r:id="rId5" imgW="190335" imgH="215713" progId="Equation.3">
                      <p:embed/>
                    </p:oleObj>
                  </mc:Choice>
                  <mc:Fallback>
                    <p:oleObj name="Equation" r:id="rId5" imgW="190335" imgH="215713"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4" y="720"/>
                            <a:ext cx="213"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9" name="Object 9"/>
              <p:cNvGraphicFramePr>
                <a:graphicFrameLocks noChangeAspect="1"/>
              </p:cNvGraphicFramePr>
              <p:nvPr/>
            </p:nvGraphicFramePr>
            <p:xfrm>
              <a:off x="1584" y="1104"/>
              <a:ext cx="261" cy="294"/>
            </p:xfrm>
            <a:graphic>
              <a:graphicData uri="http://schemas.openxmlformats.org/presentationml/2006/ole">
                <mc:AlternateContent xmlns:mc="http://schemas.openxmlformats.org/markup-compatibility/2006">
                  <mc:Choice xmlns:v="urn:schemas-microsoft-com:vml" Requires="v">
                    <p:oleObj spid="_x0000_s9427" name="Equation" r:id="rId7" imgW="190335" imgH="215713" progId="Equation.3">
                      <p:embed/>
                    </p:oleObj>
                  </mc:Choice>
                  <mc:Fallback>
                    <p:oleObj name="Equation" r:id="rId7" imgW="190335" imgH="215713"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84" y="1104"/>
                            <a:ext cx="261" cy="2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30" name="Object 10"/>
              <p:cNvGraphicFramePr>
                <a:graphicFrameLocks noChangeAspect="1"/>
              </p:cNvGraphicFramePr>
              <p:nvPr/>
            </p:nvGraphicFramePr>
            <p:xfrm>
              <a:off x="1560" y="1620"/>
              <a:ext cx="276" cy="199"/>
            </p:xfrm>
            <a:graphic>
              <a:graphicData uri="http://schemas.openxmlformats.org/presentationml/2006/ole">
                <mc:AlternateContent xmlns:mc="http://schemas.openxmlformats.org/markup-compatibility/2006">
                  <mc:Choice xmlns:v="urn:schemas-microsoft-com:vml" Requires="v">
                    <p:oleObj spid="_x0000_s9428" name="Equation" r:id="rId9" imgW="304536" imgH="215713" progId="Equation.3">
                      <p:embed/>
                    </p:oleObj>
                  </mc:Choice>
                  <mc:Fallback>
                    <p:oleObj name="Equation" r:id="rId9" imgW="304536" imgH="215713"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60" y="1620"/>
                            <a:ext cx="276" cy="1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05" name="Text Box 46"/>
              <p:cNvSpPr txBox="1">
                <a:spLocks noChangeArrowheads="1"/>
              </p:cNvSpPr>
              <p:nvPr/>
            </p:nvSpPr>
            <p:spPr bwMode="auto">
              <a:xfrm>
                <a:off x="1737" y="1332"/>
                <a:ext cx="192" cy="403"/>
              </a:xfrm>
              <a:prstGeom prst="rect">
                <a:avLst/>
              </a:prstGeom>
              <a:noFill/>
              <a:ln w="9525" algn="ctr">
                <a:noFill/>
                <a:miter lim="800000"/>
                <a:headEnd/>
                <a:tailEnd/>
              </a:ln>
            </p:spPr>
            <p:txBody>
              <a:bodyPr>
                <a:spAutoFit/>
              </a:bodyPr>
              <a:lstStyle/>
              <a:p>
                <a:pPr algn="ctr">
                  <a:spcBef>
                    <a:spcPct val="50000"/>
                  </a:spcBef>
                </a:pPr>
                <a:r>
                  <a:rPr lang="en-US" sz="1200"/>
                  <a:t>………</a:t>
                </a:r>
              </a:p>
            </p:txBody>
          </p:sp>
          <p:sp>
            <p:nvSpPr>
              <p:cNvPr id="5206" name="Text Box 47"/>
              <p:cNvSpPr txBox="1">
                <a:spLocks noChangeArrowheads="1"/>
              </p:cNvSpPr>
              <p:nvPr/>
            </p:nvSpPr>
            <p:spPr bwMode="auto">
              <a:xfrm>
                <a:off x="2496" y="1194"/>
                <a:ext cx="192" cy="748"/>
              </a:xfrm>
              <a:prstGeom prst="rect">
                <a:avLst/>
              </a:prstGeom>
              <a:noFill/>
              <a:ln w="9525" algn="ctr">
                <a:noFill/>
                <a:miter lim="800000"/>
                <a:headEnd/>
                <a:tailEnd/>
              </a:ln>
            </p:spPr>
            <p:txBody>
              <a:bodyPr>
                <a:spAutoFit/>
              </a:bodyPr>
              <a:lstStyle/>
              <a:p>
                <a:pPr algn="ctr">
                  <a:spcBef>
                    <a:spcPct val="50000"/>
                  </a:spcBef>
                </a:pPr>
                <a:r>
                  <a:rPr lang="en-US" sz="1200"/>
                  <a:t>………………</a:t>
                </a:r>
              </a:p>
            </p:txBody>
          </p:sp>
          <p:sp>
            <p:nvSpPr>
              <p:cNvPr id="5207" name="Line 48"/>
              <p:cNvSpPr>
                <a:spLocks noChangeShapeType="1"/>
              </p:cNvSpPr>
              <p:nvPr/>
            </p:nvSpPr>
            <p:spPr bwMode="auto">
              <a:xfrm>
                <a:off x="3042" y="1467"/>
                <a:ext cx="432" cy="0"/>
              </a:xfrm>
              <a:prstGeom prst="line">
                <a:avLst/>
              </a:prstGeom>
              <a:noFill/>
              <a:ln w="9525">
                <a:solidFill>
                  <a:srgbClr val="000000"/>
                </a:solidFill>
                <a:round/>
                <a:headEnd/>
                <a:tailEnd type="triangle" w="med" len="med"/>
              </a:ln>
            </p:spPr>
            <p:txBody>
              <a:bodyPr/>
              <a:lstStyle/>
              <a:p>
                <a:endParaRPr lang="en-US"/>
              </a:p>
            </p:txBody>
          </p:sp>
          <p:sp>
            <p:nvSpPr>
              <p:cNvPr id="5208" name="Rectangle 49"/>
              <p:cNvSpPr>
                <a:spLocks noChangeArrowheads="1"/>
              </p:cNvSpPr>
              <p:nvPr/>
            </p:nvSpPr>
            <p:spPr bwMode="auto">
              <a:xfrm>
                <a:off x="3495" y="1365"/>
                <a:ext cx="370" cy="237"/>
              </a:xfrm>
              <a:prstGeom prst="rect">
                <a:avLst/>
              </a:prstGeom>
              <a:noFill/>
              <a:ln w="9525" algn="ctr">
                <a:solidFill>
                  <a:schemeClr val="tx1"/>
                </a:solidFill>
                <a:miter lim="800000"/>
                <a:headEnd/>
                <a:tailEnd/>
              </a:ln>
            </p:spPr>
            <p:txBody>
              <a:bodyPr wrap="none" anchor="ctr">
                <a:spAutoFit/>
              </a:bodyPr>
              <a:lstStyle/>
              <a:p>
                <a:pPr algn="ctr"/>
                <a:r>
                  <a:rPr lang="en-US" sz="1800"/>
                  <a:t>D/A</a:t>
                </a:r>
              </a:p>
            </p:txBody>
          </p:sp>
          <p:sp>
            <p:nvSpPr>
              <p:cNvPr id="5209" name="Rectangle 50"/>
              <p:cNvSpPr>
                <a:spLocks noChangeArrowheads="1"/>
              </p:cNvSpPr>
              <p:nvPr/>
            </p:nvSpPr>
            <p:spPr bwMode="auto">
              <a:xfrm>
                <a:off x="4302" y="1371"/>
                <a:ext cx="672" cy="237"/>
              </a:xfrm>
              <a:prstGeom prst="rect">
                <a:avLst/>
              </a:prstGeom>
              <a:noFill/>
              <a:ln w="9525" algn="ctr">
                <a:solidFill>
                  <a:schemeClr val="tx1"/>
                </a:solidFill>
                <a:miter lim="800000"/>
                <a:headEnd/>
                <a:tailEnd/>
              </a:ln>
            </p:spPr>
            <p:txBody>
              <a:bodyPr anchor="ctr">
                <a:spAutoFit/>
              </a:bodyPr>
              <a:lstStyle/>
              <a:p>
                <a:pPr algn="ctr"/>
                <a:r>
                  <a:rPr lang="en-US" sz="1800"/>
                  <a:t>Channel</a:t>
                </a:r>
              </a:p>
            </p:txBody>
          </p:sp>
          <p:sp>
            <p:nvSpPr>
              <p:cNvPr id="5210" name="Line 51"/>
              <p:cNvSpPr>
                <a:spLocks noChangeShapeType="1"/>
              </p:cNvSpPr>
              <p:nvPr/>
            </p:nvSpPr>
            <p:spPr bwMode="auto">
              <a:xfrm>
                <a:off x="3873" y="1488"/>
                <a:ext cx="432" cy="0"/>
              </a:xfrm>
              <a:prstGeom prst="line">
                <a:avLst/>
              </a:prstGeom>
              <a:noFill/>
              <a:ln w="9525">
                <a:solidFill>
                  <a:srgbClr val="000000"/>
                </a:solidFill>
                <a:round/>
                <a:headEnd/>
                <a:tailEnd type="triangle" w="med" len="med"/>
              </a:ln>
            </p:spPr>
            <p:txBody>
              <a:bodyPr/>
              <a:lstStyle/>
              <a:p>
                <a:endParaRPr lang="en-US"/>
              </a:p>
            </p:txBody>
          </p:sp>
          <p:sp>
            <p:nvSpPr>
              <p:cNvPr id="5211" name="Line 52"/>
              <p:cNvSpPr>
                <a:spLocks noChangeShapeType="1"/>
              </p:cNvSpPr>
              <p:nvPr/>
            </p:nvSpPr>
            <p:spPr bwMode="auto">
              <a:xfrm>
                <a:off x="4968" y="1488"/>
                <a:ext cx="432" cy="0"/>
              </a:xfrm>
              <a:prstGeom prst="line">
                <a:avLst/>
              </a:prstGeom>
              <a:noFill/>
              <a:ln w="9525">
                <a:solidFill>
                  <a:srgbClr val="000000"/>
                </a:solidFill>
                <a:round/>
                <a:headEnd/>
                <a:tailEnd type="triangle" w="med" len="med"/>
              </a:ln>
            </p:spPr>
            <p:txBody>
              <a:bodyPr/>
              <a:lstStyle/>
              <a:p>
                <a:endParaRPr lang="en-US"/>
              </a:p>
            </p:txBody>
          </p:sp>
        </p:grpSp>
        <p:grpSp>
          <p:nvGrpSpPr>
            <p:cNvPr id="5154" name="Group 53"/>
            <p:cNvGrpSpPr>
              <a:grpSpLocks/>
            </p:cNvGrpSpPr>
            <p:nvPr/>
          </p:nvGrpSpPr>
          <p:grpSpPr bwMode="auto">
            <a:xfrm>
              <a:off x="528" y="1998"/>
              <a:ext cx="4368" cy="1647"/>
              <a:chOff x="144" y="1809"/>
              <a:chExt cx="4368" cy="1647"/>
            </a:xfrm>
          </p:grpSpPr>
          <p:sp>
            <p:nvSpPr>
              <p:cNvPr id="5156" name="Text Box 54"/>
              <p:cNvSpPr txBox="1">
                <a:spLocks noChangeArrowheads="1"/>
              </p:cNvSpPr>
              <p:nvPr/>
            </p:nvSpPr>
            <p:spPr bwMode="auto">
              <a:xfrm>
                <a:off x="2064" y="1968"/>
                <a:ext cx="360" cy="1440"/>
              </a:xfrm>
              <a:prstGeom prst="rect">
                <a:avLst/>
              </a:prstGeom>
              <a:solidFill>
                <a:srgbClr val="CCCC00"/>
              </a:solidFill>
              <a:ln w="9525">
                <a:solidFill>
                  <a:srgbClr val="000000"/>
                </a:solidFill>
                <a:miter lim="800000"/>
                <a:headEnd/>
                <a:tailEnd/>
              </a:ln>
            </p:spPr>
            <p:txBody>
              <a:bodyPr/>
              <a:lstStyle/>
              <a:p>
                <a:endParaRPr lang="en-US" sz="1200"/>
              </a:p>
              <a:p>
                <a:endParaRPr lang="en-US" sz="1200"/>
              </a:p>
              <a:p>
                <a:endParaRPr lang="en-US" sz="1200"/>
              </a:p>
              <a:p>
                <a:endParaRPr lang="en-US" sz="1200"/>
              </a:p>
              <a:p>
                <a:endParaRPr lang="en-US" sz="1200"/>
              </a:p>
              <a:p>
                <a:r>
                  <a:rPr lang="en-US" sz="1200"/>
                  <a:t>DFT</a:t>
                </a:r>
                <a:endParaRPr lang="en-US"/>
              </a:p>
            </p:txBody>
          </p:sp>
          <p:sp>
            <p:nvSpPr>
              <p:cNvPr id="5157" name="Rectangle 55"/>
              <p:cNvSpPr>
                <a:spLocks noChangeArrowheads="1"/>
              </p:cNvSpPr>
              <p:nvPr/>
            </p:nvSpPr>
            <p:spPr bwMode="auto">
              <a:xfrm>
                <a:off x="384" y="2544"/>
                <a:ext cx="370" cy="237"/>
              </a:xfrm>
              <a:prstGeom prst="rect">
                <a:avLst/>
              </a:prstGeom>
              <a:noFill/>
              <a:ln w="9525" algn="ctr">
                <a:solidFill>
                  <a:schemeClr val="tx1"/>
                </a:solidFill>
                <a:miter lim="800000"/>
                <a:headEnd/>
                <a:tailEnd/>
              </a:ln>
            </p:spPr>
            <p:txBody>
              <a:bodyPr wrap="none" anchor="ctr">
                <a:spAutoFit/>
              </a:bodyPr>
              <a:lstStyle/>
              <a:p>
                <a:pPr algn="ctr"/>
                <a:r>
                  <a:rPr lang="en-US" sz="1800"/>
                  <a:t>A/D</a:t>
                </a:r>
              </a:p>
            </p:txBody>
          </p:sp>
          <p:sp>
            <p:nvSpPr>
              <p:cNvPr id="5158" name="Line 56"/>
              <p:cNvSpPr>
                <a:spLocks noChangeShapeType="1"/>
              </p:cNvSpPr>
              <p:nvPr/>
            </p:nvSpPr>
            <p:spPr bwMode="auto">
              <a:xfrm>
                <a:off x="768" y="2640"/>
                <a:ext cx="576" cy="0"/>
              </a:xfrm>
              <a:prstGeom prst="line">
                <a:avLst/>
              </a:prstGeom>
              <a:noFill/>
              <a:ln w="9525">
                <a:solidFill>
                  <a:schemeClr val="tx1"/>
                </a:solidFill>
                <a:round/>
                <a:headEnd/>
                <a:tailEnd type="triangle" w="med" len="med"/>
              </a:ln>
            </p:spPr>
            <p:txBody>
              <a:bodyPr wrap="none" anchor="ctr">
                <a:spAutoFit/>
              </a:bodyPr>
              <a:lstStyle/>
              <a:p>
                <a:endParaRPr lang="en-US"/>
              </a:p>
            </p:txBody>
          </p:sp>
          <p:sp>
            <p:nvSpPr>
              <p:cNvPr id="5159" name="Text Box 57"/>
              <p:cNvSpPr txBox="1">
                <a:spLocks noChangeArrowheads="1"/>
              </p:cNvSpPr>
              <p:nvPr/>
            </p:nvSpPr>
            <p:spPr bwMode="auto">
              <a:xfrm>
                <a:off x="1344" y="1944"/>
                <a:ext cx="288" cy="1512"/>
              </a:xfrm>
              <a:prstGeom prst="rect">
                <a:avLst/>
              </a:prstGeom>
              <a:solidFill>
                <a:srgbClr val="FF99FF"/>
              </a:solidFill>
              <a:ln w="9525">
                <a:solidFill>
                  <a:srgbClr val="000000"/>
                </a:solidFill>
                <a:miter lim="800000"/>
                <a:headEnd/>
                <a:tailEnd/>
              </a:ln>
            </p:spPr>
            <p:txBody>
              <a:bodyPr/>
              <a:lstStyle/>
              <a:p>
                <a:endParaRPr lang="en-US" sz="1200"/>
              </a:p>
              <a:p>
                <a:endParaRPr lang="en-US" sz="1200"/>
              </a:p>
              <a:p>
                <a:endParaRPr lang="en-US" sz="1200"/>
              </a:p>
              <a:p>
                <a:endParaRPr lang="en-US" sz="1200"/>
              </a:p>
              <a:p>
                <a:endParaRPr lang="en-US" sz="1200"/>
              </a:p>
              <a:p>
                <a:endParaRPr lang="en-US" sz="1200"/>
              </a:p>
              <a:p>
                <a:r>
                  <a:rPr lang="en-US" sz="1200"/>
                  <a:t>P/S</a:t>
                </a:r>
                <a:endParaRPr lang="en-US"/>
              </a:p>
            </p:txBody>
          </p:sp>
          <p:sp>
            <p:nvSpPr>
              <p:cNvPr id="5160" name="Line 58"/>
              <p:cNvSpPr>
                <a:spLocks noChangeShapeType="1"/>
              </p:cNvSpPr>
              <p:nvPr/>
            </p:nvSpPr>
            <p:spPr bwMode="auto">
              <a:xfrm>
                <a:off x="1632" y="2112"/>
                <a:ext cx="432" cy="0"/>
              </a:xfrm>
              <a:prstGeom prst="line">
                <a:avLst/>
              </a:prstGeom>
              <a:noFill/>
              <a:ln w="9525">
                <a:solidFill>
                  <a:srgbClr val="000000"/>
                </a:solidFill>
                <a:round/>
                <a:headEnd/>
                <a:tailEnd type="triangle" w="med" len="med"/>
              </a:ln>
            </p:spPr>
            <p:txBody>
              <a:bodyPr/>
              <a:lstStyle/>
              <a:p>
                <a:endParaRPr lang="en-US"/>
              </a:p>
            </p:txBody>
          </p:sp>
          <p:sp>
            <p:nvSpPr>
              <p:cNvPr id="5161" name="Text Box 59"/>
              <p:cNvSpPr txBox="1">
                <a:spLocks noChangeArrowheads="1"/>
              </p:cNvSpPr>
              <p:nvPr/>
            </p:nvSpPr>
            <p:spPr bwMode="auto">
              <a:xfrm>
                <a:off x="1704" y="1968"/>
                <a:ext cx="288" cy="216"/>
              </a:xfrm>
              <a:prstGeom prst="rect">
                <a:avLst/>
              </a:prstGeom>
              <a:solidFill>
                <a:srgbClr val="FFFFFF">
                  <a:alpha val="0"/>
                </a:srgbClr>
              </a:solidFill>
              <a:ln w="9525">
                <a:noFill/>
                <a:miter lim="800000"/>
                <a:headEnd/>
                <a:tailEnd/>
              </a:ln>
            </p:spPr>
            <p:txBody>
              <a:bodyPr/>
              <a:lstStyle/>
              <a:p>
                <a:r>
                  <a:rPr lang="en-US" sz="1200"/>
                  <a:t>r</a:t>
                </a:r>
                <a:r>
                  <a:rPr lang="en-US" sz="1200" baseline="-25000"/>
                  <a:t>0</a:t>
                </a:r>
                <a:endParaRPr lang="en-US"/>
              </a:p>
            </p:txBody>
          </p:sp>
          <p:sp>
            <p:nvSpPr>
              <p:cNvPr id="5162" name="Line 60"/>
              <p:cNvSpPr>
                <a:spLocks noChangeShapeType="1"/>
              </p:cNvSpPr>
              <p:nvPr/>
            </p:nvSpPr>
            <p:spPr bwMode="auto">
              <a:xfrm>
                <a:off x="1632" y="2400"/>
                <a:ext cx="432" cy="0"/>
              </a:xfrm>
              <a:prstGeom prst="line">
                <a:avLst/>
              </a:prstGeom>
              <a:noFill/>
              <a:ln w="9525">
                <a:solidFill>
                  <a:srgbClr val="000000"/>
                </a:solidFill>
                <a:round/>
                <a:headEnd/>
                <a:tailEnd type="triangle" w="med" len="med"/>
              </a:ln>
            </p:spPr>
            <p:txBody>
              <a:bodyPr/>
              <a:lstStyle/>
              <a:p>
                <a:endParaRPr lang="en-US"/>
              </a:p>
            </p:txBody>
          </p:sp>
          <p:sp>
            <p:nvSpPr>
              <p:cNvPr id="5163" name="Text Box 61"/>
              <p:cNvSpPr txBox="1">
                <a:spLocks noChangeArrowheads="1"/>
              </p:cNvSpPr>
              <p:nvPr/>
            </p:nvSpPr>
            <p:spPr bwMode="auto">
              <a:xfrm>
                <a:off x="1704" y="2256"/>
                <a:ext cx="288" cy="216"/>
              </a:xfrm>
              <a:prstGeom prst="rect">
                <a:avLst/>
              </a:prstGeom>
              <a:solidFill>
                <a:srgbClr val="FFFFFF">
                  <a:alpha val="0"/>
                </a:srgbClr>
              </a:solidFill>
              <a:ln w="9525">
                <a:noFill/>
                <a:miter lim="800000"/>
                <a:headEnd/>
                <a:tailEnd/>
              </a:ln>
            </p:spPr>
            <p:txBody>
              <a:bodyPr/>
              <a:lstStyle/>
              <a:p>
                <a:r>
                  <a:rPr lang="en-US" sz="1200"/>
                  <a:t>r</a:t>
                </a:r>
                <a:r>
                  <a:rPr lang="en-US" sz="1200" baseline="-25000"/>
                  <a:t>1</a:t>
                </a:r>
                <a:endParaRPr lang="en-US"/>
              </a:p>
            </p:txBody>
          </p:sp>
          <p:sp>
            <p:nvSpPr>
              <p:cNvPr id="5164" name="Line 62"/>
              <p:cNvSpPr>
                <a:spLocks noChangeShapeType="1"/>
              </p:cNvSpPr>
              <p:nvPr/>
            </p:nvSpPr>
            <p:spPr bwMode="auto">
              <a:xfrm>
                <a:off x="1632" y="3264"/>
                <a:ext cx="432" cy="0"/>
              </a:xfrm>
              <a:prstGeom prst="line">
                <a:avLst/>
              </a:prstGeom>
              <a:noFill/>
              <a:ln w="9525">
                <a:solidFill>
                  <a:srgbClr val="000000"/>
                </a:solidFill>
                <a:round/>
                <a:headEnd/>
                <a:tailEnd type="triangle" w="med" len="med"/>
              </a:ln>
            </p:spPr>
            <p:txBody>
              <a:bodyPr/>
              <a:lstStyle/>
              <a:p>
                <a:endParaRPr lang="en-US"/>
              </a:p>
            </p:txBody>
          </p:sp>
          <p:sp>
            <p:nvSpPr>
              <p:cNvPr id="5165" name="Text Box 63"/>
              <p:cNvSpPr txBox="1">
                <a:spLocks noChangeArrowheads="1"/>
              </p:cNvSpPr>
              <p:nvPr/>
            </p:nvSpPr>
            <p:spPr bwMode="auto">
              <a:xfrm>
                <a:off x="1704" y="3072"/>
                <a:ext cx="288" cy="216"/>
              </a:xfrm>
              <a:prstGeom prst="rect">
                <a:avLst/>
              </a:prstGeom>
              <a:solidFill>
                <a:srgbClr val="FFFFFF">
                  <a:alpha val="0"/>
                </a:srgbClr>
              </a:solidFill>
              <a:ln w="9525">
                <a:noFill/>
                <a:miter lim="800000"/>
                <a:headEnd/>
                <a:tailEnd/>
              </a:ln>
            </p:spPr>
            <p:txBody>
              <a:bodyPr/>
              <a:lstStyle/>
              <a:p>
                <a:r>
                  <a:rPr lang="en-US" sz="1200"/>
                  <a:t>r</a:t>
                </a:r>
                <a:r>
                  <a:rPr lang="en-US" sz="1200" baseline="-25000"/>
                  <a:t>N-1</a:t>
                </a:r>
                <a:endParaRPr lang="en-US"/>
              </a:p>
            </p:txBody>
          </p:sp>
          <p:sp>
            <p:nvSpPr>
              <p:cNvPr id="5166" name="Text Box 64"/>
              <p:cNvSpPr txBox="1">
                <a:spLocks noChangeArrowheads="1"/>
              </p:cNvSpPr>
              <p:nvPr/>
            </p:nvSpPr>
            <p:spPr bwMode="auto">
              <a:xfrm>
                <a:off x="1800" y="2394"/>
                <a:ext cx="192" cy="748"/>
              </a:xfrm>
              <a:prstGeom prst="rect">
                <a:avLst/>
              </a:prstGeom>
              <a:noFill/>
              <a:ln w="9525" algn="ctr">
                <a:noFill/>
                <a:miter lim="800000"/>
                <a:headEnd/>
                <a:tailEnd/>
              </a:ln>
            </p:spPr>
            <p:txBody>
              <a:bodyPr>
                <a:spAutoFit/>
              </a:bodyPr>
              <a:lstStyle/>
              <a:p>
                <a:pPr algn="ctr">
                  <a:spcBef>
                    <a:spcPct val="50000"/>
                  </a:spcBef>
                </a:pPr>
                <a:r>
                  <a:rPr lang="en-US" sz="1200"/>
                  <a:t>………………</a:t>
                </a:r>
              </a:p>
            </p:txBody>
          </p:sp>
          <p:sp>
            <p:nvSpPr>
              <p:cNvPr id="5167" name="Line 65"/>
              <p:cNvSpPr>
                <a:spLocks noChangeShapeType="1"/>
              </p:cNvSpPr>
              <p:nvPr/>
            </p:nvSpPr>
            <p:spPr bwMode="auto">
              <a:xfrm>
                <a:off x="2418" y="2091"/>
                <a:ext cx="432" cy="0"/>
              </a:xfrm>
              <a:prstGeom prst="line">
                <a:avLst/>
              </a:prstGeom>
              <a:noFill/>
              <a:ln w="9525">
                <a:solidFill>
                  <a:srgbClr val="000000"/>
                </a:solidFill>
                <a:round/>
                <a:headEnd/>
                <a:tailEnd type="triangle" w="med" len="med"/>
              </a:ln>
            </p:spPr>
            <p:txBody>
              <a:bodyPr/>
              <a:lstStyle/>
              <a:p>
                <a:endParaRPr lang="en-US"/>
              </a:p>
            </p:txBody>
          </p:sp>
          <p:sp>
            <p:nvSpPr>
              <p:cNvPr id="5168" name="Text Box 66"/>
              <p:cNvSpPr txBox="1">
                <a:spLocks noChangeArrowheads="1"/>
              </p:cNvSpPr>
              <p:nvPr/>
            </p:nvSpPr>
            <p:spPr bwMode="auto">
              <a:xfrm>
                <a:off x="2490" y="1947"/>
                <a:ext cx="216" cy="216"/>
              </a:xfrm>
              <a:prstGeom prst="rect">
                <a:avLst/>
              </a:prstGeom>
              <a:solidFill>
                <a:srgbClr val="FFFFFF">
                  <a:alpha val="0"/>
                </a:srgbClr>
              </a:solidFill>
              <a:ln w="9525">
                <a:noFill/>
                <a:miter lim="800000"/>
                <a:headEnd/>
                <a:tailEnd/>
              </a:ln>
            </p:spPr>
            <p:txBody>
              <a:bodyPr/>
              <a:lstStyle/>
              <a:p>
                <a:pPr algn="ctr"/>
                <a:endParaRPr lang="en-US"/>
              </a:p>
            </p:txBody>
          </p:sp>
          <p:sp>
            <p:nvSpPr>
              <p:cNvPr id="5169" name="Line 67"/>
              <p:cNvSpPr>
                <a:spLocks noChangeShapeType="1"/>
              </p:cNvSpPr>
              <p:nvPr/>
            </p:nvSpPr>
            <p:spPr bwMode="auto">
              <a:xfrm>
                <a:off x="2418" y="2493"/>
                <a:ext cx="432" cy="0"/>
              </a:xfrm>
              <a:prstGeom prst="line">
                <a:avLst/>
              </a:prstGeom>
              <a:noFill/>
              <a:ln w="9525">
                <a:solidFill>
                  <a:srgbClr val="000000"/>
                </a:solidFill>
                <a:round/>
                <a:headEnd/>
                <a:tailEnd type="triangle" w="med" len="med"/>
              </a:ln>
            </p:spPr>
            <p:txBody>
              <a:bodyPr/>
              <a:lstStyle/>
              <a:p>
                <a:endParaRPr lang="en-US"/>
              </a:p>
            </p:txBody>
          </p:sp>
          <p:sp>
            <p:nvSpPr>
              <p:cNvPr id="5170" name="Text Box 68"/>
              <p:cNvSpPr txBox="1">
                <a:spLocks noChangeArrowheads="1"/>
              </p:cNvSpPr>
              <p:nvPr/>
            </p:nvSpPr>
            <p:spPr bwMode="auto">
              <a:xfrm>
                <a:off x="2490" y="2331"/>
                <a:ext cx="116" cy="288"/>
              </a:xfrm>
              <a:prstGeom prst="rect">
                <a:avLst/>
              </a:prstGeom>
              <a:solidFill>
                <a:srgbClr val="FFFFFF">
                  <a:alpha val="0"/>
                </a:srgbClr>
              </a:solidFill>
              <a:ln w="9525">
                <a:noFill/>
                <a:miter lim="800000"/>
                <a:headEnd/>
                <a:tailEnd/>
              </a:ln>
            </p:spPr>
            <p:txBody>
              <a:bodyPr wrap="none">
                <a:spAutoFit/>
              </a:bodyPr>
              <a:lstStyle/>
              <a:p>
                <a:endParaRPr lang="en-US"/>
              </a:p>
            </p:txBody>
          </p:sp>
          <p:sp>
            <p:nvSpPr>
              <p:cNvPr id="5171" name="Line 69"/>
              <p:cNvSpPr>
                <a:spLocks noChangeShapeType="1"/>
              </p:cNvSpPr>
              <p:nvPr/>
            </p:nvSpPr>
            <p:spPr bwMode="auto">
              <a:xfrm>
                <a:off x="2418" y="2943"/>
                <a:ext cx="432" cy="0"/>
              </a:xfrm>
              <a:prstGeom prst="line">
                <a:avLst/>
              </a:prstGeom>
              <a:noFill/>
              <a:ln w="9525">
                <a:solidFill>
                  <a:srgbClr val="000000"/>
                </a:solidFill>
                <a:round/>
                <a:headEnd/>
                <a:tailEnd type="triangle" w="med" len="med"/>
              </a:ln>
            </p:spPr>
            <p:txBody>
              <a:bodyPr/>
              <a:lstStyle/>
              <a:p>
                <a:endParaRPr lang="en-US"/>
              </a:p>
            </p:txBody>
          </p:sp>
          <p:sp>
            <p:nvSpPr>
              <p:cNvPr id="5172" name="Text Box 70"/>
              <p:cNvSpPr txBox="1">
                <a:spLocks noChangeArrowheads="1"/>
              </p:cNvSpPr>
              <p:nvPr/>
            </p:nvSpPr>
            <p:spPr bwMode="auto">
              <a:xfrm>
                <a:off x="2418" y="2763"/>
                <a:ext cx="116" cy="288"/>
              </a:xfrm>
              <a:prstGeom prst="rect">
                <a:avLst/>
              </a:prstGeom>
              <a:solidFill>
                <a:srgbClr val="FFFFFF">
                  <a:alpha val="0"/>
                </a:srgbClr>
              </a:solidFill>
              <a:ln w="9525">
                <a:noFill/>
                <a:miter lim="800000"/>
                <a:headEnd/>
                <a:tailEnd/>
              </a:ln>
            </p:spPr>
            <p:txBody>
              <a:bodyPr wrap="none">
                <a:spAutoFit/>
              </a:bodyPr>
              <a:lstStyle/>
              <a:p>
                <a:endParaRPr lang="en-US"/>
              </a:p>
            </p:txBody>
          </p:sp>
          <p:sp>
            <p:nvSpPr>
              <p:cNvPr id="5173" name="Line 71"/>
              <p:cNvSpPr>
                <a:spLocks noChangeShapeType="1"/>
              </p:cNvSpPr>
              <p:nvPr/>
            </p:nvSpPr>
            <p:spPr bwMode="auto">
              <a:xfrm>
                <a:off x="2634" y="3279"/>
                <a:ext cx="216" cy="0"/>
              </a:xfrm>
              <a:prstGeom prst="line">
                <a:avLst/>
              </a:prstGeom>
              <a:noFill/>
              <a:ln w="9525">
                <a:solidFill>
                  <a:srgbClr val="000000"/>
                </a:solidFill>
                <a:round/>
                <a:headEnd/>
                <a:tailEnd type="triangle" w="med" len="med"/>
              </a:ln>
            </p:spPr>
            <p:txBody>
              <a:bodyPr/>
              <a:lstStyle/>
              <a:p>
                <a:endParaRPr lang="en-US"/>
              </a:p>
            </p:txBody>
          </p:sp>
          <p:sp>
            <p:nvSpPr>
              <p:cNvPr id="5174" name="Line 72"/>
              <p:cNvSpPr>
                <a:spLocks noChangeShapeType="1"/>
              </p:cNvSpPr>
              <p:nvPr/>
            </p:nvSpPr>
            <p:spPr bwMode="auto">
              <a:xfrm>
                <a:off x="2634" y="3075"/>
                <a:ext cx="216" cy="0"/>
              </a:xfrm>
              <a:prstGeom prst="line">
                <a:avLst/>
              </a:prstGeom>
              <a:noFill/>
              <a:ln w="9525">
                <a:solidFill>
                  <a:srgbClr val="000000"/>
                </a:solidFill>
                <a:round/>
                <a:headEnd/>
                <a:tailEnd type="triangle" w="med" len="med"/>
              </a:ln>
            </p:spPr>
            <p:txBody>
              <a:bodyPr/>
              <a:lstStyle/>
              <a:p>
                <a:endParaRPr lang="en-US"/>
              </a:p>
            </p:txBody>
          </p:sp>
          <p:sp>
            <p:nvSpPr>
              <p:cNvPr id="5175" name="Text Box 73"/>
              <p:cNvSpPr txBox="1">
                <a:spLocks noChangeArrowheads="1"/>
              </p:cNvSpPr>
              <p:nvPr/>
            </p:nvSpPr>
            <p:spPr bwMode="auto">
              <a:xfrm>
                <a:off x="2490" y="3003"/>
                <a:ext cx="144" cy="144"/>
              </a:xfrm>
              <a:prstGeom prst="rect">
                <a:avLst/>
              </a:prstGeom>
              <a:solidFill>
                <a:srgbClr val="FFFFFF">
                  <a:alpha val="0"/>
                </a:srgbClr>
              </a:solidFill>
              <a:ln w="9525">
                <a:noFill/>
                <a:miter lim="800000"/>
                <a:headEnd/>
                <a:tailEnd/>
              </a:ln>
            </p:spPr>
            <p:txBody>
              <a:bodyPr/>
              <a:lstStyle/>
              <a:p>
                <a:endParaRPr lang="en-US"/>
              </a:p>
            </p:txBody>
          </p:sp>
          <p:sp>
            <p:nvSpPr>
              <p:cNvPr id="5176" name="Text Box 74"/>
              <p:cNvSpPr txBox="1">
                <a:spLocks noChangeArrowheads="1"/>
              </p:cNvSpPr>
              <p:nvPr/>
            </p:nvSpPr>
            <p:spPr bwMode="auto">
              <a:xfrm>
                <a:off x="2490" y="3195"/>
                <a:ext cx="144" cy="144"/>
              </a:xfrm>
              <a:prstGeom prst="rect">
                <a:avLst/>
              </a:prstGeom>
              <a:solidFill>
                <a:srgbClr val="FFFFFF">
                  <a:alpha val="0"/>
                </a:srgbClr>
              </a:solidFill>
              <a:ln w="9525">
                <a:noFill/>
                <a:miter lim="800000"/>
                <a:headEnd/>
                <a:tailEnd/>
              </a:ln>
            </p:spPr>
            <p:txBody>
              <a:bodyPr/>
              <a:lstStyle/>
              <a:p>
                <a:endParaRPr lang="en-US"/>
              </a:p>
            </p:txBody>
          </p:sp>
          <p:sp>
            <p:nvSpPr>
              <p:cNvPr id="5177" name="Text Box 75"/>
              <p:cNvSpPr txBox="1">
                <a:spLocks noChangeArrowheads="1"/>
              </p:cNvSpPr>
              <p:nvPr/>
            </p:nvSpPr>
            <p:spPr bwMode="auto">
              <a:xfrm>
                <a:off x="2592" y="3015"/>
                <a:ext cx="288" cy="288"/>
              </a:xfrm>
              <a:prstGeom prst="rect">
                <a:avLst/>
              </a:prstGeom>
              <a:solidFill>
                <a:srgbClr val="FFFFFF">
                  <a:alpha val="0"/>
                </a:srgbClr>
              </a:solidFill>
              <a:ln w="9525">
                <a:noFill/>
                <a:miter lim="800000"/>
                <a:headEnd/>
                <a:tailEnd/>
              </a:ln>
            </p:spPr>
            <p:txBody>
              <a:bodyPr/>
              <a:lstStyle/>
              <a:p>
                <a:r>
                  <a:rPr lang="en-US" sz="1200"/>
                  <a:t>……</a:t>
                </a:r>
                <a:endParaRPr lang="en-US"/>
              </a:p>
            </p:txBody>
          </p:sp>
          <p:sp>
            <p:nvSpPr>
              <p:cNvPr id="5178" name="Text Box 76"/>
              <p:cNvSpPr txBox="1">
                <a:spLocks noChangeArrowheads="1"/>
              </p:cNvSpPr>
              <p:nvPr/>
            </p:nvSpPr>
            <p:spPr bwMode="auto">
              <a:xfrm>
                <a:off x="2646" y="2472"/>
                <a:ext cx="192" cy="403"/>
              </a:xfrm>
              <a:prstGeom prst="rect">
                <a:avLst/>
              </a:prstGeom>
              <a:noFill/>
              <a:ln w="9525" algn="ctr">
                <a:noFill/>
                <a:miter lim="800000"/>
                <a:headEnd/>
                <a:tailEnd/>
              </a:ln>
            </p:spPr>
            <p:txBody>
              <a:bodyPr>
                <a:spAutoFit/>
              </a:bodyPr>
              <a:lstStyle/>
              <a:p>
                <a:pPr algn="ctr">
                  <a:spcBef>
                    <a:spcPct val="50000"/>
                  </a:spcBef>
                </a:pPr>
                <a:r>
                  <a:rPr lang="en-US" sz="1200"/>
                  <a:t>………</a:t>
                </a:r>
              </a:p>
            </p:txBody>
          </p:sp>
          <p:graphicFrame>
            <p:nvGraphicFramePr>
              <p:cNvPr id="5122" name="Object 2"/>
              <p:cNvGraphicFramePr>
                <a:graphicFrameLocks noChangeAspect="1"/>
              </p:cNvGraphicFramePr>
              <p:nvPr/>
            </p:nvGraphicFramePr>
            <p:xfrm>
              <a:off x="1764" y="2812"/>
              <a:ext cx="120" cy="136"/>
            </p:xfrm>
            <a:graphic>
              <a:graphicData uri="http://schemas.openxmlformats.org/presentationml/2006/ole">
                <mc:AlternateContent xmlns:mc="http://schemas.openxmlformats.org/markup-compatibility/2006">
                  <mc:Choice xmlns:v="urn:schemas-microsoft-com:vml" Requires="v">
                    <p:oleObj spid="_x0000_s9429" name="Equation" r:id="rId11" imgW="190335" imgH="215713" progId="Equation.3">
                      <p:embed/>
                    </p:oleObj>
                  </mc:Choice>
                  <mc:Fallback>
                    <p:oleObj name="Equation" r:id="rId11" imgW="190335" imgH="215713"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64" y="2812"/>
                            <a:ext cx="120"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3" name="Object 3"/>
              <p:cNvGraphicFramePr>
                <a:graphicFrameLocks noChangeAspect="1"/>
              </p:cNvGraphicFramePr>
              <p:nvPr/>
            </p:nvGraphicFramePr>
            <p:xfrm>
              <a:off x="2496" y="2208"/>
              <a:ext cx="272" cy="308"/>
            </p:xfrm>
            <a:graphic>
              <a:graphicData uri="http://schemas.openxmlformats.org/presentationml/2006/ole">
                <mc:AlternateContent xmlns:mc="http://schemas.openxmlformats.org/markup-compatibility/2006">
                  <mc:Choice xmlns:v="urn:schemas-microsoft-com:vml" Requires="v">
                    <p:oleObj spid="_x0000_s9430" name="Equation" r:id="rId13" imgW="190335" imgH="215713" progId="Equation.3">
                      <p:embed/>
                    </p:oleObj>
                  </mc:Choice>
                  <mc:Fallback>
                    <p:oleObj name="Equation" r:id="rId13" imgW="190335" imgH="215713"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96" y="2208"/>
                            <a:ext cx="27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4" name="Object 4"/>
              <p:cNvGraphicFramePr>
                <a:graphicFrameLocks noChangeAspect="1"/>
              </p:cNvGraphicFramePr>
              <p:nvPr/>
            </p:nvGraphicFramePr>
            <p:xfrm>
              <a:off x="2496" y="1809"/>
              <a:ext cx="254" cy="288"/>
            </p:xfrm>
            <a:graphic>
              <a:graphicData uri="http://schemas.openxmlformats.org/presentationml/2006/ole">
                <mc:AlternateContent xmlns:mc="http://schemas.openxmlformats.org/markup-compatibility/2006">
                  <mc:Choice xmlns:v="urn:schemas-microsoft-com:vml" Requires="v">
                    <p:oleObj spid="_x0000_s9431" name="Equation" r:id="rId15" imgW="190335" imgH="215713" progId="Equation.3">
                      <p:embed/>
                    </p:oleObj>
                  </mc:Choice>
                  <mc:Fallback>
                    <p:oleObj name="Equation" r:id="rId15" imgW="190335" imgH="215713"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96" y="1809"/>
                            <a:ext cx="25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5" name="Object 5"/>
              <p:cNvGraphicFramePr>
                <a:graphicFrameLocks noChangeAspect="1"/>
              </p:cNvGraphicFramePr>
              <p:nvPr/>
            </p:nvGraphicFramePr>
            <p:xfrm>
              <a:off x="2400" y="2688"/>
              <a:ext cx="432" cy="309"/>
            </p:xfrm>
            <a:graphic>
              <a:graphicData uri="http://schemas.openxmlformats.org/presentationml/2006/ole">
                <mc:AlternateContent xmlns:mc="http://schemas.openxmlformats.org/markup-compatibility/2006">
                  <mc:Choice xmlns:v="urn:schemas-microsoft-com:vml" Requires="v">
                    <p:oleObj spid="_x0000_s9432" name="Equation" r:id="rId17" imgW="330057" imgH="241195" progId="Equation.3">
                      <p:embed/>
                    </p:oleObj>
                  </mc:Choice>
                  <mc:Fallback>
                    <p:oleObj name="Equation" r:id="rId17" imgW="330057" imgH="241195"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400" y="2688"/>
                            <a:ext cx="432" cy="3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79" name="Text Box 81"/>
              <p:cNvSpPr txBox="1">
                <a:spLocks noChangeArrowheads="1"/>
              </p:cNvSpPr>
              <p:nvPr/>
            </p:nvSpPr>
            <p:spPr bwMode="auto">
              <a:xfrm>
                <a:off x="2688" y="3072"/>
                <a:ext cx="864" cy="231"/>
              </a:xfrm>
              <a:prstGeom prst="rect">
                <a:avLst/>
              </a:prstGeom>
              <a:noFill/>
              <a:ln w="9525" algn="ctr">
                <a:noFill/>
                <a:miter lim="800000"/>
                <a:headEnd/>
                <a:tailEnd/>
              </a:ln>
            </p:spPr>
            <p:txBody>
              <a:bodyPr>
                <a:spAutoFit/>
              </a:bodyPr>
              <a:lstStyle/>
              <a:p>
                <a:pPr algn="ctr">
                  <a:spcBef>
                    <a:spcPct val="50000"/>
                  </a:spcBef>
                </a:pPr>
                <a:r>
                  <a:rPr lang="en-US" sz="1800"/>
                  <a:t>Useless</a:t>
                </a:r>
              </a:p>
            </p:txBody>
          </p:sp>
          <p:sp>
            <p:nvSpPr>
              <p:cNvPr id="5180" name="Text Box 82"/>
              <p:cNvSpPr txBox="1">
                <a:spLocks noChangeArrowheads="1"/>
              </p:cNvSpPr>
              <p:nvPr/>
            </p:nvSpPr>
            <p:spPr bwMode="auto">
              <a:xfrm>
                <a:off x="2877" y="2016"/>
                <a:ext cx="360" cy="1008"/>
              </a:xfrm>
              <a:prstGeom prst="rect">
                <a:avLst/>
              </a:prstGeom>
              <a:solidFill>
                <a:srgbClr val="CCCC00"/>
              </a:solidFill>
              <a:ln w="9525">
                <a:solidFill>
                  <a:srgbClr val="000000"/>
                </a:solidFill>
                <a:miter lim="800000"/>
                <a:headEnd/>
                <a:tailEnd/>
              </a:ln>
            </p:spPr>
            <p:txBody>
              <a:bodyPr/>
              <a:lstStyle/>
              <a:p>
                <a:endParaRPr lang="en-US" sz="1200"/>
              </a:p>
              <a:p>
                <a:endParaRPr lang="en-US" sz="1200"/>
              </a:p>
              <a:p>
                <a:endParaRPr lang="en-US" sz="1200"/>
              </a:p>
              <a:p>
                <a:endParaRPr lang="en-US" sz="1200"/>
              </a:p>
              <a:p>
                <a:r>
                  <a:rPr lang="en-US" sz="1200"/>
                  <a:t> P/S</a:t>
                </a:r>
              </a:p>
            </p:txBody>
          </p:sp>
          <p:sp>
            <p:nvSpPr>
              <p:cNvPr id="5181" name="Line 83"/>
              <p:cNvSpPr>
                <a:spLocks noChangeShapeType="1"/>
              </p:cNvSpPr>
              <p:nvPr/>
            </p:nvSpPr>
            <p:spPr bwMode="auto">
              <a:xfrm>
                <a:off x="3264" y="2448"/>
                <a:ext cx="864" cy="0"/>
              </a:xfrm>
              <a:prstGeom prst="line">
                <a:avLst/>
              </a:prstGeom>
              <a:noFill/>
              <a:ln w="9525">
                <a:solidFill>
                  <a:srgbClr val="000000"/>
                </a:solidFill>
                <a:round/>
                <a:headEnd/>
                <a:tailEnd type="triangle" w="med" len="med"/>
              </a:ln>
            </p:spPr>
            <p:txBody>
              <a:bodyPr/>
              <a:lstStyle/>
              <a:p>
                <a:endParaRPr lang="en-US"/>
              </a:p>
            </p:txBody>
          </p:sp>
          <p:graphicFrame>
            <p:nvGraphicFramePr>
              <p:cNvPr id="5126" name="Object 6"/>
              <p:cNvGraphicFramePr>
                <a:graphicFrameLocks noChangeAspect="1"/>
              </p:cNvGraphicFramePr>
              <p:nvPr/>
            </p:nvGraphicFramePr>
            <p:xfrm>
              <a:off x="3456" y="2112"/>
              <a:ext cx="1056" cy="284"/>
            </p:xfrm>
            <a:graphic>
              <a:graphicData uri="http://schemas.openxmlformats.org/presentationml/2006/ole">
                <mc:AlternateContent xmlns:mc="http://schemas.openxmlformats.org/markup-compatibility/2006">
                  <mc:Choice xmlns:v="urn:schemas-microsoft-com:vml" Requires="v">
                    <p:oleObj spid="_x0000_s9433" name="Equation" r:id="rId19" imgW="888614" imgH="241195" progId="Equation.3">
                      <p:embed/>
                    </p:oleObj>
                  </mc:Choice>
                  <mc:Fallback>
                    <p:oleObj name="Equation" r:id="rId19" imgW="888614" imgH="241195"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56" y="2112"/>
                            <a:ext cx="1056" cy="2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82" name="Line 85"/>
              <p:cNvSpPr>
                <a:spLocks noChangeShapeType="1"/>
              </p:cNvSpPr>
              <p:nvPr/>
            </p:nvSpPr>
            <p:spPr bwMode="auto">
              <a:xfrm>
                <a:off x="144" y="2640"/>
                <a:ext cx="240" cy="0"/>
              </a:xfrm>
              <a:prstGeom prst="line">
                <a:avLst/>
              </a:prstGeom>
              <a:noFill/>
              <a:ln w="9525">
                <a:solidFill>
                  <a:schemeClr val="tx1"/>
                </a:solidFill>
                <a:round/>
                <a:headEnd/>
                <a:tailEnd type="triangle" w="med" len="med"/>
              </a:ln>
            </p:spPr>
            <p:txBody>
              <a:bodyPr wrap="none" anchor="ctr">
                <a:spAutoFit/>
              </a:bodyPr>
              <a:lstStyle/>
              <a:p>
                <a:endParaRPr lang="en-US"/>
              </a:p>
            </p:txBody>
          </p:sp>
        </p:grpSp>
        <p:sp>
          <p:nvSpPr>
            <p:cNvPr id="5155" name="Freeform 86"/>
            <p:cNvSpPr>
              <a:spLocks/>
            </p:cNvSpPr>
            <p:nvPr/>
          </p:nvSpPr>
          <p:spPr bwMode="auto">
            <a:xfrm>
              <a:off x="0" y="768"/>
              <a:ext cx="5744" cy="2064"/>
            </a:xfrm>
            <a:custGeom>
              <a:avLst/>
              <a:gdLst>
                <a:gd name="T0" fmla="*/ 5328 w 5744"/>
                <a:gd name="T1" fmla="*/ 0 h 2064"/>
                <a:gd name="T2" fmla="*/ 5136 w 5744"/>
                <a:gd name="T3" fmla="*/ 480 h 2064"/>
                <a:gd name="T4" fmla="*/ 1680 w 5744"/>
                <a:gd name="T5" fmla="*/ 1152 h 2064"/>
                <a:gd name="T6" fmla="*/ 192 w 5744"/>
                <a:gd name="T7" fmla="*/ 1248 h 2064"/>
                <a:gd name="T8" fmla="*/ 528 w 5744"/>
                <a:gd name="T9" fmla="*/ 2064 h 2064"/>
                <a:gd name="T10" fmla="*/ 0 60000 65536"/>
                <a:gd name="T11" fmla="*/ 0 60000 65536"/>
                <a:gd name="T12" fmla="*/ 0 60000 65536"/>
                <a:gd name="T13" fmla="*/ 0 60000 65536"/>
                <a:gd name="T14" fmla="*/ 0 60000 65536"/>
                <a:gd name="T15" fmla="*/ 0 w 5744"/>
                <a:gd name="T16" fmla="*/ 0 h 2064"/>
                <a:gd name="T17" fmla="*/ 5744 w 5744"/>
                <a:gd name="T18" fmla="*/ 2064 h 2064"/>
              </a:gdLst>
              <a:ahLst/>
              <a:cxnLst>
                <a:cxn ang="T10">
                  <a:pos x="T0" y="T1"/>
                </a:cxn>
                <a:cxn ang="T11">
                  <a:pos x="T2" y="T3"/>
                </a:cxn>
                <a:cxn ang="T12">
                  <a:pos x="T4" y="T5"/>
                </a:cxn>
                <a:cxn ang="T13">
                  <a:pos x="T6" y="T7"/>
                </a:cxn>
                <a:cxn ang="T14">
                  <a:pos x="T8" y="T9"/>
                </a:cxn>
              </a:cxnLst>
              <a:rect l="T15" t="T16" r="T17" b="T18"/>
              <a:pathLst>
                <a:path w="5744" h="2064">
                  <a:moveTo>
                    <a:pt x="5328" y="0"/>
                  </a:moveTo>
                  <a:cubicBezTo>
                    <a:pt x="5536" y="144"/>
                    <a:pt x="5744" y="288"/>
                    <a:pt x="5136" y="480"/>
                  </a:cubicBezTo>
                  <a:cubicBezTo>
                    <a:pt x="4528" y="672"/>
                    <a:pt x="2504" y="1024"/>
                    <a:pt x="1680" y="1152"/>
                  </a:cubicBezTo>
                  <a:cubicBezTo>
                    <a:pt x="856" y="1280"/>
                    <a:pt x="384" y="1096"/>
                    <a:pt x="192" y="1248"/>
                  </a:cubicBezTo>
                  <a:cubicBezTo>
                    <a:pt x="0" y="1400"/>
                    <a:pt x="264" y="1732"/>
                    <a:pt x="528" y="2064"/>
                  </a:cubicBezTo>
                </a:path>
              </a:pathLst>
            </a:custGeom>
            <a:noFill/>
            <a:ln w="9525">
              <a:solidFill>
                <a:schemeClr val="tx1"/>
              </a:solidFill>
              <a:round/>
              <a:headEnd/>
              <a:tailEnd/>
            </a:ln>
          </p:spPr>
          <p:txBody>
            <a:bodyPr wrap="none" anchor="ctr">
              <a:spAutoFit/>
            </a:bodyPr>
            <a:lstStyle/>
            <a:p>
              <a:endParaRPr lang="en-US"/>
            </a:p>
          </p:txBody>
        </p:sp>
      </p:grpSp>
      <p:grpSp>
        <p:nvGrpSpPr>
          <p:cNvPr id="5149" name="Group 87"/>
          <p:cNvGrpSpPr>
            <a:grpSpLocks/>
          </p:cNvGrpSpPr>
          <p:nvPr/>
        </p:nvGrpSpPr>
        <p:grpSpPr bwMode="auto">
          <a:xfrm>
            <a:off x="914400" y="752475"/>
            <a:ext cx="7467600" cy="5653088"/>
            <a:chOff x="576" y="474"/>
            <a:chExt cx="4704" cy="3561"/>
          </a:xfrm>
        </p:grpSpPr>
        <p:sp>
          <p:nvSpPr>
            <p:cNvPr id="5150" name="Text Box 88"/>
            <p:cNvSpPr txBox="1">
              <a:spLocks noChangeArrowheads="1"/>
            </p:cNvSpPr>
            <p:nvPr/>
          </p:nvSpPr>
          <p:spPr bwMode="auto">
            <a:xfrm>
              <a:off x="576" y="3744"/>
              <a:ext cx="4704" cy="291"/>
            </a:xfrm>
            <a:prstGeom prst="rect">
              <a:avLst/>
            </a:prstGeom>
            <a:noFill/>
            <a:ln w="9525">
              <a:noFill/>
              <a:miter lim="800000"/>
              <a:headEnd/>
              <a:tailEnd/>
            </a:ln>
          </p:spPr>
          <p:txBody>
            <a:bodyPr>
              <a:spAutoFit/>
            </a:bodyPr>
            <a:lstStyle/>
            <a:p>
              <a:pPr>
                <a:spcBef>
                  <a:spcPct val="50000"/>
                </a:spcBef>
              </a:pPr>
              <a:r>
                <a:rPr lang="en-US"/>
                <a:t>Fig.4 Transmitter and receiver by using FFT processing</a:t>
              </a:r>
            </a:p>
          </p:txBody>
        </p:sp>
        <p:sp>
          <p:nvSpPr>
            <p:cNvPr id="5151" name="Text Box 89"/>
            <p:cNvSpPr txBox="1">
              <a:spLocks noChangeArrowheads="1"/>
            </p:cNvSpPr>
            <p:nvPr/>
          </p:nvSpPr>
          <p:spPr bwMode="auto">
            <a:xfrm>
              <a:off x="3456" y="1536"/>
              <a:ext cx="432" cy="288"/>
            </a:xfrm>
            <a:prstGeom prst="rect">
              <a:avLst/>
            </a:prstGeom>
            <a:noFill/>
            <a:ln w="9525" algn="ctr">
              <a:noFill/>
              <a:miter lim="800000"/>
              <a:headEnd/>
              <a:tailEnd/>
            </a:ln>
          </p:spPr>
          <p:txBody>
            <a:bodyPr>
              <a:spAutoFit/>
            </a:bodyPr>
            <a:lstStyle/>
            <a:p>
              <a:pPr algn="ctr">
                <a:spcBef>
                  <a:spcPct val="50000"/>
                </a:spcBef>
              </a:pPr>
              <a:r>
                <a:rPr lang="en-US"/>
                <a:t>r(t)</a:t>
              </a:r>
            </a:p>
          </p:txBody>
        </p:sp>
        <p:sp>
          <p:nvSpPr>
            <p:cNvPr id="5152" name="Text Box 90"/>
            <p:cNvSpPr txBox="1">
              <a:spLocks noChangeArrowheads="1"/>
            </p:cNvSpPr>
            <p:nvPr/>
          </p:nvSpPr>
          <p:spPr bwMode="auto">
            <a:xfrm>
              <a:off x="3792" y="474"/>
              <a:ext cx="432" cy="288"/>
            </a:xfrm>
            <a:prstGeom prst="rect">
              <a:avLst/>
            </a:prstGeom>
            <a:noFill/>
            <a:ln w="9525" algn="ctr">
              <a:noFill/>
              <a:miter lim="800000"/>
              <a:headEnd/>
              <a:tailEnd/>
            </a:ln>
          </p:spPr>
          <p:txBody>
            <a:bodyPr>
              <a:spAutoFit/>
            </a:bodyPr>
            <a:lstStyle/>
            <a:p>
              <a:pPr algn="ctr">
                <a:spcBef>
                  <a:spcPct val="50000"/>
                </a:spcBef>
              </a:pPr>
              <a:r>
                <a:rPr lang="en-US"/>
                <a:t>x(t)</a:t>
              </a:r>
            </a:p>
          </p:txBody>
        </p:sp>
      </p:grpSp>
    </p:spTree>
    <p:extLst>
      <p:ext uri="{BB962C8B-B14F-4D97-AF65-F5344CB8AC3E}">
        <p14:creationId xmlns:p14="http://schemas.microsoft.com/office/powerpoint/2010/main" val="186334637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5"/>
          <p:cNvSpPr>
            <a:spLocks noGrp="1"/>
          </p:cNvSpPr>
          <p:nvPr>
            <p:ph type="sldNum" sz="quarter" idx="12"/>
          </p:nvPr>
        </p:nvSpPr>
        <p:spPr>
          <a:noFill/>
        </p:spPr>
        <p:txBody>
          <a:bodyPr/>
          <a:lstStyle/>
          <a:p>
            <a:fld id="{E5FE2C26-F128-4BF2-AF3B-67CAA4B254D2}" type="slidenum">
              <a:rPr lang="en-US" smtClean="0"/>
              <a:pPr/>
              <a:t>70</a:t>
            </a:fld>
            <a:endParaRPr lang="en-US"/>
          </a:p>
        </p:txBody>
      </p:sp>
      <p:sp>
        <p:nvSpPr>
          <p:cNvPr id="53251" name="Text Box 2"/>
          <p:cNvSpPr txBox="1">
            <a:spLocks noChangeArrowheads="1"/>
          </p:cNvSpPr>
          <p:nvPr/>
        </p:nvSpPr>
        <p:spPr bwMode="auto">
          <a:xfrm>
            <a:off x="304800" y="2971800"/>
            <a:ext cx="8153400" cy="1187450"/>
          </a:xfrm>
          <a:prstGeom prst="rect">
            <a:avLst/>
          </a:prstGeom>
          <a:noFill/>
          <a:ln w="9525">
            <a:noFill/>
            <a:miter lim="800000"/>
            <a:headEnd/>
            <a:tailEnd/>
          </a:ln>
        </p:spPr>
        <p:txBody>
          <a:bodyPr>
            <a:spAutoFit/>
          </a:bodyPr>
          <a:lstStyle/>
          <a:p>
            <a:pPr algn="just">
              <a:spcBef>
                <a:spcPct val="50000"/>
              </a:spcBef>
            </a:pPr>
            <a:r>
              <a:rPr lang="en-US"/>
              <a:t>The Data Link layer of IEEE 802.11 has two parts: LLC and MAC sublayer. This layer provides several key functionalities: reliable data delivery, media access control and security features. </a:t>
            </a:r>
          </a:p>
        </p:txBody>
      </p:sp>
      <p:sp>
        <p:nvSpPr>
          <p:cNvPr id="53252" name="Text Box 3"/>
          <p:cNvSpPr txBox="1">
            <a:spLocks noChangeArrowheads="1"/>
          </p:cNvSpPr>
          <p:nvPr/>
        </p:nvSpPr>
        <p:spPr bwMode="auto">
          <a:xfrm>
            <a:off x="228600" y="381000"/>
            <a:ext cx="8077200" cy="769938"/>
          </a:xfrm>
          <a:prstGeom prst="rect">
            <a:avLst/>
          </a:prstGeom>
          <a:solidFill>
            <a:srgbClr val="66CCFF"/>
          </a:solidFill>
          <a:ln w="9525">
            <a:noFill/>
            <a:miter lim="800000"/>
            <a:headEnd/>
            <a:tailEnd/>
          </a:ln>
        </p:spPr>
        <p:txBody>
          <a:bodyPr>
            <a:spAutoFit/>
          </a:bodyPr>
          <a:lstStyle/>
          <a:p>
            <a:pPr>
              <a:spcBef>
                <a:spcPct val="50000"/>
              </a:spcBef>
            </a:pPr>
            <a:r>
              <a:rPr lang="en-US" sz="4400" b="1"/>
              <a:t>Data Link Layer of IEEE 802.11</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5"/>
          <p:cNvSpPr>
            <a:spLocks noGrp="1"/>
          </p:cNvSpPr>
          <p:nvPr>
            <p:ph type="sldNum" sz="quarter" idx="12"/>
          </p:nvPr>
        </p:nvSpPr>
        <p:spPr>
          <a:noFill/>
        </p:spPr>
        <p:txBody>
          <a:bodyPr/>
          <a:lstStyle/>
          <a:p>
            <a:fld id="{67D2FA82-AE95-4834-BA1E-820B612ECA8A}" type="slidenum">
              <a:rPr lang="en-US" smtClean="0"/>
              <a:pPr/>
              <a:t>71</a:t>
            </a:fld>
            <a:endParaRPr lang="en-US"/>
          </a:p>
        </p:txBody>
      </p:sp>
      <p:sp>
        <p:nvSpPr>
          <p:cNvPr id="45059" name="Text Box 4"/>
          <p:cNvSpPr txBox="1">
            <a:spLocks noChangeArrowheads="1"/>
          </p:cNvSpPr>
          <p:nvPr/>
        </p:nvSpPr>
        <p:spPr bwMode="auto">
          <a:xfrm>
            <a:off x="0" y="2895600"/>
            <a:ext cx="8915400" cy="2678113"/>
          </a:xfrm>
          <a:prstGeom prst="rect">
            <a:avLst/>
          </a:prstGeom>
          <a:solidFill>
            <a:srgbClr val="FFFF66"/>
          </a:solidFill>
          <a:ln w="9525">
            <a:noFill/>
            <a:miter lim="800000"/>
            <a:headEnd/>
            <a:tailEnd/>
          </a:ln>
        </p:spPr>
        <p:txBody>
          <a:bodyPr>
            <a:spAutoFit/>
          </a:bodyPr>
          <a:lstStyle/>
          <a:p>
            <a:pPr algn="just">
              <a:buFont typeface="Wingdings" pitchFamily="2" charset="2"/>
              <a:buChar char="Ø"/>
            </a:pPr>
            <a:r>
              <a:rPr lang="en-US"/>
              <a:t>The frame control (FC) field provides information on the type of frame has 11 subfields. </a:t>
            </a:r>
          </a:p>
          <a:p>
            <a:pPr algn="just">
              <a:buFont typeface="Wingdings" pitchFamily="2" charset="2"/>
              <a:buChar char="Ø"/>
            </a:pPr>
            <a:r>
              <a:rPr lang="en-US"/>
              <a:t>The first of these is the Protocol </a:t>
            </a:r>
            <a:r>
              <a:rPr lang="en-US" b="1"/>
              <a:t>version</a:t>
            </a:r>
            <a:r>
              <a:rPr lang="en-US"/>
              <a:t>, two bits representing the protocol version. Currently used protocol version is zero. Other values are reserved for future use. </a:t>
            </a:r>
          </a:p>
          <a:p>
            <a:pPr algn="just">
              <a:buFont typeface="Wingdings" pitchFamily="2" charset="2"/>
              <a:buChar char="Ø"/>
            </a:pPr>
            <a:r>
              <a:rPr lang="en-US"/>
              <a:t>Then come the </a:t>
            </a:r>
            <a:r>
              <a:rPr lang="en-US" b="1"/>
              <a:t>Type</a:t>
            </a:r>
            <a:r>
              <a:rPr lang="en-US"/>
              <a:t> of 2 bits (data, control, or management); where ‘</a:t>
            </a:r>
            <a:r>
              <a:rPr lang="en-US">
                <a:solidFill>
                  <a:srgbClr val="FF0000"/>
                </a:solidFill>
              </a:rPr>
              <a:t>Type of information: management (00), control (01), or data (10)</a:t>
            </a:r>
            <a:r>
              <a:rPr lang="en-US"/>
              <a:t>’. </a:t>
            </a:r>
          </a:p>
        </p:txBody>
      </p:sp>
      <p:sp>
        <p:nvSpPr>
          <p:cNvPr id="54276" name="Text Box 14"/>
          <p:cNvSpPr txBox="1">
            <a:spLocks noChangeArrowheads="1"/>
          </p:cNvSpPr>
          <p:nvPr/>
        </p:nvSpPr>
        <p:spPr bwMode="auto">
          <a:xfrm>
            <a:off x="1295400" y="0"/>
            <a:ext cx="6629400" cy="579438"/>
          </a:xfrm>
          <a:prstGeom prst="rect">
            <a:avLst/>
          </a:prstGeom>
          <a:solidFill>
            <a:schemeClr val="accent1"/>
          </a:solidFill>
          <a:ln w="9525">
            <a:noFill/>
            <a:miter lim="800000"/>
            <a:headEnd/>
            <a:tailEnd/>
          </a:ln>
        </p:spPr>
        <p:txBody>
          <a:bodyPr>
            <a:spAutoFit/>
          </a:bodyPr>
          <a:lstStyle/>
          <a:p>
            <a:pPr>
              <a:spcBef>
                <a:spcPct val="50000"/>
              </a:spcBef>
            </a:pPr>
            <a:r>
              <a:rPr lang="en-US" sz="3200"/>
              <a:t>The frame format of IEEE 802.11</a:t>
            </a:r>
          </a:p>
        </p:txBody>
      </p:sp>
      <p:sp>
        <p:nvSpPr>
          <p:cNvPr id="54277" name="AutoShape 18" descr="graphics/04fig30.gif"/>
          <p:cNvSpPr>
            <a:spLocks noChangeAspect="1" noChangeArrowheads="1"/>
          </p:cNvSpPr>
          <p:nvPr/>
        </p:nvSpPr>
        <p:spPr bwMode="auto">
          <a:xfrm>
            <a:off x="168275" y="-647700"/>
            <a:ext cx="4629150" cy="1352550"/>
          </a:xfrm>
          <a:prstGeom prst="rect">
            <a:avLst/>
          </a:prstGeom>
          <a:noFill/>
          <a:ln w="9525">
            <a:noFill/>
            <a:miter lim="800000"/>
            <a:headEnd/>
            <a:tailEnd/>
          </a:ln>
        </p:spPr>
        <p:txBody>
          <a:bodyPr/>
          <a:lstStyle/>
          <a:p>
            <a:endParaRPr lang="en-US"/>
          </a:p>
        </p:txBody>
      </p:sp>
      <p:sp>
        <p:nvSpPr>
          <p:cNvPr id="54278" name="AutoShape 20" descr="graphics/04fig30.gif"/>
          <p:cNvSpPr>
            <a:spLocks noChangeAspect="1" noChangeArrowheads="1"/>
          </p:cNvSpPr>
          <p:nvPr/>
        </p:nvSpPr>
        <p:spPr bwMode="auto">
          <a:xfrm>
            <a:off x="168275" y="-647700"/>
            <a:ext cx="4629150" cy="1352550"/>
          </a:xfrm>
          <a:prstGeom prst="rect">
            <a:avLst/>
          </a:prstGeom>
          <a:noFill/>
          <a:ln w="9525">
            <a:noFill/>
            <a:miter lim="800000"/>
            <a:headEnd/>
            <a:tailEnd/>
          </a:ln>
        </p:spPr>
        <p:txBody>
          <a:bodyPr/>
          <a:lstStyle/>
          <a:p>
            <a:endParaRPr lang="en-US"/>
          </a:p>
        </p:txBody>
      </p:sp>
      <p:pic>
        <p:nvPicPr>
          <p:cNvPr id="54279" name="Picture 23"/>
          <p:cNvPicPr>
            <a:picLocks noChangeAspect="1" noChangeArrowheads="1"/>
          </p:cNvPicPr>
          <p:nvPr/>
        </p:nvPicPr>
        <p:blipFill>
          <a:blip r:embed="rId2"/>
          <a:srcRect/>
          <a:stretch>
            <a:fillRect/>
          </a:stretch>
        </p:blipFill>
        <p:spPr bwMode="auto">
          <a:xfrm>
            <a:off x="1143000" y="533400"/>
            <a:ext cx="6950075" cy="203993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 calcmode="lin" valueType="num">
                                      <p:cBhvr additive="base">
                                        <p:cTn id="7" dur="500" fill="hold"/>
                                        <p:tgtEl>
                                          <p:spTgt spid="450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0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5059">
                                            <p:txEl>
                                              <p:pRg st="1" end="1"/>
                                            </p:txEl>
                                          </p:spTgt>
                                        </p:tgtEl>
                                        <p:attrNameLst>
                                          <p:attrName>style.visibility</p:attrName>
                                        </p:attrNameLst>
                                      </p:cBhvr>
                                      <p:to>
                                        <p:strVal val="visible"/>
                                      </p:to>
                                    </p:set>
                                    <p:anim calcmode="lin" valueType="num">
                                      <p:cBhvr additive="base">
                                        <p:cTn id="13" dur="500" fill="hold"/>
                                        <p:tgtEl>
                                          <p:spTgt spid="450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50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5059">
                                            <p:txEl>
                                              <p:pRg st="2" end="2"/>
                                            </p:txEl>
                                          </p:spTgt>
                                        </p:tgtEl>
                                        <p:attrNameLst>
                                          <p:attrName>style.visibility</p:attrName>
                                        </p:attrNameLst>
                                      </p:cBhvr>
                                      <p:to>
                                        <p:strVal val="visible"/>
                                      </p:to>
                                    </p:set>
                                    <p:anim calcmode="lin" valueType="num">
                                      <p:cBhvr additive="base">
                                        <p:cTn id="19" dur="500" fill="hold"/>
                                        <p:tgtEl>
                                          <p:spTgt spid="450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505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3"/>
          <p:cNvSpPr>
            <a:spLocks noGrp="1"/>
          </p:cNvSpPr>
          <p:nvPr>
            <p:ph type="sldNum" sz="quarter" idx="12"/>
          </p:nvPr>
        </p:nvSpPr>
        <p:spPr>
          <a:noFill/>
        </p:spPr>
        <p:txBody>
          <a:bodyPr/>
          <a:lstStyle/>
          <a:p>
            <a:fld id="{A6D5DAB7-B5D4-4F5F-89A4-276CB018F8C6}" type="slidenum">
              <a:rPr lang="en-US" smtClean="0"/>
              <a:pPr/>
              <a:t>72</a:t>
            </a:fld>
            <a:endParaRPr lang="en-US"/>
          </a:p>
        </p:txBody>
      </p:sp>
      <p:pic>
        <p:nvPicPr>
          <p:cNvPr id="55299" name="Picture 2"/>
          <p:cNvPicPr>
            <a:picLocks noChangeAspect="1" noChangeArrowheads="1"/>
          </p:cNvPicPr>
          <p:nvPr/>
        </p:nvPicPr>
        <p:blipFill>
          <a:blip r:embed="rId2"/>
          <a:srcRect/>
          <a:stretch>
            <a:fillRect/>
          </a:stretch>
        </p:blipFill>
        <p:spPr bwMode="auto">
          <a:xfrm>
            <a:off x="533400" y="3352800"/>
            <a:ext cx="7923213" cy="2133600"/>
          </a:xfrm>
          <a:prstGeom prst="rect">
            <a:avLst/>
          </a:prstGeom>
          <a:noFill/>
          <a:ln w="9525">
            <a:noFill/>
            <a:miter lim="800000"/>
            <a:headEnd/>
            <a:tailEnd/>
          </a:ln>
        </p:spPr>
      </p:pic>
      <p:sp>
        <p:nvSpPr>
          <p:cNvPr id="55300" name="TextBox 5"/>
          <p:cNvSpPr txBox="1">
            <a:spLocks noChangeArrowheads="1"/>
          </p:cNvSpPr>
          <p:nvPr/>
        </p:nvSpPr>
        <p:spPr bwMode="auto">
          <a:xfrm>
            <a:off x="304800" y="685800"/>
            <a:ext cx="8534400" cy="1570038"/>
          </a:xfrm>
          <a:prstGeom prst="rect">
            <a:avLst/>
          </a:prstGeom>
          <a:solidFill>
            <a:srgbClr val="FFFF66"/>
          </a:solidFill>
          <a:ln w="9525">
            <a:noFill/>
            <a:miter lim="800000"/>
            <a:headEnd/>
            <a:tailEnd/>
          </a:ln>
        </p:spPr>
        <p:txBody>
          <a:bodyPr>
            <a:spAutoFit/>
          </a:bodyPr>
          <a:lstStyle/>
          <a:p>
            <a:pPr algn="just">
              <a:buFont typeface="Wingdings" pitchFamily="2" charset="2"/>
              <a:buChar char="Ø"/>
            </a:pPr>
            <a:r>
              <a:rPr lang="en-US"/>
              <a:t>A node wishing to send data initiates the process by sending a Request to Send frame (RTS). The destination node replies with a Clear To Send frame (CTS). </a:t>
            </a:r>
            <a:r>
              <a:rPr lang="en-US" b="1"/>
              <a:t>Subtype</a:t>
            </a:r>
            <a:r>
              <a:rPr lang="en-US"/>
              <a:t> fields indicates like  the following category. </a:t>
            </a:r>
          </a:p>
        </p:txBody>
      </p:sp>
      <p:sp>
        <p:nvSpPr>
          <p:cNvPr id="55301" name="Rectangle 6"/>
          <p:cNvSpPr>
            <a:spLocks noChangeArrowheads="1"/>
          </p:cNvSpPr>
          <p:nvPr/>
        </p:nvSpPr>
        <p:spPr bwMode="auto">
          <a:xfrm>
            <a:off x="1828800" y="2971800"/>
            <a:ext cx="5181600" cy="461963"/>
          </a:xfrm>
          <a:prstGeom prst="rect">
            <a:avLst/>
          </a:prstGeom>
          <a:solidFill>
            <a:srgbClr val="FFFF00"/>
          </a:solidFill>
          <a:ln w="9525">
            <a:noFill/>
            <a:miter lim="800000"/>
            <a:headEnd/>
            <a:tailEnd/>
          </a:ln>
        </p:spPr>
        <p:txBody>
          <a:bodyPr>
            <a:spAutoFit/>
          </a:bodyPr>
          <a:lstStyle/>
          <a:p>
            <a:r>
              <a:rPr lang="en-US" i="1"/>
              <a:t>Values of subfields in control frames</a:t>
            </a:r>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3"/>
          <p:cNvSpPr>
            <a:spLocks noGrp="1"/>
          </p:cNvSpPr>
          <p:nvPr>
            <p:ph type="sldNum" sz="quarter" idx="12"/>
          </p:nvPr>
        </p:nvSpPr>
        <p:spPr>
          <a:noFill/>
        </p:spPr>
        <p:txBody>
          <a:bodyPr/>
          <a:lstStyle/>
          <a:p>
            <a:fld id="{85CAB783-CC69-4BA2-B50C-5F46F55FC977}" type="slidenum">
              <a:rPr lang="en-US" smtClean="0"/>
              <a:pPr/>
              <a:t>73</a:t>
            </a:fld>
            <a:endParaRPr lang="en-US"/>
          </a:p>
        </p:txBody>
      </p:sp>
      <p:sp>
        <p:nvSpPr>
          <p:cNvPr id="56323" name="TextBox 4"/>
          <p:cNvSpPr txBox="1">
            <a:spLocks noChangeArrowheads="1"/>
          </p:cNvSpPr>
          <p:nvPr/>
        </p:nvSpPr>
        <p:spPr bwMode="auto">
          <a:xfrm>
            <a:off x="304800" y="2057400"/>
            <a:ext cx="8610600" cy="1631950"/>
          </a:xfrm>
          <a:prstGeom prst="rect">
            <a:avLst/>
          </a:prstGeom>
          <a:solidFill>
            <a:srgbClr val="CCFFFF"/>
          </a:solidFill>
          <a:ln w="9525">
            <a:noFill/>
            <a:miter lim="800000"/>
            <a:headEnd/>
            <a:tailEnd/>
          </a:ln>
        </p:spPr>
        <p:txBody>
          <a:bodyPr>
            <a:spAutoFit/>
          </a:bodyPr>
          <a:lstStyle/>
          <a:p>
            <a:pPr algn="just">
              <a:buFont typeface="Wingdings" pitchFamily="2" charset="2"/>
              <a:buChar char="Ø"/>
            </a:pPr>
            <a:r>
              <a:rPr lang="en-US" sz="2000"/>
              <a:t>The IEEE 802.11 addressing mechanism specifies four cases, defined by the value of the two flags in the FC field, </a:t>
            </a:r>
            <a:r>
              <a:rPr lang="en-US" sz="2000" b="1" i="1">
                <a:solidFill>
                  <a:srgbClr val="FF0000"/>
                </a:solidFill>
              </a:rPr>
              <a:t>To DS </a:t>
            </a:r>
            <a:r>
              <a:rPr lang="en-US" sz="2000"/>
              <a:t>and</a:t>
            </a:r>
            <a:r>
              <a:rPr lang="en-US" sz="2000" b="1" i="1">
                <a:solidFill>
                  <a:srgbClr val="FF0000"/>
                </a:solidFill>
              </a:rPr>
              <a:t> From DS</a:t>
            </a:r>
            <a:r>
              <a:rPr lang="en-US" sz="2000" i="1"/>
              <a:t>. </a:t>
            </a:r>
            <a:r>
              <a:rPr lang="en-US" sz="2000"/>
              <a:t>Each flag can be either 0 or 1, resulting in</a:t>
            </a:r>
            <a:r>
              <a:rPr lang="en-US" sz="2000" i="1"/>
              <a:t> </a:t>
            </a:r>
            <a:r>
              <a:rPr lang="en-US" sz="2000"/>
              <a:t>four different situations. The interpretation of the four addresses (address 1 to address 4) in the MAC frame depends on the value of these flags, as shown in Table below.</a:t>
            </a:r>
          </a:p>
        </p:txBody>
      </p:sp>
      <p:pic>
        <p:nvPicPr>
          <p:cNvPr id="56324" name="Picture 23"/>
          <p:cNvPicPr>
            <a:picLocks noChangeAspect="1" noChangeArrowheads="1"/>
          </p:cNvPicPr>
          <p:nvPr/>
        </p:nvPicPr>
        <p:blipFill>
          <a:blip r:embed="rId2"/>
          <a:srcRect/>
          <a:stretch>
            <a:fillRect/>
          </a:stretch>
        </p:blipFill>
        <p:spPr bwMode="auto">
          <a:xfrm>
            <a:off x="762000" y="0"/>
            <a:ext cx="7620000" cy="2039938"/>
          </a:xfrm>
          <a:prstGeom prst="rect">
            <a:avLst/>
          </a:prstGeom>
          <a:noFill/>
          <a:ln w="9525">
            <a:noFill/>
            <a:miter lim="800000"/>
            <a:headEnd/>
            <a:tailEnd/>
          </a:ln>
        </p:spPr>
      </p:pic>
      <p:pic>
        <p:nvPicPr>
          <p:cNvPr id="56325" name="Picture 5"/>
          <p:cNvPicPr>
            <a:picLocks noChangeAspect="1" noChangeArrowheads="1"/>
          </p:cNvPicPr>
          <p:nvPr/>
        </p:nvPicPr>
        <p:blipFill>
          <a:blip r:embed="rId3"/>
          <a:srcRect/>
          <a:stretch>
            <a:fillRect/>
          </a:stretch>
        </p:blipFill>
        <p:spPr bwMode="auto">
          <a:xfrm>
            <a:off x="457200" y="3886200"/>
            <a:ext cx="7981950" cy="2043113"/>
          </a:xfrm>
          <a:prstGeom prst="rect">
            <a:avLst/>
          </a:prstGeom>
          <a:noFill/>
          <a:ln w="9525">
            <a:noFill/>
            <a:miter lim="800000"/>
            <a:headEnd/>
            <a:tailEnd/>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3"/>
          <p:cNvSpPr>
            <a:spLocks noGrp="1"/>
          </p:cNvSpPr>
          <p:nvPr>
            <p:ph type="sldNum" sz="quarter" idx="12"/>
          </p:nvPr>
        </p:nvSpPr>
        <p:spPr>
          <a:noFill/>
        </p:spPr>
        <p:txBody>
          <a:bodyPr/>
          <a:lstStyle/>
          <a:p>
            <a:fld id="{E129E275-3FAA-4967-9E2A-9B7D4D35C2EE}" type="slidenum">
              <a:rPr lang="en-US" smtClean="0"/>
              <a:pPr/>
              <a:t>74</a:t>
            </a:fld>
            <a:endParaRPr lang="en-US"/>
          </a:p>
        </p:txBody>
      </p:sp>
      <p:sp>
        <p:nvSpPr>
          <p:cNvPr id="57347" name="TextBox 4"/>
          <p:cNvSpPr txBox="1">
            <a:spLocks noChangeArrowheads="1"/>
          </p:cNvSpPr>
          <p:nvPr/>
        </p:nvSpPr>
        <p:spPr bwMode="auto">
          <a:xfrm>
            <a:off x="381000" y="2514600"/>
            <a:ext cx="8534400" cy="3786188"/>
          </a:xfrm>
          <a:prstGeom prst="rect">
            <a:avLst/>
          </a:prstGeom>
          <a:solidFill>
            <a:srgbClr val="FFFF66"/>
          </a:solidFill>
          <a:ln w="9525">
            <a:noFill/>
            <a:miter lim="800000"/>
            <a:headEnd/>
            <a:tailEnd/>
          </a:ln>
        </p:spPr>
        <p:txBody>
          <a:bodyPr>
            <a:spAutoFit/>
          </a:bodyPr>
          <a:lstStyle/>
          <a:p>
            <a:pPr algn="just">
              <a:buFont typeface="Wingdings" pitchFamily="2" charset="2"/>
              <a:buChar char="Ø"/>
            </a:pPr>
            <a:r>
              <a:rPr lang="en-US" dirty="0"/>
              <a:t>The </a:t>
            </a:r>
            <a:r>
              <a:rPr lang="en-US" b="1" dirty="0"/>
              <a:t>MF</a:t>
            </a:r>
            <a:r>
              <a:rPr lang="en-US" dirty="0"/>
              <a:t> bit means that more fragments will follow. The </a:t>
            </a:r>
            <a:r>
              <a:rPr lang="en-US" b="1" dirty="0"/>
              <a:t>Retry</a:t>
            </a:r>
            <a:r>
              <a:rPr lang="en-US" dirty="0"/>
              <a:t> bit marks a retransmission of a frame sent earlier. The </a:t>
            </a:r>
            <a:r>
              <a:rPr lang="en-US" b="1" dirty="0"/>
              <a:t>Power management </a:t>
            </a:r>
            <a:r>
              <a:rPr lang="en-US" dirty="0"/>
              <a:t>bit is used by the base station to put the receiver into sleep state or take it out of sleep state. The </a:t>
            </a:r>
            <a:r>
              <a:rPr lang="en-US" b="1" dirty="0"/>
              <a:t>More</a:t>
            </a:r>
            <a:r>
              <a:rPr lang="en-US" dirty="0"/>
              <a:t> bit indicates that the sender has additional frames for the receiver. </a:t>
            </a:r>
          </a:p>
          <a:p>
            <a:pPr algn="just">
              <a:buFont typeface="Wingdings" pitchFamily="2" charset="2"/>
              <a:buChar char="Ø"/>
            </a:pPr>
            <a:endParaRPr lang="en-US" dirty="0"/>
          </a:p>
          <a:p>
            <a:pPr algn="just">
              <a:buFont typeface="Wingdings" pitchFamily="2" charset="2"/>
              <a:buChar char="Ø"/>
            </a:pPr>
            <a:r>
              <a:rPr lang="en-US" dirty="0"/>
              <a:t>The </a:t>
            </a:r>
            <a:r>
              <a:rPr lang="en-US" b="1" dirty="0"/>
              <a:t>W</a:t>
            </a:r>
            <a:r>
              <a:rPr lang="en-US" dirty="0"/>
              <a:t> bit specifies that the frame body has been encrypted using the WEP (Wired Equivalent Privacy) algorithm. Finally, the </a:t>
            </a:r>
            <a:r>
              <a:rPr lang="en-US" b="1" dirty="0"/>
              <a:t>O</a:t>
            </a:r>
            <a:r>
              <a:rPr lang="en-US" dirty="0"/>
              <a:t> bit tells the receiver that a sequence of frames with this bit on must be processed strictly in order.</a:t>
            </a:r>
          </a:p>
        </p:txBody>
      </p:sp>
      <p:pic>
        <p:nvPicPr>
          <p:cNvPr id="4" name="Picture 23"/>
          <p:cNvPicPr>
            <a:picLocks noChangeAspect="1" noChangeArrowheads="1"/>
          </p:cNvPicPr>
          <p:nvPr/>
        </p:nvPicPr>
        <p:blipFill>
          <a:blip r:embed="rId2"/>
          <a:srcRect/>
          <a:stretch>
            <a:fillRect/>
          </a:stretch>
        </p:blipFill>
        <p:spPr bwMode="auto">
          <a:xfrm>
            <a:off x="533400" y="0"/>
            <a:ext cx="8539142" cy="2286000"/>
          </a:xfrm>
          <a:prstGeom prst="rect">
            <a:avLst/>
          </a:prstGeom>
          <a:noFill/>
          <a:ln w="9525">
            <a:noFill/>
            <a:miter lim="800000"/>
            <a:headEnd/>
            <a:tailEnd/>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3"/>
          <p:cNvSpPr>
            <a:spLocks noGrp="1"/>
          </p:cNvSpPr>
          <p:nvPr>
            <p:ph type="sldNum" sz="quarter" idx="12"/>
          </p:nvPr>
        </p:nvSpPr>
        <p:spPr>
          <a:noFill/>
        </p:spPr>
        <p:txBody>
          <a:bodyPr/>
          <a:lstStyle/>
          <a:p>
            <a:fld id="{644BF51A-4B46-4040-A3BA-C04AF2BCA9FF}" type="slidenum">
              <a:rPr lang="en-US" smtClean="0"/>
              <a:pPr/>
              <a:t>75</a:t>
            </a:fld>
            <a:endParaRPr lang="en-US"/>
          </a:p>
        </p:txBody>
      </p:sp>
      <p:sp>
        <p:nvSpPr>
          <p:cNvPr id="46083" name="TextBox 4"/>
          <p:cNvSpPr txBox="1">
            <a:spLocks noChangeArrowheads="1"/>
          </p:cNvSpPr>
          <p:nvPr/>
        </p:nvSpPr>
        <p:spPr bwMode="auto">
          <a:xfrm>
            <a:off x="381000" y="2819400"/>
            <a:ext cx="8534400" cy="3478213"/>
          </a:xfrm>
          <a:prstGeom prst="rect">
            <a:avLst/>
          </a:prstGeom>
          <a:solidFill>
            <a:srgbClr val="FFFF66"/>
          </a:solidFill>
          <a:ln w="9525">
            <a:noFill/>
            <a:miter lim="800000"/>
            <a:headEnd/>
            <a:tailEnd/>
          </a:ln>
        </p:spPr>
        <p:txBody>
          <a:bodyPr>
            <a:spAutoFit/>
          </a:bodyPr>
          <a:lstStyle/>
          <a:p>
            <a:pPr algn="just">
              <a:buFont typeface="Wingdings" pitchFamily="2" charset="2"/>
              <a:buChar char="Ø"/>
            </a:pPr>
            <a:r>
              <a:rPr lang="en-US" sz="2000" b="1"/>
              <a:t>Duration</a:t>
            </a:r>
            <a:r>
              <a:rPr lang="en-US" sz="2000"/>
              <a:t> field refers to the time allotted for the successful transmission of the frame. How long the frame and its ack will occupy the channel.</a:t>
            </a:r>
          </a:p>
          <a:p>
            <a:pPr algn="just">
              <a:buFont typeface="Wingdings" pitchFamily="2" charset="2"/>
              <a:buChar char="Ø"/>
            </a:pPr>
            <a:r>
              <a:rPr lang="en-US" sz="2000"/>
              <a:t>The </a:t>
            </a:r>
            <a:r>
              <a:rPr lang="en-US" sz="2000" b="1"/>
              <a:t>address field </a:t>
            </a:r>
            <a:r>
              <a:rPr lang="en-US" sz="2000"/>
              <a:t>denotes the 6-byte (MAC address of 48 bits) source and destination address fields. The source and destination addresses are obviously needed and the other two addresses are used for source and destination BSs for intercell traffic. Since frame may enter or leave a cell via a BS.</a:t>
            </a:r>
          </a:p>
          <a:p>
            <a:pPr algn="just">
              <a:buFont typeface="Wingdings" pitchFamily="2" charset="2"/>
              <a:buChar char="Ø"/>
            </a:pPr>
            <a:r>
              <a:rPr lang="en-US" sz="2000"/>
              <a:t>The </a:t>
            </a:r>
            <a:r>
              <a:rPr lang="en-US" sz="2000" b="1"/>
              <a:t>sequence control </a:t>
            </a:r>
            <a:r>
              <a:rPr lang="en-US" sz="2000"/>
              <a:t>(SC) field consists of 4 bits reserved for fragmentation and reassembly and 12 bits for a sequence number of frames between a particular </a:t>
            </a:r>
            <a:r>
              <a:rPr lang="en-US" sz="2000" i="1"/>
              <a:t>Tx</a:t>
            </a:r>
            <a:r>
              <a:rPr lang="en-US" sz="2000"/>
              <a:t> and </a:t>
            </a:r>
            <a:r>
              <a:rPr lang="en-US" sz="2000" i="1"/>
              <a:t>Rx</a:t>
            </a:r>
            <a:r>
              <a:rPr lang="en-US" sz="2000"/>
              <a:t>.</a:t>
            </a:r>
          </a:p>
          <a:p>
            <a:pPr algn="just">
              <a:buFont typeface="Wingdings" pitchFamily="2" charset="2"/>
              <a:buChar char="Ø"/>
            </a:pPr>
            <a:r>
              <a:rPr lang="en-US" sz="2000"/>
              <a:t>The </a:t>
            </a:r>
            <a:r>
              <a:rPr lang="en-US" sz="2000" b="1"/>
              <a:t>frame body/Data </a:t>
            </a:r>
            <a:r>
              <a:rPr lang="en-US" sz="2000"/>
              <a:t>contains a MAC service data unit or control information.</a:t>
            </a:r>
          </a:p>
          <a:p>
            <a:pPr algn="just">
              <a:buFont typeface="Wingdings" pitchFamily="2" charset="2"/>
              <a:buChar char="Ø"/>
            </a:pPr>
            <a:r>
              <a:rPr lang="en-US" sz="2000"/>
              <a:t>The </a:t>
            </a:r>
            <a:r>
              <a:rPr lang="en-US" sz="2000" b="1"/>
              <a:t>CRC</a:t>
            </a:r>
            <a:r>
              <a:rPr lang="en-US" sz="2000"/>
              <a:t> field is used for error detection.</a:t>
            </a:r>
          </a:p>
        </p:txBody>
      </p:sp>
      <p:pic>
        <p:nvPicPr>
          <p:cNvPr id="58372" name="Picture 23"/>
          <p:cNvPicPr>
            <a:picLocks noChangeAspect="1" noChangeArrowheads="1"/>
          </p:cNvPicPr>
          <p:nvPr/>
        </p:nvPicPr>
        <p:blipFill>
          <a:blip r:embed="rId2"/>
          <a:srcRect/>
          <a:stretch>
            <a:fillRect/>
          </a:stretch>
        </p:blipFill>
        <p:spPr bwMode="auto">
          <a:xfrm>
            <a:off x="457200" y="152400"/>
            <a:ext cx="8045450" cy="23622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 calcmode="lin" valueType="num">
                                      <p:cBhvr additive="base">
                                        <p:cTn id="7" dur="500" fill="hold"/>
                                        <p:tgtEl>
                                          <p:spTgt spid="460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0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6083">
                                            <p:txEl>
                                              <p:pRg st="1" end="1"/>
                                            </p:txEl>
                                          </p:spTgt>
                                        </p:tgtEl>
                                        <p:attrNameLst>
                                          <p:attrName>style.visibility</p:attrName>
                                        </p:attrNameLst>
                                      </p:cBhvr>
                                      <p:to>
                                        <p:strVal val="visible"/>
                                      </p:to>
                                    </p:set>
                                    <p:anim calcmode="lin" valueType="num">
                                      <p:cBhvr additive="base">
                                        <p:cTn id="13" dur="500" fill="hold"/>
                                        <p:tgtEl>
                                          <p:spTgt spid="460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60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6083">
                                            <p:txEl>
                                              <p:pRg st="2" end="2"/>
                                            </p:txEl>
                                          </p:spTgt>
                                        </p:tgtEl>
                                        <p:attrNameLst>
                                          <p:attrName>style.visibility</p:attrName>
                                        </p:attrNameLst>
                                      </p:cBhvr>
                                      <p:to>
                                        <p:strVal val="visible"/>
                                      </p:to>
                                    </p:set>
                                    <p:anim calcmode="lin" valueType="num">
                                      <p:cBhvr additive="base">
                                        <p:cTn id="19" dur="500" fill="hold"/>
                                        <p:tgtEl>
                                          <p:spTgt spid="4608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60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6083">
                                            <p:txEl>
                                              <p:pRg st="3" end="3"/>
                                            </p:txEl>
                                          </p:spTgt>
                                        </p:tgtEl>
                                        <p:attrNameLst>
                                          <p:attrName>style.visibility</p:attrName>
                                        </p:attrNameLst>
                                      </p:cBhvr>
                                      <p:to>
                                        <p:strVal val="visible"/>
                                      </p:to>
                                    </p:set>
                                    <p:anim calcmode="lin" valueType="num">
                                      <p:cBhvr additive="base">
                                        <p:cTn id="25" dur="500" fill="hold"/>
                                        <p:tgtEl>
                                          <p:spTgt spid="4608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60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6083">
                                            <p:txEl>
                                              <p:pRg st="4" end="4"/>
                                            </p:txEl>
                                          </p:spTgt>
                                        </p:tgtEl>
                                        <p:attrNameLst>
                                          <p:attrName>style.visibility</p:attrName>
                                        </p:attrNameLst>
                                      </p:cBhvr>
                                      <p:to>
                                        <p:strVal val="visible"/>
                                      </p:to>
                                    </p:set>
                                    <p:anim calcmode="lin" valueType="num">
                                      <p:cBhvr additive="base">
                                        <p:cTn id="31" dur="500" fill="hold"/>
                                        <p:tgtEl>
                                          <p:spTgt spid="4608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608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5"/>
          <p:cNvSpPr>
            <a:spLocks noGrp="1"/>
          </p:cNvSpPr>
          <p:nvPr>
            <p:ph type="sldNum" sz="quarter" idx="12"/>
          </p:nvPr>
        </p:nvSpPr>
        <p:spPr>
          <a:noFill/>
        </p:spPr>
        <p:txBody>
          <a:bodyPr/>
          <a:lstStyle/>
          <a:p>
            <a:fld id="{D6F2C2BA-1290-47E5-9359-701606880B1D}" type="slidenum">
              <a:rPr lang="en-US" smtClean="0"/>
              <a:pPr/>
              <a:t>76</a:t>
            </a:fld>
            <a:endParaRPr lang="en-US"/>
          </a:p>
        </p:txBody>
      </p:sp>
      <p:sp>
        <p:nvSpPr>
          <p:cNvPr id="59395" name="Text Box 2"/>
          <p:cNvSpPr txBox="1">
            <a:spLocks noChangeArrowheads="1"/>
          </p:cNvSpPr>
          <p:nvPr/>
        </p:nvSpPr>
        <p:spPr bwMode="auto">
          <a:xfrm>
            <a:off x="304800" y="1219200"/>
            <a:ext cx="8382000" cy="5078413"/>
          </a:xfrm>
          <a:prstGeom prst="rect">
            <a:avLst/>
          </a:prstGeom>
          <a:solidFill>
            <a:srgbClr val="FFFF66"/>
          </a:solidFill>
          <a:ln w="9525">
            <a:noFill/>
            <a:miter lim="800000"/>
            <a:headEnd/>
            <a:tailEnd/>
          </a:ln>
        </p:spPr>
        <p:txBody>
          <a:bodyPr>
            <a:spAutoFit/>
          </a:bodyPr>
          <a:lstStyle/>
          <a:p>
            <a:pPr algn="just">
              <a:spcBef>
                <a:spcPct val="50000"/>
              </a:spcBef>
              <a:buFont typeface="Wingdings" pitchFamily="2" charset="2"/>
              <a:buChar char="ü"/>
            </a:pPr>
            <a:r>
              <a:rPr lang="en-US"/>
              <a:t>Standard 802.11 typically uses the carrier Sense Multiple Access with collision avoidance (</a:t>
            </a:r>
            <a:r>
              <a:rPr lang="en-US">
                <a:solidFill>
                  <a:schemeClr val="accent2"/>
                </a:solidFill>
              </a:rPr>
              <a:t>CSMA/CA</a:t>
            </a:r>
            <a:r>
              <a:rPr lang="en-US"/>
              <a:t>) method. </a:t>
            </a:r>
          </a:p>
          <a:p>
            <a:pPr marL="0" lvl="1" algn="just">
              <a:spcBef>
                <a:spcPct val="50000"/>
              </a:spcBef>
              <a:buFont typeface="Wingdings" pitchFamily="2" charset="2"/>
              <a:buChar char="ü"/>
            </a:pPr>
            <a:r>
              <a:rPr lang="en-US"/>
              <a:t>Carrier sense (CS) means: hardware capable of sensing whether  transmission taking place in vicinity (for cognitive radio).</a:t>
            </a:r>
          </a:p>
          <a:p>
            <a:pPr marL="0" lvl="1" algn="just">
              <a:spcBef>
                <a:spcPct val="50000"/>
              </a:spcBef>
              <a:buFont typeface="Wingdings" pitchFamily="2" charset="2"/>
              <a:buChar char="ü"/>
            </a:pPr>
            <a:endParaRPr lang="en-US"/>
          </a:p>
          <a:p>
            <a:pPr algn="just">
              <a:spcBef>
                <a:spcPct val="50000"/>
              </a:spcBef>
              <a:buFont typeface="Wingdings" pitchFamily="2" charset="2"/>
              <a:buChar char="ü"/>
            </a:pPr>
            <a:r>
              <a:rPr lang="en-US"/>
              <a:t>With this method, each user listens for traffic coming from other users (a node can sense a traffic channel like combination of carrier and TS) and transmits data if the channel is idle. </a:t>
            </a:r>
          </a:p>
          <a:p>
            <a:pPr algn="just">
              <a:spcBef>
                <a:spcPct val="50000"/>
              </a:spcBef>
              <a:buFont typeface="Wingdings" pitchFamily="2" charset="2"/>
              <a:buChar char="ü"/>
            </a:pPr>
            <a:endParaRPr lang="en-US"/>
          </a:p>
          <a:p>
            <a:pPr algn="just">
              <a:spcBef>
                <a:spcPct val="50000"/>
              </a:spcBef>
              <a:buFont typeface="Wingdings" pitchFamily="2" charset="2"/>
              <a:buChar char="ü"/>
            </a:pPr>
            <a:r>
              <a:rPr lang="en-US"/>
              <a:t>If the channel is busy, the user waits until the channel becomes idle. The user then transmits data after a random back-off time. </a:t>
            </a:r>
          </a:p>
        </p:txBody>
      </p:sp>
      <p:sp>
        <p:nvSpPr>
          <p:cNvPr id="59396" name="TextBox 4"/>
          <p:cNvSpPr txBox="1">
            <a:spLocks noChangeArrowheads="1"/>
          </p:cNvSpPr>
          <p:nvPr/>
        </p:nvSpPr>
        <p:spPr bwMode="auto">
          <a:xfrm>
            <a:off x="0" y="0"/>
            <a:ext cx="8534400" cy="1077913"/>
          </a:xfrm>
          <a:prstGeom prst="rect">
            <a:avLst/>
          </a:prstGeom>
          <a:noFill/>
          <a:ln w="9525">
            <a:noFill/>
            <a:miter lim="800000"/>
            <a:headEnd/>
            <a:tailEnd/>
          </a:ln>
        </p:spPr>
        <p:txBody>
          <a:bodyPr>
            <a:spAutoFit/>
          </a:bodyPr>
          <a:lstStyle/>
          <a:p>
            <a:r>
              <a:rPr lang="en-US" sz="3200" b="1"/>
              <a:t>IEEE 802.11 at MAC sublayer uses </a:t>
            </a:r>
            <a:r>
              <a:rPr lang="en-US" sz="3200" b="1">
                <a:solidFill>
                  <a:srgbClr val="FF0000"/>
                </a:solidFill>
              </a:rPr>
              <a:t>CSMA/CA </a:t>
            </a:r>
            <a:r>
              <a:rPr lang="en-US" sz="3200" b="1"/>
              <a:t>as the access method.</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5"/>
          <p:cNvSpPr>
            <a:spLocks noGrp="1"/>
          </p:cNvSpPr>
          <p:nvPr>
            <p:ph type="sldNum" sz="quarter" idx="12"/>
          </p:nvPr>
        </p:nvSpPr>
        <p:spPr>
          <a:noFill/>
        </p:spPr>
        <p:txBody>
          <a:bodyPr/>
          <a:lstStyle/>
          <a:p>
            <a:fld id="{2AF18C0D-C767-4846-93A1-4E1AB97CEDE9}" type="slidenum">
              <a:rPr lang="en-US" smtClean="0"/>
              <a:pPr/>
              <a:t>77</a:t>
            </a:fld>
            <a:endParaRPr lang="en-US"/>
          </a:p>
        </p:txBody>
      </p:sp>
      <p:sp>
        <p:nvSpPr>
          <p:cNvPr id="169988" name="Text Box 4"/>
          <p:cNvSpPr txBox="1">
            <a:spLocks noChangeArrowheads="1"/>
          </p:cNvSpPr>
          <p:nvPr/>
        </p:nvSpPr>
        <p:spPr bwMode="auto">
          <a:xfrm>
            <a:off x="152400" y="1295400"/>
            <a:ext cx="8763000" cy="5448300"/>
          </a:xfrm>
          <a:prstGeom prst="rect">
            <a:avLst/>
          </a:prstGeom>
          <a:solidFill>
            <a:srgbClr val="FFFF66"/>
          </a:solidFill>
          <a:ln w="9525">
            <a:noFill/>
            <a:miter lim="800000"/>
            <a:headEnd/>
            <a:tailEnd/>
          </a:ln>
        </p:spPr>
        <p:txBody>
          <a:bodyPr>
            <a:spAutoFit/>
          </a:bodyPr>
          <a:lstStyle/>
          <a:p>
            <a:pPr algn="justLow">
              <a:spcBef>
                <a:spcPct val="50000"/>
              </a:spcBef>
              <a:buFont typeface="Wingdings" pitchFamily="2" charset="2"/>
              <a:buChar char="Ø"/>
            </a:pPr>
            <a:r>
              <a:rPr lang="en-US"/>
              <a:t>The wireless LAN system cannot detect collisions because the power of the transmitting device is much stronger than the receiver’s power. </a:t>
            </a:r>
          </a:p>
          <a:p>
            <a:pPr algn="justLow">
              <a:spcBef>
                <a:spcPct val="50000"/>
              </a:spcBef>
              <a:buFont typeface="Wingdings" pitchFamily="2" charset="2"/>
              <a:buChar char="Ø"/>
            </a:pPr>
            <a:r>
              <a:rPr lang="en-US"/>
              <a:t>In this situation collision detection is not practical, it makes sense to try to devise a system that can help prevent collisions. Thus the CA is CSMA/CA refers to ‘collision avoidance’. </a:t>
            </a:r>
          </a:p>
          <a:p>
            <a:pPr algn="justLow">
              <a:spcBef>
                <a:spcPct val="50000"/>
              </a:spcBef>
              <a:buFont typeface="Wingdings" pitchFamily="2" charset="2"/>
              <a:buChar char="Ø"/>
            </a:pPr>
            <a:r>
              <a:rPr lang="en-US"/>
              <a:t>When a device detects that the transmission media is idle, the device must wait for a specific time  before it can contend for access to the media. This specific time is called </a:t>
            </a:r>
            <a:r>
              <a:rPr lang="en-US">
                <a:solidFill>
                  <a:schemeClr val="accent2"/>
                </a:solidFill>
              </a:rPr>
              <a:t>interframe spacing </a:t>
            </a:r>
            <a:r>
              <a:rPr lang="en-US"/>
              <a:t>(</a:t>
            </a:r>
            <a:r>
              <a:rPr lang="en-US">
                <a:solidFill>
                  <a:schemeClr val="accent2"/>
                </a:solidFill>
              </a:rPr>
              <a:t>IFS</a:t>
            </a:r>
            <a:r>
              <a:rPr lang="en-US"/>
              <a:t>) time. </a:t>
            </a:r>
          </a:p>
          <a:p>
            <a:pPr algn="justLow">
              <a:spcBef>
                <a:spcPct val="50000"/>
              </a:spcBef>
              <a:buFont typeface="Wingdings" pitchFamily="2" charset="2"/>
              <a:buChar char="Ø"/>
            </a:pPr>
            <a:r>
              <a:rPr lang="en-US"/>
              <a:t>The IFS time can also be used for prioritizing transmissions. If a device is given  a smaller IFS , then it has more chances of gaining access to the transmission media.  </a:t>
            </a:r>
          </a:p>
        </p:txBody>
      </p:sp>
      <p:sp>
        <p:nvSpPr>
          <p:cNvPr id="60420" name="Text Box 5"/>
          <p:cNvSpPr txBox="1">
            <a:spLocks noChangeArrowheads="1"/>
          </p:cNvSpPr>
          <p:nvPr/>
        </p:nvSpPr>
        <p:spPr bwMode="auto">
          <a:xfrm>
            <a:off x="838200" y="152400"/>
            <a:ext cx="6934200" cy="1066800"/>
          </a:xfrm>
          <a:prstGeom prst="rect">
            <a:avLst/>
          </a:prstGeom>
          <a:solidFill>
            <a:srgbClr val="66FF33"/>
          </a:solidFill>
          <a:ln w="9525">
            <a:noFill/>
            <a:miter lim="800000"/>
            <a:headEnd/>
            <a:tailEnd/>
          </a:ln>
        </p:spPr>
        <p:txBody>
          <a:bodyPr>
            <a:spAutoFit/>
          </a:bodyPr>
          <a:lstStyle/>
          <a:p>
            <a:pPr algn="ctr">
              <a:spcBef>
                <a:spcPct val="50000"/>
              </a:spcBef>
            </a:pPr>
            <a:r>
              <a:rPr lang="en-US" sz="3200"/>
              <a:t>Carrier Sense Multiple Access/ Collision Avoidance (CSMA/CA)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69988">
                                            <p:txEl>
                                              <p:pRg st="0" end="0"/>
                                            </p:txEl>
                                          </p:spTgt>
                                        </p:tgtEl>
                                        <p:attrNameLst>
                                          <p:attrName>style.visibility</p:attrName>
                                        </p:attrNameLst>
                                      </p:cBhvr>
                                      <p:to>
                                        <p:strVal val="visible"/>
                                      </p:to>
                                    </p:set>
                                    <p:animEffect transition="in" filter="diamond(in)">
                                      <p:cBhvr>
                                        <p:cTn id="7" dur="2000"/>
                                        <p:tgtEl>
                                          <p:spTgt spid="1699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169988">
                                            <p:txEl>
                                              <p:pRg st="1" end="1"/>
                                            </p:txEl>
                                          </p:spTgt>
                                        </p:tgtEl>
                                        <p:attrNameLst>
                                          <p:attrName>style.visibility</p:attrName>
                                        </p:attrNameLst>
                                      </p:cBhvr>
                                      <p:to>
                                        <p:strVal val="visible"/>
                                      </p:to>
                                    </p:set>
                                    <p:animEffect transition="in" filter="diamond(in)">
                                      <p:cBhvr>
                                        <p:cTn id="12" dur="2000"/>
                                        <p:tgtEl>
                                          <p:spTgt spid="16998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169988">
                                            <p:txEl>
                                              <p:pRg st="2" end="2"/>
                                            </p:txEl>
                                          </p:spTgt>
                                        </p:tgtEl>
                                        <p:attrNameLst>
                                          <p:attrName>style.visibility</p:attrName>
                                        </p:attrNameLst>
                                      </p:cBhvr>
                                      <p:to>
                                        <p:strVal val="visible"/>
                                      </p:to>
                                    </p:set>
                                    <p:animEffect transition="in" filter="diamond(in)">
                                      <p:cBhvr>
                                        <p:cTn id="17" dur="2000"/>
                                        <p:tgtEl>
                                          <p:spTgt spid="16998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1" fill="hold">
                                          <p:stCondLst>
                                            <p:cond delay="0"/>
                                          </p:stCondLst>
                                        </p:cTn>
                                        <p:tgtEl>
                                          <p:spTgt spid="169988">
                                            <p:txEl>
                                              <p:pRg st="3" end="3"/>
                                            </p:txEl>
                                          </p:spTgt>
                                        </p:tgtEl>
                                        <p:attrNameLst>
                                          <p:attrName>style.visibility</p:attrName>
                                        </p:attrNameLst>
                                      </p:cBhvr>
                                      <p:to>
                                        <p:strVal val="visible"/>
                                      </p:to>
                                    </p:set>
                                    <p:animEffect transition="in" filter="diamond(in)">
                                      <p:cBhvr>
                                        <p:cTn id="22" dur="2000"/>
                                        <p:tgtEl>
                                          <p:spTgt spid="16998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4"/>
          <p:cNvSpPr>
            <a:spLocks noGrp="1"/>
          </p:cNvSpPr>
          <p:nvPr>
            <p:ph type="sldNum" sz="quarter" idx="12"/>
          </p:nvPr>
        </p:nvSpPr>
        <p:spPr>
          <a:noFill/>
        </p:spPr>
        <p:txBody>
          <a:bodyPr/>
          <a:lstStyle/>
          <a:p>
            <a:fld id="{63A511BD-BDC6-42B7-A930-DE116E695C01}" type="slidenum">
              <a:rPr lang="en-US" smtClean="0"/>
              <a:pPr/>
              <a:t>78</a:t>
            </a:fld>
            <a:endParaRPr lang="en-US"/>
          </a:p>
        </p:txBody>
      </p:sp>
      <p:sp>
        <p:nvSpPr>
          <p:cNvPr id="172036" name="Text Box 4"/>
          <p:cNvSpPr txBox="1">
            <a:spLocks noChangeArrowheads="1"/>
          </p:cNvSpPr>
          <p:nvPr/>
        </p:nvSpPr>
        <p:spPr bwMode="auto">
          <a:xfrm>
            <a:off x="304800" y="838200"/>
            <a:ext cx="8382000" cy="1200150"/>
          </a:xfrm>
          <a:prstGeom prst="rect">
            <a:avLst/>
          </a:prstGeom>
          <a:solidFill>
            <a:srgbClr val="FFFF66"/>
          </a:solidFill>
          <a:ln w="9525">
            <a:noFill/>
            <a:miter lim="800000"/>
            <a:headEnd/>
            <a:tailEnd/>
          </a:ln>
        </p:spPr>
        <p:txBody>
          <a:bodyPr>
            <a:spAutoFit/>
          </a:bodyPr>
          <a:lstStyle/>
          <a:p>
            <a:pPr algn="justLow">
              <a:spcBef>
                <a:spcPct val="50000"/>
              </a:spcBef>
              <a:buFont typeface="Wingdings" pitchFamily="2" charset="2"/>
              <a:buChar char="Ø"/>
            </a:pPr>
            <a:r>
              <a:rPr lang="en-US"/>
              <a:t>If the sender does not receive an ACK then the device assumes that a collision has occurred. Sender usually uses binary exponential backoff.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72036">
                                            <p:txEl>
                                              <p:pRg st="0" end="0"/>
                                            </p:txEl>
                                          </p:spTgt>
                                        </p:tgtEl>
                                        <p:attrNameLst>
                                          <p:attrName>style.visibility</p:attrName>
                                        </p:attrNameLst>
                                      </p:cBhvr>
                                      <p:to>
                                        <p:strVal val="visible"/>
                                      </p:to>
                                    </p:set>
                                    <p:animEffect transition="in" filter="diamond(in)">
                                      <p:cBhvr>
                                        <p:cTn id="7" dur="2000"/>
                                        <p:tgtEl>
                                          <p:spTgt spid="17203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Slide Number Placeholder 4"/>
          <p:cNvSpPr>
            <a:spLocks noGrp="1"/>
          </p:cNvSpPr>
          <p:nvPr>
            <p:ph type="sldNum" sz="quarter" idx="12"/>
          </p:nvPr>
        </p:nvSpPr>
        <p:spPr>
          <a:noFill/>
        </p:spPr>
        <p:txBody>
          <a:bodyPr/>
          <a:lstStyle/>
          <a:p>
            <a:fld id="{567C3EA0-307F-48A2-9D7B-9CF49B8692A1}" type="slidenum">
              <a:rPr lang="en-US" smtClean="0"/>
              <a:pPr/>
              <a:t>79</a:t>
            </a:fld>
            <a:endParaRPr lang="en-US"/>
          </a:p>
        </p:txBody>
      </p:sp>
      <p:sp>
        <p:nvSpPr>
          <p:cNvPr id="6148" name="Text Box 4"/>
          <p:cNvSpPr txBox="1">
            <a:spLocks noChangeArrowheads="1"/>
          </p:cNvSpPr>
          <p:nvPr/>
        </p:nvSpPr>
        <p:spPr bwMode="auto">
          <a:xfrm>
            <a:off x="76200" y="2727325"/>
            <a:ext cx="8915400" cy="3749675"/>
          </a:xfrm>
          <a:prstGeom prst="rect">
            <a:avLst/>
          </a:prstGeom>
          <a:noFill/>
          <a:ln w="9525">
            <a:noFill/>
            <a:miter lim="800000"/>
            <a:headEnd/>
            <a:tailEnd/>
          </a:ln>
        </p:spPr>
        <p:txBody>
          <a:bodyPr>
            <a:spAutoFit/>
          </a:bodyPr>
          <a:lstStyle/>
          <a:p>
            <a:pPr algn="justLow"/>
            <a:r>
              <a:rPr lang="en-US" sz="2000"/>
              <a:t>To reduce the packet dropping probability or to enhance throughput of wireless LAN exponential binary backoff algorithm is widely used. The access method of MAC protocol of IEEE 802.11 based on exponential binary backoff algorithm can be explained with the following steps.</a:t>
            </a:r>
            <a:endParaRPr lang="en-US" sz="2000" u="sng"/>
          </a:p>
          <a:p>
            <a:pPr algn="justLow"/>
            <a:r>
              <a:rPr lang="en-US" sz="2000" b="1" u="sng">
                <a:solidFill>
                  <a:schemeClr val="accent2"/>
                </a:solidFill>
              </a:rPr>
              <a:t>Step: 1</a:t>
            </a:r>
            <a:endParaRPr lang="en-US" sz="2000" b="1">
              <a:solidFill>
                <a:schemeClr val="accent2"/>
              </a:solidFill>
            </a:endParaRPr>
          </a:p>
          <a:p>
            <a:pPr algn="justLow"/>
            <a:r>
              <a:rPr lang="en-US" sz="2000"/>
              <a:t>The transmitting node first senses the status of the channel. If the channel is found busy then the Tx node continues to monitor the channel.</a:t>
            </a:r>
            <a:endParaRPr lang="en-US" sz="2000" u="sng"/>
          </a:p>
          <a:p>
            <a:pPr algn="justLow"/>
            <a:r>
              <a:rPr lang="en-US" sz="2000" b="1" u="sng">
                <a:solidFill>
                  <a:schemeClr val="accent2"/>
                </a:solidFill>
              </a:rPr>
              <a:t>Step:2</a:t>
            </a:r>
            <a:endParaRPr lang="en-US" sz="2000" b="1">
              <a:solidFill>
                <a:schemeClr val="accent2"/>
              </a:solidFill>
            </a:endParaRPr>
          </a:p>
          <a:p>
            <a:pPr algn="justLow"/>
            <a:r>
              <a:rPr lang="en-US" sz="2000"/>
              <a:t>If the channel is found idle for a fixed duration know as DIFS (Distributed Inter-frame Space), the Tx chooses a random number according to the binary exponential back off algorithm. The random number is used as a back off timer. </a:t>
            </a:r>
            <a:endParaRPr lang="en-US" sz="2000" u="sng"/>
          </a:p>
          <a:p>
            <a:pPr algn="justLow"/>
            <a:endParaRPr lang="en-US" sz="2000"/>
          </a:p>
        </p:txBody>
      </p:sp>
      <p:graphicFrame>
        <p:nvGraphicFramePr>
          <p:cNvPr id="6146" name="Object 2"/>
          <p:cNvGraphicFramePr>
            <a:graphicFrameLocks noGrp="1" noChangeAspect="1"/>
          </p:cNvGraphicFramePr>
          <p:nvPr>
            <p:ph/>
          </p:nvPr>
        </p:nvGraphicFramePr>
        <p:xfrm>
          <a:off x="762000" y="533400"/>
          <a:ext cx="7010400" cy="2124075"/>
        </p:xfrm>
        <a:graphic>
          <a:graphicData uri="http://schemas.openxmlformats.org/presentationml/2006/ole">
            <mc:AlternateContent xmlns:mc="http://schemas.openxmlformats.org/markup-compatibility/2006">
              <mc:Choice xmlns:v="urn:schemas-microsoft-com:vml" Requires="v">
                <p:oleObj spid="_x0000_s6196" name="Bitmap Image" r:id="rId3" imgW="5249008" imgH="1590897" progId="PBrush">
                  <p:embed/>
                </p:oleObj>
              </mc:Choice>
              <mc:Fallback>
                <p:oleObj name="Bitmap Image" r:id="rId3" imgW="5249008" imgH="1590897" progId="PBrush">
                  <p:embed/>
                  <p:pic>
                    <p:nvPicPr>
                      <p:cNvPr id="0" name="Picture 2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533400"/>
                        <a:ext cx="7010400"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9" name="Text Box 7"/>
          <p:cNvSpPr txBox="1">
            <a:spLocks noChangeArrowheads="1"/>
          </p:cNvSpPr>
          <p:nvPr/>
        </p:nvSpPr>
        <p:spPr bwMode="auto">
          <a:xfrm>
            <a:off x="1447800" y="152400"/>
            <a:ext cx="6553200" cy="457200"/>
          </a:xfrm>
          <a:prstGeom prst="rect">
            <a:avLst/>
          </a:prstGeom>
          <a:solidFill>
            <a:srgbClr val="FF99FF"/>
          </a:solidFill>
          <a:ln w="9525">
            <a:noFill/>
            <a:miter lim="800000"/>
            <a:headEnd/>
            <a:tailEnd/>
          </a:ln>
        </p:spPr>
        <p:txBody>
          <a:bodyPr>
            <a:spAutoFit/>
          </a:bodyPr>
          <a:lstStyle/>
          <a:p>
            <a:pPr>
              <a:spcBef>
                <a:spcPct val="50000"/>
              </a:spcBef>
            </a:pPr>
            <a:r>
              <a:rPr lang="en-US"/>
              <a:t>Distributed Binary Exponential Backoff Algorithm</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Slide Number Placeholder 4"/>
          <p:cNvSpPr>
            <a:spLocks noGrp="1"/>
          </p:cNvSpPr>
          <p:nvPr>
            <p:ph type="sldNum" sz="quarter" idx="12"/>
          </p:nvPr>
        </p:nvSpPr>
        <p:spPr>
          <a:noFill/>
        </p:spPr>
        <p:txBody>
          <a:bodyPr/>
          <a:lstStyle/>
          <a:p>
            <a:fld id="{48C8395F-B444-4D62-BA8B-FC3F9AD7CAA9}" type="slidenum">
              <a:rPr lang="en-US" smtClean="0"/>
              <a:pPr/>
              <a:t>80</a:t>
            </a:fld>
            <a:endParaRPr lang="en-US"/>
          </a:p>
        </p:txBody>
      </p:sp>
      <p:sp>
        <p:nvSpPr>
          <p:cNvPr id="7172" name="Text Box 5"/>
          <p:cNvSpPr txBox="1">
            <a:spLocks noChangeArrowheads="1"/>
          </p:cNvSpPr>
          <p:nvPr/>
        </p:nvSpPr>
        <p:spPr bwMode="auto">
          <a:xfrm>
            <a:off x="228600" y="2667000"/>
            <a:ext cx="8458200" cy="3743325"/>
          </a:xfrm>
          <a:prstGeom prst="rect">
            <a:avLst/>
          </a:prstGeom>
          <a:noFill/>
          <a:ln w="9525">
            <a:noFill/>
            <a:miter lim="800000"/>
            <a:headEnd/>
            <a:tailEnd/>
          </a:ln>
        </p:spPr>
        <p:txBody>
          <a:bodyPr>
            <a:spAutoFit/>
          </a:bodyPr>
          <a:lstStyle/>
          <a:p>
            <a:pPr algn="justLow"/>
            <a:r>
              <a:rPr lang="en-US" b="1" u="sng">
                <a:solidFill>
                  <a:schemeClr val="accent2"/>
                </a:solidFill>
              </a:rPr>
              <a:t>Step:3</a:t>
            </a:r>
            <a:endParaRPr lang="en-US" b="1">
              <a:solidFill>
                <a:schemeClr val="accent2"/>
              </a:solidFill>
            </a:endParaRPr>
          </a:p>
          <a:p>
            <a:pPr algn="justLow"/>
            <a:r>
              <a:rPr lang="en-US"/>
              <a:t>Time immediately after the DIFS (Distributed Inter-frame Space) is slotted known as idle slots where the duration of a slot is considered as the sum of the time required to sense a station and to switch the Tx from sensing / listening mode to transmitting mode.</a:t>
            </a:r>
            <a:endParaRPr lang="en-US" u="sng"/>
          </a:p>
          <a:p>
            <a:pPr algn="justLow"/>
            <a:r>
              <a:rPr lang="en-US" b="1" u="sng">
                <a:solidFill>
                  <a:schemeClr val="accent2"/>
                </a:solidFill>
              </a:rPr>
              <a:t>Step:4</a:t>
            </a:r>
            <a:r>
              <a:rPr lang="en-US" u="sng"/>
              <a:t> </a:t>
            </a:r>
            <a:endParaRPr lang="en-US"/>
          </a:p>
          <a:p>
            <a:pPr algn="justLow"/>
            <a:r>
              <a:rPr lang="en-US"/>
              <a:t>Elapsing of each idle slot the back off timer is decreased by one. If the channel is found busy before the back off timer reaches to zero then repeat the steps 1 to 3. The transmission of data from begins only if the back off timer reaches to zero.</a:t>
            </a:r>
          </a:p>
        </p:txBody>
      </p:sp>
      <p:graphicFrame>
        <p:nvGraphicFramePr>
          <p:cNvPr id="7170" name="Object 2"/>
          <p:cNvGraphicFramePr>
            <a:graphicFrameLocks noGrp="1" noChangeAspect="1"/>
          </p:cNvGraphicFramePr>
          <p:nvPr>
            <p:ph/>
          </p:nvPr>
        </p:nvGraphicFramePr>
        <p:xfrm>
          <a:off x="533400" y="0"/>
          <a:ext cx="7620000" cy="2309813"/>
        </p:xfrm>
        <a:graphic>
          <a:graphicData uri="http://schemas.openxmlformats.org/presentationml/2006/ole">
            <mc:AlternateContent xmlns:mc="http://schemas.openxmlformats.org/markup-compatibility/2006">
              <mc:Choice xmlns:v="urn:schemas-microsoft-com:vml" Requires="v">
                <p:oleObj spid="_x0000_s7220" name="Bitmap Image" r:id="rId3" imgW="5249008" imgH="1590897" progId="PBrush">
                  <p:embed/>
                </p:oleObj>
              </mc:Choice>
              <mc:Fallback>
                <p:oleObj name="Bitmap Image" r:id="rId3" imgW="5249008" imgH="1590897" progId="PBrush">
                  <p:embed/>
                  <p:pic>
                    <p:nvPicPr>
                      <p:cNvPr id="0" name="Picture 2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0"/>
                        <a:ext cx="7620000" cy="2309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Slide Number Placeholder 4"/>
          <p:cNvSpPr>
            <a:spLocks noGrp="1"/>
          </p:cNvSpPr>
          <p:nvPr>
            <p:ph type="sldNum" sz="quarter" idx="12"/>
          </p:nvPr>
        </p:nvSpPr>
        <p:spPr>
          <a:noFill/>
        </p:spPr>
        <p:txBody>
          <a:bodyPr/>
          <a:lstStyle/>
          <a:p>
            <a:fld id="{2F955CD3-5BEF-4634-B20C-EFCF750D74CF}" type="slidenum">
              <a:rPr lang="en-US" smtClean="0"/>
              <a:pPr/>
              <a:t>81</a:t>
            </a:fld>
            <a:endParaRPr lang="en-US"/>
          </a:p>
        </p:txBody>
      </p:sp>
      <p:sp>
        <p:nvSpPr>
          <p:cNvPr id="8196" name="Text Box 4"/>
          <p:cNvSpPr txBox="1">
            <a:spLocks noChangeArrowheads="1"/>
          </p:cNvSpPr>
          <p:nvPr/>
        </p:nvSpPr>
        <p:spPr bwMode="auto">
          <a:xfrm>
            <a:off x="304800" y="2819400"/>
            <a:ext cx="8382000" cy="3786188"/>
          </a:xfrm>
          <a:prstGeom prst="rect">
            <a:avLst/>
          </a:prstGeom>
          <a:noFill/>
          <a:ln w="9525">
            <a:noFill/>
            <a:miter lim="800000"/>
            <a:headEnd/>
            <a:tailEnd/>
          </a:ln>
        </p:spPr>
        <p:txBody>
          <a:bodyPr>
            <a:spAutoFit/>
          </a:bodyPr>
          <a:lstStyle/>
          <a:p>
            <a:pPr algn="justLow"/>
            <a:r>
              <a:rPr lang="en-US" b="1" u="sng" dirty="0">
                <a:solidFill>
                  <a:schemeClr val="accent2"/>
                </a:solidFill>
              </a:rPr>
              <a:t>Step:5</a:t>
            </a:r>
            <a:endParaRPr lang="en-US" dirty="0"/>
          </a:p>
          <a:p>
            <a:pPr algn="justLow">
              <a:buFont typeface="Wingdings" pitchFamily="2" charset="2"/>
              <a:buChar char="ü"/>
            </a:pPr>
            <a:r>
              <a:rPr lang="en-US" dirty="0"/>
              <a:t>To determine whether a data frame transmission is successful, after its completion, a positive acknowledgement (ACK) is transmitted by the receiver. ACK is transmitted after a </a:t>
            </a:r>
            <a:r>
              <a:rPr lang="en-US" dirty="0">
                <a:solidFill>
                  <a:schemeClr val="accent2"/>
                </a:solidFill>
              </a:rPr>
              <a:t>short </a:t>
            </a:r>
            <a:r>
              <a:rPr lang="en-US" dirty="0" err="1">
                <a:solidFill>
                  <a:schemeClr val="accent2"/>
                </a:solidFill>
              </a:rPr>
              <a:t>interframe</a:t>
            </a:r>
            <a:r>
              <a:rPr lang="en-US" dirty="0">
                <a:solidFill>
                  <a:schemeClr val="accent2"/>
                </a:solidFill>
              </a:rPr>
              <a:t> space</a:t>
            </a:r>
            <a:r>
              <a:rPr lang="en-US" dirty="0"/>
              <a:t> (</a:t>
            </a:r>
            <a:r>
              <a:rPr lang="en-US" dirty="0">
                <a:solidFill>
                  <a:schemeClr val="accent2"/>
                </a:solidFill>
              </a:rPr>
              <a:t>SIFS</a:t>
            </a:r>
            <a:r>
              <a:rPr lang="en-US" dirty="0"/>
              <a:t>) period upon receiving the entire data frame successfully. </a:t>
            </a:r>
          </a:p>
          <a:p>
            <a:pPr algn="justLow"/>
            <a:endParaRPr lang="en-US" dirty="0"/>
          </a:p>
          <a:p>
            <a:pPr algn="justLow">
              <a:buFont typeface="Wingdings" pitchFamily="2" charset="2"/>
              <a:buChar char="ü"/>
            </a:pPr>
            <a:r>
              <a:rPr lang="en-US" dirty="0"/>
              <a:t>If ACK is not detected within an SIFS period after the completion of the data frame transmission, the transmission is assumed to be unsuccessful, and a retransmission is required.</a:t>
            </a:r>
          </a:p>
        </p:txBody>
      </p:sp>
      <p:graphicFrame>
        <p:nvGraphicFramePr>
          <p:cNvPr id="8194" name="Object 2"/>
          <p:cNvGraphicFramePr>
            <a:graphicFrameLocks noGrp="1" noChangeAspect="1"/>
          </p:cNvGraphicFramePr>
          <p:nvPr>
            <p:ph/>
          </p:nvPr>
        </p:nvGraphicFramePr>
        <p:xfrm>
          <a:off x="609600" y="228600"/>
          <a:ext cx="7162800" cy="2171700"/>
        </p:xfrm>
        <a:graphic>
          <a:graphicData uri="http://schemas.openxmlformats.org/presentationml/2006/ole">
            <mc:AlternateContent xmlns:mc="http://schemas.openxmlformats.org/markup-compatibility/2006">
              <mc:Choice xmlns:v="urn:schemas-microsoft-com:vml" Requires="v">
                <p:oleObj spid="_x0000_s8244" name="Bitmap Image" r:id="rId3" imgW="5249008" imgH="1590897" progId="PBrush">
                  <p:embed/>
                </p:oleObj>
              </mc:Choice>
              <mc:Fallback>
                <p:oleObj name="Bitmap Image" r:id="rId3" imgW="5249008" imgH="1590897" progId="PBrush">
                  <p:embed/>
                  <p:pic>
                    <p:nvPicPr>
                      <p:cNvPr id="0" name="Picture 2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228600"/>
                        <a:ext cx="7162800" cy="217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4"/>
          <p:cNvSpPr>
            <a:spLocks noGrp="1"/>
          </p:cNvSpPr>
          <p:nvPr>
            <p:ph type="sldNum" sz="quarter" idx="12"/>
          </p:nvPr>
        </p:nvSpPr>
        <p:spPr>
          <a:noFill/>
        </p:spPr>
        <p:txBody>
          <a:bodyPr/>
          <a:lstStyle/>
          <a:p>
            <a:fld id="{9727B525-5B42-4CF3-A2B1-C0465129726C}" type="slidenum">
              <a:rPr lang="en-US" smtClean="0"/>
              <a:pPr/>
              <a:t>82</a:t>
            </a:fld>
            <a:endParaRPr lang="en-US"/>
          </a:p>
        </p:txBody>
      </p:sp>
      <p:sp>
        <p:nvSpPr>
          <p:cNvPr id="62467" name="Text Box 4"/>
          <p:cNvSpPr txBox="1">
            <a:spLocks noChangeArrowheads="1"/>
          </p:cNvSpPr>
          <p:nvPr/>
        </p:nvSpPr>
        <p:spPr bwMode="auto">
          <a:xfrm>
            <a:off x="228600" y="1219200"/>
            <a:ext cx="8686800" cy="4968875"/>
          </a:xfrm>
          <a:prstGeom prst="rect">
            <a:avLst/>
          </a:prstGeom>
          <a:solidFill>
            <a:srgbClr val="FFFF66"/>
          </a:solidFill>
          <a:ln w="9525">
            <a:noFill/>
            <a:miter lim="800000"/>
            <a:headEnd/>
            <a:tailEnd/>
          </a:ln>
        </p:spPr>
        <p:txBody>
          <a:bodyPr>
            <a:spAutoFit/>
          </a:bodyPr>
          <a:lstStyle/>
          <a:p>
            <a:pPr algn="just">
              <a:buFont typeface="Wingdings" pitchFamily="2" charset="2"/>
              <a:buChar char="ü"/>
            </a:pPr>
            <a:r>
              <a:rPr lang="en-US" sz="2000"/>
              <a:t>The main contribution of Bianchi’s model is the analytical calculation of saturation throughput in a closed-form expression. The model also calculates the probability of a packet  transmission failure due to collision. </a:t>
            </a:r>
          </a:p>
          <a:p>
            <a:pPr algn="just"/>
            <a:endParaRPr lang="en-US" sz="2000"/>
          </a:p>
          <a:p>
            <a:pPr algn="just">
              <a:buFont typeface="Wingdings" pitchFamily="2" charset="2"/>
              <a:buChar char="ü"/>
            </a:pPr>
            <a:r>
              <a:rPr lang="en-US" sz="2000"/>
              <a:t>Bianchi uses a two-dimensional Markov chain of </a:t>
            </a:r>
            <a:r>
              <a:rPr lang="en-US" sz="2000" i="1"/>
              <a:t>m</a:t>
            </a:r>
            <a:r>
              <a:rPr lang="en-US" sz="2000"/>
              <a:t> + 1 backoff stages in which each stage represents the backoff time counter of a node, see Figure below. </a:t>
            </a:r>
          </a:p>
          <a:p>
            <a:pPr algn="just"/>
            <a:endParaRPr lang="en-US" sz="2000"/>
          </a:p>
          <a:p>
            <a:pPr algn="just">
              <a:buFont typeface="Wingdings" pitchFamily="2" charset="2"/>
              <a:buChar char="ü"/>
            </a:pPr>
            <a:r>
              <a:rPr lang="en-US" sz="2000"/>
              <a:t>A transition takes place upon collision and successful transmission. If collision takes place probability state moves to  to a “higher” stage e.g., from stage </a:t>
            </a:r>
            <a:r>
              <a:rPr lang="en-US" sz="2000" i="1"/>
              <a:t>i</a:t>
            </a:r>
            <a:r>
              <a:rPr lang="en-US" sz="2000"/>
              <a:t>-1 to stage </a:t>
            </a:r>
            <a:r>
              <a:rPr lang="en-US" sz="2000" i="1"/>
              <a:t>i. </a:t>
            </a:r>
            <a:r>
              <a:rPr lang="en-US" sz="2000"/>
              <a:t>When a successful transmission occurs then  state goes to the lowest stage i.e., stage 0. </a:t>
            </a:r>
          </a:p>
          <a:p>
            <a:pPr algn="just"/>
            <a:endParaRPr lang="en-US" sz="2000"/>
          </a:p>
          <a:p>
            <a:pPr algn="just">
              <a:buFont typeface="Wingdings" pitchFamily="2" charset="2"/>
              <a:buChar char="ü"/>
            </a:pPr>
            <a:r>
              <a:rPr lang="en-US" sz="2000"/>
              <a:t>Each state of this bidimensional Markov process is represented by </a:t>
            </a:r>
            <a:r>
              <a:rPr lang="en-US" sz="2000" i="1"/>
              <a:t>{s(t), b(t)},</a:t>
            </a:r>
            <a:r>
              <a:rPr lang="en-US" sz="2000"/>
              <a:t> where </a:t>
            </a:r>
            <a:r>
              <a:rPr lang="en-US" sz="2000" i="1"/>
              <a:t>b(t)</a:t>
            </a:r>
            <a:r>
              <a:rPr lang="en-US" sz="2000"/>
              <a:t> is the stochastic process representing the backoff time counter for a given station and </a:t>
            </a:r>
            <a:r>
              <a:rPr lang="en-US" sz="2000" i="1"/>
              <a:t>s(t)</a:t>
            </a:r>
            <a:r>
              <a:rPr lang="en-US" sz="2000"/>
              <a:t> is the stochastic process representing the backoff stage (0, 1, · · · ,</a:t>
            </a:r>
            <a:r>
              <a:rPr lang="en-US" sz="2000" i="1"/>
              <a:t>m</a:t>
            </a:r>
            <a:r>
              <a:rPr lang="en-US" sz="2000"/>
              <a:t>) of the station at time </a:t>
            </a:r>
            <a:r>
              <a:rPr lang="en-US" sz="2000" i="1"/>
              <a:t>t</a:t>
            </a:r>
            <a:r>
              <a:rPr lang="en-US" sz="2000"/>
              <a:t>.</a:t>
            </a:r>
          </a:p>
        </p:txBody>
      </p:sp>
      <p:sp>
        <p:nvSpPr>
          <p:cNvPr id="62468" name="Text Box 8"/>
          <p:cNvSpPr txBox="1">
            <a:spLocks noChangeArrowheads="1"/>
          </p:cNvSpPr>
          <p:nvPr/>
        </p:nvSpPr>
        <p:spPr bwMode="auto">
          <a:xfrm>
            <a:off x="2743200" y="228600"/>
            <a:ext cx="3352800" cy="701675"/>
          </a:xfrm>
          <a:prstGeom prst="rect">
            <a:avLst/>
          </a:prstGeom>
          <a:solidFill>
            <a:srgbClr val="FF99FF"/>
          </a:solidFill>
          <a:ln w="9525">
            <a:noFill/>
            <a:miter lim="800000"/>
            <a:headEnd/>
            <a:tailEnd/>
          </a:ln>
        </p:spPr>
        <p:txBody>
          <a:bodyPr>
            <a:spAutoFit/>
          </a:bodyPr>
          <a:lstStyle/>
          <a:p>
            <a:pPr>
              <a:spcBef>
                <a:spcPct val="50000"/>
              </a:spcBef>
            </a:pPr>
            <a:r>
              <a:rPr lang="en-US" sz="4000"/>
              <a:t>Bianchi Model</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5"/>
          <p:cNvSpPr>
            <a:spLocks noGrp="1"/>
          </p:cNvSpPr>
          <p:nvPr>
            <p:ph type="sldNum" sz="quarter" idx="12"/>
          </p:nvPr>
        </p:nvSpPr>
        <p:spPr>
          <a:noFill/>
        </p:spPr>
        <p:txBody>
          <a:bodyPr/>
          <a:lstStyle/>
          <a:p>
            <a:fld id="{B1CE6C20-BDA5-4481-8F02-98715EDECA21}" type="slidenum">
              <a:rPr lang="en-US" smtClean="0"/>
              <a:pPr/>
              <a:t>83</a:t>
            </a:fld>
            <a:endParaRPr lang="en-US"/>
          </a:p>
        </p:txBody>
      </p:sp>
      <p:grpSp>
        <p:nvGrpSpPr>
          <p:cNvPr id="63491" name="Group 111"/>
          <p:cNvGrpSpPr>
            <a:grpSpLocks/>
          </p:cNvGrpSpPr>
          <p:nvPr/>
        </p:nvGrpSpPr>
        <p:grpSpPr bwMode="auto">
          <a:xfrm>
            <a:off x="152400" y="76200"/>
            <a:ext cx="8763000" cy="6248400"/>
            <a:chOff x="240" y="144"/>
            <a:chExt cx="5088" cy="3936"/>
          </a:xfrm>
        </p:grpSpPr>
        <p:grpSp>
          <p:nvGrpSpPr>
            <p:cNvPr id="63493" name="Group 4"/>
            <p:cNvGrpSpPr>
              <a:grpSpLocks/>
            </p:cNvGrpSpPr>
            <p:nvPr/>
          </p:nvGrpSpPr>
          <p:grpSpPr bwMode="auto">
            <a:xfrm>
              <a:off x="240" y="144"/>
              <a:ext cx="5088" cy="3936"/>
              <a:chOff x="540" y="1188"/>
              <a:chExt cx="12885" cy="12597"/>
            </a:xfrm>
          </p:grpSpPr>
          <p:grpSp>
            <p:nvGrpSpPr>
              <p:cNvPr id="63496" name="Group 5"/>
              <p:cNvGrpSpPr>
                <a:grpSpLocks/>
              </p:cNvGrpSpPr>
              <p:nvPr/>
            </p:nvGrpSpPr>
            <p:grpSpPr bwMode="auto">
              <a:xfrm>
                <a:off x="540" y="1188"/>
                <a:ext cx="12885" cy="12597"/>
                <a:chOff x="540" y="1188"/>
                <a:chExt cx="12885" cy="12597"/>
              </a:xfrm>
            </p:grpSpPr>
            <p:sp>
              <p:nvSpPr>
                <p:cNvPr id="63500" name="Line 6"/>
                <p:cNvSpPr>
                  <a:spLocks noChangeShapeType="1"/>
                </p:cNvSpPr>
                <p:nvPr/>
              </p:nvSpPr>
              <p:spPr bwMode="auto">
                <a:xfrm flipH="1">
                  <a:off x="540" y="10200"/>
                  <a:ext cx="540" cy="0"/>
                </a:xfrm>
                <a:prstGeom prst="line">
                  <a:avLst/>
                </a:prstGeom>
                <a:noFill/>
                <a:ln w="9525">
                  <a:solidFill>
                    <a:srgbClr val="000000"/>
                  </a:solidFill>
                  <a:round/>
                  <a:headEnd/>
                  <a:tailEnd type="triangle" w="med" len="med"/>
                </a:ln>
              </p:spPr>
              <p:txBody>
                <a:bodyPr/>
                <a:lstStyle/>
                <a:p>
                  <a:endParaRPr lang="en-US"/>
                </a:p>
              </p:txBody>
            </p:sp>
            <p:sp>
              <p:nvSpPr>
                <p:cNvPr id="63501" name="Line 7"/>
                <p:cNvSpPr>
                  <a:spLocks noChangeShapeType="1"/>
                </p:cNvSpPr>
                <p:nvPr/>
              </p:nvSpPr>
              <p:spPr bwMode="auto">
                <a:xfrm flipH="1">
                  <a:off x="540" y="5720"/>
                  <a:ext cx="540" cy="0"/>
                </a:xfrm>
                <a:prstGeom prst="line">
                  <a:avLst/>
                </a:prstGeom>
                <a:noFill/>
                <a:ln w="9525">
                  <a:solidFill>
                    <a:srgbClr val="000000"/>
                  </a:solidFill>
                  <a:round/>
                  <a:headEnd/>
                  <a:tailEnd type="triangle" w="med" len="med"/>
                </a:ln>
              </p:spPr>
              <p:txBody>
                <a:bodyPr/>
                <a:lstStyle/>
                <a:p>
                  <a:endParaRPr lang="en-US"/>
                </a:p>
              </p:txBody>
            </p:sp>
            <p:grpSp>
              <p:nvGrpSpPr>
                <p:cNvPr id="63502" name="Group 8"/>
                <p:cNvGrpSpPr>
                  <a:grpSpLocks/>
                </p:cNvGrpSpPr>
                <p:nvPr/>
              </p:nvGrpSpPr>
              <p:grpSpPr bwMode="auto">
                <a:xfrm>
                  <a:off x="580" y="1188"/>
                  <a:ext cx="12845" cy="12597"/>
                  <a:chOff x="580" y="1188"/>
                  <a:chExt cx="12845" cy="12597"/>
                </a:xfrm>
              </p:grpSpPr>
              <p:grpSp>
                <p:nvGrpSpPr>
                  <p:cNvPr id="63504" name="Group 9"/>
                  <p:cNvGrpSpPr>
                    <a:grpSpLocks/>
                  </p:cNvGrpSpPr>
                  <p:nvPr/>
                </p:nvGrpSpPr>
                <p:grpSpPr bwMode="auto">
                  <a:xfrm>
                    <a:off x="1140" y="9828"/>
                    <a:ext cx="12285" cy="2700"/>
                    <a:chOff x="1845" y="3780"/>
                    <a:chExt cx="12285" cy="2700"/>
                  </a:xfrm>
                </p:grpSpPr>
                <p:grpSp>
                  <p:nvGrpSpPr>
                    <p:cNvPr id="63577" name="Group 10"/>
                    <p:cNvGrpSpPr>
                      <a:grpSpLocks/>
                    </p:cNvGrpSpPr>
                    <p:nvPr/>
                  </p:nvGrpSpPr>
                  <p:grpSpPr bwMode="auto">
                    <a:xfrm>
                      <a:off x="1980" y="4500"/>
                      <a:ext cx="12150" cy="1980"/>
                      <a:chOff x="2160" y="360"/>
                      <a:chExt cx="12150" cy="1980"/>
                    </a:xfrm>
                  </p:grpSpPr>
                  <p:sp>
                    <p:nvSpPr>
                      <p:cNvPr id="63579" name="Oval 11"/>
                      <p:cNvSpPr>
                        <a:spLocks noChangeArrowheads="1"/>
                      </p:cNvSpPr>
                      <p:nvPr/>
                    </p:nvSpPr>
                    <p:spPr bwMode="auto">
                      <a:xfrm>
                        <a:off x="2160" y="1620"/>
                        <a:ext cx="1260" cy="720"/>
                      </a:xfrm>
                      <a:prstGeom prst="ellipse">
                        <a:avLst/>
                      </a:prstGeom>
                      <a:solidFill>
                        <a:srgbClr val="FFFF66"/>
                      </a:solidFill>
                      <a:ln w="9525">
                        <a:solidFill>
                          <a:srgbClr val="000000"/>
                        </a:solidFill>
                        <a:round/>
                        <a:headEnd/>
                        <a:tailEnd/>
                      </a:ln>
                    </p:spPr>
                    <p:txBody>
                      <a:bodyPr/>
                      <a:lstStyle/>
                      <a:p>
                        <a:r>
                          <a:rPr lang="en-US" sz="1200"/>
                          <a:t>(m,0)</a:t>
                        </a:r>
                        <a:endParaRPr lang="en-US"/>
                      </a:p>
                    </p:txBody>
                  </p:sp>
                  <p:sp>
                    <p:nvSpPr>
                      <p:cNvPr id="63580" name="Oval 12"/>
                      <p:cNvSpPr>
                        <a:spLocks noChangeArrowheads="1"/>
                      </p:cNvSpPr>
                      <p:nvPr/>
                    </p:nvSpPr>
                    <p:spPr bwMode="auto">
                      <a:xfrm>
                        <a:off x="4320" y="1620"/>
                        <a:ext cx="1260" cy="720"/>
                      </a:xfrm>
                      <a:prstGeom prst="ellipse">
                        <a:avLst/>
                      </a:prstGeom>
                      <a:solidFill>
                        <a:srgbClr val="FFFF66"/>
                      </a:solidFill>
                      <a:ln w="9525">
                        <a:solidFill>
                          <a:srgbClr val="000000"/>
                        </a:solidFill>
                        <a:round/>
                        <a:headEnd/>
                        <a:tailEnd/>
                      </a:ln>
                    </p:spPr>
                    <p:txBody>
                      <a:bodyPr/>
                      <a:lstStyle/>
                      <a:p>
                        <a:r>
                          <a:rPr lang="en-US" sz="1200"/>
                          <a:t>(m,1)</a:t>
                        </a:r>
                        <a:endParaRPr lang="en-US"/>
                      </a:p>
                    </p:txBody>
                  </p:sp>
                  <p:sp>
                    <p:nvSpPr>
                      <p:cNvPr id="63581" name="Oval 13"/>
                      <p:cNvSpPr>
                        <a:spLocks noChangeArrowheads="1"/>
                      </p:cNvSpPr>
                      <p:nvPr/>
                    </p:nvSpPr>
                    <p:spPr bwMode="auto">
                      <a:xfrm>
                        <a:off x="6540" y="1620"/>
                        <a:ext cx="1260" cy="720"/>
                      </a:xfrm>
                      <a:prstGeom prst="ellipse">
                        <a:avLst/>
                      </a:prstGeom>
                      <a:solidFill>
                        <a:srgbClr val="FFFF66"/>
                      </a:solidFill>
                      <a:ln w="9525">
                        <a:solidFill>
                          <a:srgbClr val="000000"/>
                        </a:solidFill>
                        <a:round/>
                        <a:headEnd/>
                        <a:tailEnd/>
                      </a:ln>
                    </p:spPr>
                    <p:txBody>
                      <a:bodyPr/>
                      <a:lstStyle/>
                      <a:p>
                        <a:r>
                          <a:rPr lang="en-US" sz="1200"/>
                          <a:t>(m,2)</a:t>
                        </a:r>
                        <a:endParaRPr lang="en-US"/>
                      </a:p>
                    </p:txBody>
                  </p:sp>
                  <p:sp>
                    <p:nvSpPr>
                      <p:cNvPr id="63582" name="Oval 14"/>
                      <p:cNvSpPr>
                        <a:spLocks noChangeArrowheads="1"/>
                      </p:cNvSpPr>
                      <p:nvPr/>
                    </p:nvSpPr>
                    <p:spPr bwMode="auto">
                      <a:xfrm>
                        <a:off x="10080" y="1620"/>
                        <a:ext cx="1620" cy="720"/>
                      </a:xfrm>
                      <a:prstGeom prst="ellipse">
                        <a:avLst/>
                      </a:prstGeom>
                      <a:solidFill>
                        <a:srgbClr val="FFFF66"/>
                      </a:solidFill>
                      <a:ln w="9525">
                        <a:solidFill>
                          <a:srgbClr val="000000"/>
                        </a:solidFill>
                        <a:round/>
                        <a:headEnd/>
                        <a:tailEnd/>
                      </a:ln>
                    </p:spPr>
                    <p:txBody>
                      <a:bodyPr/>
                      <a:lstStyle/>
                      <a:p>
                        <a:r>
                          <a:rPr lang="en-US" sz="1000"/>
                          <a:t>(m,CW</a:t>
                        </a:r>
                        <a:r>
                          <a:rPr lang="en-US" sz="1000" baseline="-25000"/>
                          <a:t>m</a:t>
                        </a:r>
                        <a:r>
                          <a:rPr lang="en-US" sz="1000"/>
                          <a:t>-2)</a:t>
                        </a:r>
                        <a:endParaRPr lang="en-US"/>
                      </a:p>
                    </p:txBody>
                  </p:sp>
                  <p:sp>
                    <p:nvSpPr>
                      <p:cNvPr id="63583" name="Oval 15"/>
                      <p:cNvSpPr>
                        <a:spLocks noChangeArrowheads="1"/>
                      </p:cNvSpPr>
                      <p:nvPr/>
                    </p:nvSpPr>
                    <p:spPr bwMode="auto">
                      <a:xfrm>
                        <a:off x="12690" y="1620"/>
                        <a:ext cx="1620" cy="720"/>
                      </a:xfrm>
                      <a:prstGeom prst="ellipse">
                        <a:avLst/>
                      </a:prstGeom>
                      <a:solidFill>
                        <a:srgbClr val="FFFF66"/>
                      </a:solidFill>
                      <a:ln w="9525">
                        <a:solidFill>
                          <a:srgbClr val="000000"/>
                        </a:solidFill>
                        <a:round/>
                        <a:headEnd/>
                        <a:tailEnd/>
                      </a:ln>
                    </p:spPr>
                    <p:txBody>
                      <a:bodyPr/>
                      <a:lstStyle/>
                      <a:p>
                        <a:r>
                          <a:rPr lang="en-US" sz="1000"/>
                          <a:t>(m,CW</a:t>
                        </a:r>
                        <a:r>
                          <a:rPr lang="en-US" sz="1000" baseline="-25000"/>
                          <a:t>m</a:t>
                        </a:r>
                        <a:r>
                          <a:rPr lang="en-US" sz="1000"/>
                          <a:t>-1)</a:t>
                        </a:r>
                        <a:endParaRPr lang="en-US"/>
                      </a:p>
                    </p:txBody>
                  </p:sp>
                  <p:sp>
                    <p:nvSpPr>
                      <p:cNvPr id="63584" name="Line 16"/>
                      <p:cNvSpPr>
                        <a:spLocks noChangeShapeType="1"/>
                      </p:cNvSpPr>
                      <p:nvPr/>
                    </p:nvSpPr>
                    <p:spPr bwMode="auto">
                      <a:xfrm flipH="1">
                        <a:off x="3420" y="1980"/>
                        <a:ext cx="900" cy="0"/>
                      </a:xfrm>
                      <a:prstGeom prst="line">
                        <a:avLst/>
                      </a:prstGeom>
                      <a:noFill/>
                      <a:ln w="9525">
                        <a:solidFill>
                          <a:srgbClr val="000000"/>
                        </a:solidFill>
                        <a:round/>
                        <a:headEnd/>
                        <a:tailEnd type="triangle" w="med" len="med"/>
                      </a:ln>
                    </p:spPr>
                    <p:txBody>
                      <a:bodyPr/>
                      <a:lstStyle/>
                      <a:p>
                        <a:endParaRPr lang="en-US"/>
                      </a:p>
                    </p:txBody>
                  </p:sp>
                  <p:sp>
                    <p:nvSpPr>
                      <p:cNvPr id="63585" name="Line 17"/>
                      <p:cNvSpPr>
                        <a:spLocks noChangeShapeType="1"/>
                      </p:cNvSpPr>
                      <p:nvPr/>
                    </p:nvSpPr>
                    <p:spPr bwMode="auto">
                      <a:xfrm flipH="1">
                        <a:off x="5565" y="1980"/>
                        <a:ext cx="900" cy="0"/>
                      </a:xfrm>
                      <a:prstGeom prst="line">
                        <a:avLst/>
                      </a:prstGeom>
                      <a:noFill/>
                      <a:ln w="9525">
                        <a:solidFill>
                          <a:srgbClr val="000000"/>
                        </a:solidFill>
                        <a:round/>
                        <a:headEnd/>
                        <a:tailEnd type="triangle" w="med" len="med"/>
                      </a:ln>
                    </p:spPr>
                    <p:txBody>
                      <a:bodyPr/>
                      <a:lstStyle/>
                      <a:p>
                        <a:endParaRPr lang="en-US"/>
                      </a:p>
                    </p:txBody>
                  </p:sp>
                  <p:sp>
                    <p:nvSpPr>
                      <p:cNvPr id="63586" name="Line 18"/>
                      <p:cNvSpPr>
                        <a:spLocks noChangeShapeType="1"/>
                      </p:cNvSpPr>
                      <p:nvPr/>
                    </p:nvSpPr>
                    <p:spPr bwMode="auto">
                      <a:xfrm flipH="1">
                        <a:off x="9180" y="1980"/>
                        <a:ext cx="900" cy="0"/>
                      </a:xfrm>
                      <a:prstGeom prst="line">
                        <a:avLst/>
                      </a:prstGeom>
                      <a:noFill/>
                      <a:ln w="9525">
                        <a:solidFill>
                          <a:srgbClr val="000000"/>
                        </a:solidFill>
                        <a:round/>
                        <a:headEnd/>
                        <a:tailEnd type="triangle" w="med" len="med"/>
                      </a:ln>
                    </p:spPr>
                    <p:txBody>
                      <a:bodyPr/>
                      <a:lstStyle/>
                      <a:p>
                        <a:endParaRPr lang="en-US"/>
                      </a:p>
                    </p:txBody>
                  </p:sp>
                  <p:sp>
                    <p:nvSpPr>
                      <p:cNvPr id="63587" name="Line 19"/>
                      <p:cNvSpPr>
                        <a:spLocks noChangeShapeType="1"/>
                      </p:cNvSpPr>
                      <p:nvPr/>
                    </p:nvSpPr>
                    <p:spPr bwMode="auto">
                      <a:xfrm flipH="1">
                        <a:off x="11700" y="1980"/>
                        <a:ext cx="900" cy="0"/>
                      </a:xfrm>
                      <a:prstGeom prst="line">
                        <a:avLst/>
                      </a:prstGeom>
                      <a:noFill/>
                      <a:ln w="9525">
                        <a:solidFill>
                          <a:srgbClr val="000000"/>
                        </a:solidFill>
                        <a:round/>
                        <a:headEnd/>
                        <a:tailEnd type="triangle" w="med" len="med"/>
                      </a:ln>
                    </p:spPr>
                    <p:txBody>
                      <a:bodyPr/>
                      <a:lstStyle/>
                      <a:p>
                        <a:endParaRPr lang="en-US"/>
                      </a:p>
                    </p:txBody>
                  </p:sp>
                  <p:sp>
                    <p:nvSpPr>
                      <p:cNvPr id="63588" name="Oval 20"/>
                      <p:cNvSpPr>
                        <a:spLocks noChangeArrowheads="1"/>
                      </p:cNvSpPr>
                      <p:nvPr/>
                    </p:nvSpPr>
                    <p:spPr bwMode="auto">
                      <a:xfrm>
                        <a:off x="2610" y="360"/>
                        <a:ext cx="180" cy="180"/>
                      </a:xfrm>
                      <a:prstGeom prst="ellipse">
                        <a:avLst/>
                      </a:prstGeom>
                      <a:solidFill>
                        <a:srgbClr val="333333"/>
                      </a:solidFill>
                      <a:ln w="9525">
                        <a:solidFill>
                          <a:srgbClr val="000000"/>
                        </a:solidFill>
                        <a:round/>
                        <a:headEnd/>
                        <a:tailEnd/>
                      </a:ln>
                    </p:spPr>
                    <p:txBody>
                      <a:bodyPr/>
                      <a:lstStyle/>
                      <a:p>
                        <a:endParaRPr lang="en-US"/>
                      </a:p>
                    </p:txBody>
                  </p:sp>
                  <p:sp>
                    <p:nvSpPr>
                      <p:cNvPr id="63589" name="Line 21"/>
                      <p:cNvSpPr>
                        <a:spLocks noChangeShapeType="1"/>
                      </p:cNvSpPr>
                      <p:nvPr/>
                    </p:nvSpPr>
                    <p:spPr bwMode="auto">
                      <a:xfrm>
                        <a:off x="2700" y="540"/>
                        <a:ext cx="0" cy="1080"/>
                      </a:xfrm>
                      <a:prstGeom prst="line">
                        <a:avLst/>
                      </a:prstGeom>
                      <a:noFill/>
                      <a:ln w="9525">
                        <a:solidFill>
                          <a:srgbClr val="000000"/>
                        </a:solidFill>
                        <a:round/>
                        <a:headEnd/>
                        <a:tailEnd type="triangle" w="med" len="med"/>
                      </a:ln>
                    </p:spPr>
                    <p:txBody>
                      <a:bodyPr/>
                      <a:lstStyle/>
                      <a:p>
                        <a:endParaRPr lang="en-US"/>
                      </a:p>
                    </p:txBody>
                  </p:sp>
                  <p:sp>
                    <p:nvSpPr>
                      <p:cNvPr id="63590" name="Line 22"/>
                      <p:cNvSpPr>
                        <a:spLocks noChangeShapeType="1"/>
                      </p:cNvSpPr>
                      <p:nvPr/>
                    </p:nvSpPr>
                    <p:spPr bwMode="auto">
                      <a:xfrm>
                        <a:off x="2700" y="540"/>
                        <a:ext cx="1800" cy="1080"/>
                      </a:xfrm>
                      <a:prstGeom prst="line">
                        <a:avLst/>
                      </a:prstGeom>
                      <a:noFill/>
                      <a:ln w="9525">
                        <a:solidFill>
                          <a:srgbClr val="000000"/>
                        </a:solidFill>
                        <a:round/>
                        <a:headEnd/>
                        <a:tailEnd type="triangle" w="med" len="med"/>
                      </a:ln>
                    </p:spPr>
                    <p:txBody>
                      <a:bodyPr/>
                      <a:lstStyle/>
                      <a:p>
                        <a:endParaRPr lang="en-US"/>
                      </a:p>
                    </p:txBody>
                  </p:sp>
                  <p:sp>
                    <p:nvSpPr>
                      <p:cNvPr id="63591" name="Line 23"/>
                      <p:cNvSpPr>
                        <a:spLocks noChangeShapeType="1"/>
                      </p:cNvSpPr>
                      <p:nvPr/>
                    </p:nvSpPr>
                    <p:spPr bwMode="auto">
                      <a:xfrm>
                        <a:off x="2700" y="540"/>
                        <a:ext cx="3960" cy="1080"/>
                      </a:xfrm>
                      <a:prstGeom prst="line">
                        <a:avLst/>
                      </a:prstGeom>
                      <a:noFill/>
                      <a:ln w="9525">
                        <a:solidFill>
                          <a:srgbClr val="000000"/>
                        </a:solidFill>
                        <a:round/>
                        <a:headEnd/>
                        <a:tailEnd type="triangle" w="med" len="med"/>
                      </a:ln>
                    </p:spPr>
                    <p:txBody>
                      <a:bodyPr/>
                      <a:lstStyle/>
                      <a:p>
                        <a:endParaRPr lang="en-US"/>
                      </a:p>
                    </p:txBody>
                  </p:sp>
                  <p:sp>
                    <p:nvSpPr>
                      <p:cNvPr id="63592" name="Line 24"/>
                      <p:cNvSpPr>
                        <a:spLocks noChangeShapeType="1"/>
                      </p:cNvSpPr>
                      <p:nvPr/>
                    </p:nvSpPr>
                    <p:spPr bwMode="auto">
                      <a:xfrm>
                        <a:off x="2700" y="540"/>
                        <a:ext cx="7560" cy="1080"/>
                      </a:xfrm>
                      <a:prstGeom prst="line">
                        <a:avLst/>
                      </a:prstGeom>
                      <a:noFill/>
                      <a:ln w="9525">
                        <a:solidFill>
                          <a:srgbClr val="000000"/>
                        </a:solidFill>
                        <a:round/>
                        <a:headEnd/>
                        <a:tailEnd type="triangle" w="med" len="med"/>
                      </a:ln>
                    </p:spPr>
                    <p:txBody>
                      <a:bodyPr/>
                      <a:lstStyle/>
                      <a:p>
                        <a:endParaRPr lang="en-US"/>
                      </a:p>
                    </p:txBody>
                  </p:sp>
                  <p:sp>
                    <p:nvSpPr>
                      <p:cNvPr id="63593" name="Line 25"/>
                      <p:cNvSpPr>
                        <a:spLocks noChangeShapeType="1"/>
                      </p:cNvSpPr>
                      <p:nvPr/>
                    </p:nvSpPr>
                    <p:spPr bwMode="auto">
                      <a:xfrm>
                        <a:off x="2700" y="540"/>
                        <a:ext cx="10260" cy="1080"/>
                      </a:xfrm>
                      <a:prstGeom prst="line">
                        <a:avLst/>
                      </a:prstGeom>
                      <a:noFill/>
                      <a:ln w="9525">
                        <a:solidFill>
                          <a:srgbClr val="000000"/>
                        </a:solidFill>
                        <a:round/>
                        <a:headEnd/>
                        <a:tailEnd type="triangle" w="med" len="med"/>
                      </a:ln>
                    </p:spPr>
                    <p:txBody>
                      <a:bodyPr/>
                      <a:lstStyle/>
                      <a:p>
                        <a:endParaRPr lang="en-US"/>
                      </a:p>
                    </p:txBody>
                  </p:sp>
                  <p:sp>
                    <p:nvSpPr>
                      <p:cNvPr id="63594" name="Text Box 26"/>
                      <p:cNvSpPr txBox="1">
                        <a:spLocks noChangeArrowheads="1"/>
                      </p:cNvSpPr>
                      <p:nvPr/>
                    </p:nvSpPr>
                    <p:spPr bwMode="auto">
                      <a:xfrm>
                        <a:off x="7920" y="1800"/>
                        <a:ext cx="1080" cy="540"/>
                      </a:xfrm>
                      <a:prstGeom prst="rect">
                        <a:avLst/>
                      </a:prstGeom>
                      <a:solidFill>
                        <a:srgbClr val="FFFFFF">
                          <a:alpha val="0"/>
                        </a:srgbClr>
                      </a:solidFill>
                      <a:ln w="9525">
                        <a:noFill/>
                        <a:miter lim="800000"/>
                        <a:headEnd/>
                        <a:tailEnd/>
                      </a:ln>
                    </p:spPr>
                    <p:txBody>
                      <a:bodyPr/>
                      <a:lstStyle/>
                      <a:p>
                        <a:r>
                          <a:rPr lang="en-US" sz="1200"/>
                          <a:t>……….</a:t>
                        </a:r>
                        <a:endParaRPr lang="en-US"/>
                      </a:p>
                    </p:txBody>
                  </p:sp>
                  <p:sp>
                    <p:nvSpPr>
                      <p:cNvPr id="63595" name="Text Box 27"/>
                      <p:cNvSpPr txBox="1">
                        <a:spLocks noChangeArrowheads="1"/>
                      </p:cNvSpPr>
                      <p:nvPr/>
                    </p:nvSpPr>
                    <p:spPr bwMode="auto">
                      <a:xfrm>
                        <a:off x="3600" y="1620"/>
                        <a:ext cx="540" cy="360"/>
                      </a:xfrm>
                      <a:prstGeom prst="rect">
                        <a:avLst/>
                      </a:prstGeom>
                      <a:solidFill>
                        <a:srgbClr val="FFFFFF">
                          <a:alpha val="0"/>
                        </a:srgbClr>
                      </a:solidFill>
                      <a:ln w="9525">
                        <a:noFill/>
                        <a:miter lim="800000"/>
                        <a:headEnd/>
                        <a:tailEnd/>
                      </a:ln>
                    </p:spPr>
                    <p:txBody>
                      <a:bodyPr/>
                      <a:lstStyle/>
                      <a:p>
                        <a:r>
                          <a:rPr lang="en-US" sz="1200"/>
                          <a:t>1</a:t>
                        </a:r>
                        <a:endParaRPr lang="en-US"/>
                      </a:p>
                    </p:txBody>
                  </p:sp>
                  <p:sp>
                    <p:nvSpPr>
                      <p:cNvPr id="63596" name="Text Box 28"/>
                      <p:cNvSpPr txBox="1">
                        <a:spLocks noChangeArrowheads="1"/>
                      </p:cNvSpPr>
                      <p:nvPr/>
                    </p:nvSpPr>
                    <p:spPr bwMode="auto">
                      <a:xfrm>
                        <a:off x="5940" y="1620"/>
                        <a:ext cx="540" cy="360"/>
                      </a:xfrm>
                      <a:prstGeom prst="rect">
                        <a:avLst/>
                      </a:prstGeom>
                      <a:solidFill>
                        <a:srgbClr val="FFFFFF">
                          <a:alpha val="0"/>
                        </a:srgbClr>
                      </a:solidFill>
                      <a:ln w="9525">
                        <a:noFill/>
                        <a:miter lim="800000"/>
                        <a:headEnd/>
                        <a:tailEnd/>
                      </a:ln>
                    </p:spPr>
                    <p:txBody>
                      <a:bodyPr/>
                      <a:lstStyle/>
                      <a:p>
                        <a:r>
                          <a:rPr lang="en-US" sz="1200"/>
                          <a:t>1</a:t>
                        </a:r>
                        <a:endParaRPr lang="en-US"/>
                      </a:p>
                    </p:txBody>
                  </p:sp>
                  <p:sp>
                    <p:nvSpPr>
                      <p:cNvPr id="63597" name="Text Box 29"/>
                      <p:cNvSpPr txBox="1">
                        <a:spLocks noChangeArrowheads="1"/>
                      </p:cNvSpPr>
                      <p:nvPr/>
                    </p:nvSpPr>
                    <p:spPr bwMode="auto">
                      <a:xfrm>
                        <a:off x="9360" y="1620"/>
                        <a:ext cx="540" cy="360"/>
                      </a:xfrm>
                      <a:prstGeom prst="rect">
                        <a:avLst/>
                      </a:prstGeom>
                      <a:solidFill>
                        <a:srgbClr val="FFFFFF">
                          <a:alpha val="0"/>
                        </a:srgbClr>
                      </a:solidFill>
                      <a:ln w="9525">
                        <a:noFill/>
                        <a:miter lim="800000"/>
                        <a:headEnd/>
                        <a:tailEnd/>
                      </a:ln>
                    </p:spPr>
                    <p:txBody>
                      <a:bodyPr/>
                      <a:lstStyle/>
                      <a:p>
                        <a:r>
                          <a:rPr lang="en-US" sz="1200"/>
                          <a:t>1</a:t>
                        </a:r>
                        <a:endParaRPr lang="en-US"/>
                      </a:p>
                    </p:txBody>
                  </p:sp>
                  <p:sp>
                    <p:nvSpPr>
                      <p:cNvPr id="63598" name="Text Box 30"/>
                      <p:cNvSpPr txBox="1">
                        <a:spLocks noChangeArrowheads="1"/>
                      </p:cNvSpPr>
                      <p:nvPr/>
                    </p:nvSpPr>
                    <p:spPr bwMode="auto">
                      <a:xfrm>
                        <a:off x="12060" y="1620"/>
                        <a:ext cx="540" cy="360"/>
                      </a:xfrm>
                      <a:prstGeom prst="rect">
                        <a:avLst/>
                      </a:prstGeom>
                      <a:solidFill>
                        <a:srgbClr val="FFFFFF">
                          <a:alpha val="0"/>
                        </a:srgbClr>
                      </a:solidFill>
                      <a:ln w="9525">
                        <a:noFill/>
                        <a:miter lim="800000"/>
                        <a:headEnd/>
                        <a:tailEnd/>
                      </a:ln>
                    </p:spPr>
                    <p:txBody>
                      <a:bodyPr/>
                      <a:lstStyle/>
                      <a:p>
                        <a:r>
                          <a:rPr lang="en-US" sz="1200"/>
                          <a:t>1</a:t>
                        </a:r>
                        <a:endParaRPr lang="en-US"/>
                      </a:p>
                    </p:txBody>
                  </p:sp>
                  <p:sp>
                    <p:nvSpPr>
                      <p:cNvPr id="63599" name="Text Box 31"/>
                      <p:cNvSpPr txBox="1">
                        <a:spLocks noChangeArrowheads="1"/>
                      </p:cNvSpPr>
                      <p:nvPr/>
                    </p:nvSpPr>
                    <p:spPr bwMode="auto">
                      <a:xfrm>
                        <a:off x="4860" y="900"/>
                        <a:ext cx="1080" cy="540"/>
                      </a:xfrm>
                      <a:prstGeom prst="rect">
                        <a:avLst/>
                      </a:prstGeom>
                      <a:solidFill>
                        <a:srgbClr val="FFFFFF">
                          <a:alpha val="0"/>
                        </a:srgbClr>
                      </a:solidFill>
                      <a:ln w="9525">
                        <a:noFill/>
                        <a:miter lim="800000"/>
                        <a:headEnd/>
                        <a:tailEnd/>
                      </a:ln>
                    </p:spPr>
                    <p:txBody>
                      <a:bodyPr/>
                      <a:lstStyle/>
                      <a:p>
                        <a:r>
                          <a:rPr lang="en-US" sz="1200"/>
                          <a:t>p/CW</a:t>
                        </a:r>
                        <a:r>
                          <a:rPr lang="en-US" sz="1200" baseline="-25000"/>
                          <a:t>m</a:t>
                        </a:r>
                        <a:endParaRPr lang="en-US"/>
                      </a:p>
                    </p:txBody>
                  </p:sp>
                </p:grpSp>
                <p:sp>
                  <p:nvSpPr>
                    <p:cNvPr id="63578" name="Oval 32"/>
                    <p:cNvSpPr>
                      <a:spLocks noChangeArrowheads="1"/>
                    </p:cNvSpPr>
                    <p:nvPr/>
                  </p:nvSpPr>
                  <p:spPr bwMode="auto">
                    <a:xfrm>
                      <a:off x="1845" y="3780"/>
                      <a:ext cx="1440" cy="720"/>
                    </a:xfrm>
                    <a:prstGeom prst="ellipse">
                      <a:avLst/>
                    </a:prstGeom>
                    <a:solidFill>
                      <a:srgbClr val="FFFF66"/>
                    </a:solidFill>
                    <a:ln w="9525">
                      <a:solidFill>
                        <a:srgbClr val="000000"/>
                      </a:solidFill>
                      <a:round/>
                      <a:headEnd/>
                      <a:tailEnd/>
                    </a:ln>
                  </p:spPr>
                  <p:txBody>
                    <a:bodyPr/>
                    <a:lstStyle/>
                    <a:p>
                      <a:r>
                        <a:rPr lang="en-US" sz="1200"/>
                        <a:t>(m-1, 0)</a:t>
                      </a:r>
                      <a:endParaRPr lang="en-US"/>
                    </a:p>
                  </p:txBody>
                </p:sp>
              </p:grpSp>
              <p:sp>
                <p:nvSpPr>
                  <p:cNvPr id="63505" name="Oval 33"/>
                  <p:cNvSpPr>
                    <a:spLocks noChangeArrowheads="1"/>
                  </p:cNvSpPr>
                  <p:nvPr/>
                </p:nvSpPr>
                <p:spPr bwMode="auto">
                  <a:xfrm>
                    <a:off x="1950" y="13605"/>
                    <a:ext cx="180" cy="180"/>
                  </a:xfrm>
                  <a:prstGeom prst="ellipse">
                    <a:avLst/>
                  </a:prstGeom>
                  <a:solidFill>
                    <a:srgbClr val="333333"/>
                  </a:solidFill>
                  <a:ln w="9525">
                    <a:solidFill>
                      <a:srgbClr val="000000"/>
                    </a:solidFill>
                    <a:round/>
                    <a:headEnd/>
                    <a:tailEnd/>
                  </a:ln>
                </p:spPr>
                <p:txBody>
                  <a:bodyPr/>
                  <a:lstStyle/>
                  <a:p>
                    <a:endParaRPr lang="en-US"/>
                  </a:p>
                </p:txBody>
              </p:sp>
              <p:sp>
                <p:nvSpPr>
                  <p:cNvPr id="63506" name="Line 34"/>
                  <p:cNvSpPr>
                    <a:spLocks noChangeShapeType="1"/>
                  </p:cNvSpPr>
                  <p:nvPr/>
                </p:nvSpPr>
                <p:spPr bwMode="auto">
                  <a:xfrm flipV="1">
                    <a:off x="2025" y="12570"/>
                    <a:ext cx="0" cy="1080"/>
                  </a:xfrm>
                  <a:prstGeom prst="line">
                    <a:avLst/>
                  </a:prstGeom>
                  <a:noFill/>
                  <a:ln w="9525">
                    <a:solidFill>
                      <a:srgbClr val="000000"/>
                    </a:solidFill>
                    <a:round/>
                    <a:headEnd/>
                    <a:tailEnd type="triangle" w="med" len="med"/>
                  </a:ln>
                </p:spPr>
                <p:txBody>
                  <a:bodyPr/>
                  <a:lstStyle/>
                  <a:p>
                    <a:endParaRPr lang="en-US"/>
                  </a:p>
                </p:txBody>
              </p:sp>
              <p:sp>
                <p:nvSpPr>
                  <p:cNvPr id="63507" name="Line 35"/>
                  <p:cNvSpPr>
                    <a:spLocks noChangeShapeType="1"/>
                  </p:cNvSpPr>
                  <p:nvPr/>
                </p:nvSpPr>
                <p:spPr bwMode="auto">
                  <a:xfrm flipV="1">
                    <a:off x="2025" y="12390"/>
                    <a:ext cx="1620" cy="1260"/>
                  </a:xfrm>
                  <a:prstGeom prst="line">
                    <a:avLst/>
                  </a:prstGeom>
                  <a:noFill/>
                  <a:ln w="9525">
                    <a:solidFill>
                      <a:srgbClr val="000000"/>
                    </a:solidFill>
                    <a:round/>
                    <a:headEnd/>
                    <a:tailEnd type="triangle" w="med" len="med"/>
                  </a:ln>
                </p:spPr>
                <p:txBody>
                  <a:bodyPr/>
                  <a:lstStyle/>
                  <a:p>
                    <a:endParaRPr lang="en-US"/>
                  </a:p>
                </p:txBody>
              </p:sp>
              <p:sp>
                <p:nvSpPr>
                  <p:cNvPr id="63508" name="Line 36"/>
                  <p:cNvSpPr>
                    <a:spLocks noChangeShapeType="1"/>
                  </p:cNvSpPr>
                  <p:nvPr/>
                </p:nvSpPr>
                <p:spPr bwMode="auto">
                  <a:xfrm flipV="1">
                    <a:off x="2025" y="12390"/>
                    <a:ext cx="3780" cy="1260"/>
                  </a:xfrm>
                  <a:prstGeom prst="line">
                    <a:avLst/>
                  </a:prstGeom>
                  <a:noFill/>
                  <a:ln w="9525">
                    <a:solidFill>
                      <a:srgbClr val="000000"/>
                    </a:solidFill>
                    <a:round/>
                    <a:headEnd/>
                    <a:tailEnd type="triangle" w="med" len="med"/>
                  </a:ln>
                </p:spPr>
                <p:txBody>
                  <a:bodyPr/>
                  <a:lstStyle/>
                  <a:p>
                    <a:endParaRPr lang="en-US"/>
                  </a:p>
                </p:txBody>
              </p:sp>
              <p:sp>
                <p:nvSpPr>
                  <p:cNvPr id="63509" name="Line 37"/>
                  <p:cNvSpPr>
                    <a:spLocks noChangeShapeType="1"/>
                  </p:cNvSpPr>
                  <p:nvPr/>
                </p:nvSpPr>
                <p:spPr bwMode="auto">
                  <a:xfrm flipV="1">
                    <a:off x="2025" y="12390"/>
                    <a:ext cx="7380" cy="1260"/>
                  </a:xfrm>
                  <a:prstGeom prst="line">
                    <a:avLst/>
                  </a:prstGeom>
                  <a:noFill/>
                  <a:ln w="9525">
                    <a:solidFill>
                      <a:srgbClr val="000000"/>
                    </a:solidFill>
                    <a:round/>
                    <a:headEnd/>
                    <a:tailEnd type="triangle" w="med" len="med"/>
                  </a:ln>
                </p:spPr>
                <p:txBody>
                  <a:bodyPr/>
                  <a:lstStyle/>
                  <a:p>
                    <a:endParaRPr lang="en-US"/>
                  </a:p>
                </p:txBody>
              </p:sp>
              <p:sp>
                <p:nvSpPr>
                  <p:cNvPr id="63510" name="Line 38"/>
                  <p:cNvSpPr>
                    <a:spLocks noChangeShapeType="1"/>
                  </p:cNvSpPr>
                  <p:nvPr/>
                </p:nvSpPr>
                <p:spPr bwMode="auto">
                  <a:xfrm flipV="1">
                    <a:off x="2025" y="12570"/>
                    <a:ext cx="10260" cy="1080"/>
                  </a:xfrm>
                  <a:prstGeom prst="line">
                    <a:avLst/>
                  </a:prstGeom>
                  <a:noFill/>
                  <a:ln w="9525">
                    <a:solidFill>
                      <a:srgbClr val="000000"/>
                    </a:solidFill>
                    <a:round/>
                    <a:headEnd/>
                    <a:tailEnd type="triangle" w="med" len="med"/>
                  </a:ln>
                </p:spPr>
                <p:txBody>
                  <a:bodyPr/>
                  <a:lstStyle/>
                  <a:p>
                    <a:endParaRPr lang="en-US"/>
                  </a:p>
                </p:txBody>
              </p:sp>
              <p:sp>
                <p:nvSpPr>
                  <p:cNvPr id="63511" name="Text Box 39"/>
                  <p:cNvSpPr txBox="1">
                    <a:spLocks noChangeArrowheads="1"/>
                  </p:cNvSpPr>
                  <p:nvPr/>
                </p:nvSpPr>
                <p:spPr bwMode="auto">
                  <a:xfrm>
                    <a:off x="4005" y="12810"/>
                    <a:ext cx="1080" cy="540"/>
                  </a:xfrm>
                  <a:prstGeom prst="rect">
                    <a:avLst/>
                  </a:prstGeom>
                  <a:solidFill>
                    <a:srgbClr val="FFFFFF">
                      <a:alpha val="0"/>
                    </a:srgbClr>
                  </a:solidFill>
                  <a:ln w="9525">
                    <a:noFill/>
                    <a:miter lim="800000"/>
                    <a:headEnd/>
                    <a:tailEnd/>
                  </a:ln>
                </p:spPr>
                <p:txBody>
                  <a:bodyPr/>
                  <a:lstStyle/>
                  <a:p>
                    <a:r>
                      <a:rPr lang="en-US" sz="1200"/>
                      <a:t>1/CW</a:t>
                    </a:r>
                    <a:r>
                      <a:rPr lang="en-US" sz="1200" baseline="-25000"/>
                      <a:t>m</a:t>
                    </a:r>
                    <a:endParaRPr lang="en-US"/>
                  </a:p>
                </p:txBody>
              </p:sp>
              <p:grpSp>
                <p:nvGrpSpPr>
                  <p:cNvPr id="63512" name="Group 40"/>
                  <p:cNvGrpSpPr>
                    <a:grpSpLocks/>
                  </p:cNvGrpSpPr>
                  <p:nvPr/>
                </p:nvGrpSpPr>
                <p:grpSpPr bwMode="auto">
                  <a:xfrm>
                    <a:off x="1080" y="5328"/>
                    <a:ext cx="12285" cy="3960"/>
                    <a:chOff x="1845" y="7223"/>
                    <a:chExt cx="12285" cy="3960"/>
                  </a:xfrm>
                </p:grpSpPr>
                <p:sp>
                  <p:nvSpPr>
                    <p:cNvPr id="63547" name="Oval 41"/>
                    <p:cNvSpPr>
                      <a:spLocks noChangeArrowheads="1"/>
                    </p:cNvSpPr>
                    <p:nvPr/>
                  </p:nvSpPr>
                  <p:spPr bwMode="auto">
                    <a:xfrm>
                      <a:off x="1980" y="9203"/>
                      <a:ext cx="1260" cy="720"/>
                    </a:xfrm>
                    <a:prstGeom prst="ellipse">
                      <a:avLst/>
                    </a:prstGeom>
                    <a:solidFill>
                      <a:srgbClr val="FFFF66"/>
                    </a:solidFill>
                    <a:ln w="9525">
                      <a:solidFill>
                        <a:srgbClr val="000000"/>
                      </a:solidFill>
                      <a:round/>
                      <a:headEnd/>
                      <a:tailEnd/>
                    </a:ln>
                  </p:spPr>
                  <p:txBody>
                    <a:bodyPr/>
                    <a:lstStyle/>
                    <a:p>
                      <a:r>
                        <a:rPr lang="en-US" sz="1200"/>
                        <a:t>(i,0)</a:t>
                      </a:r>
                      <a:endParaRPr lang="en-US"/>
                    </a:p>
                  </p:txBody>
                </p:sp>
                <p:sp>
                  <p:nvSpPr>
                    <p:cNvPr id="63548" name="Oval 42"/>
                    <p:cNvSpPr>
                      <a:spLocks noChangeArrowheads="1"/>
                    </p:cNvSpPr>
                    <p:nvPr/>
                  </p:nvSpPr>
                  <p:spPr bwMode="auto">
                    <a:xfrm>
                      <a:off x="4140" y="9203"/>
                      <a:ext cx="1260" cy="720"/>
                    </a:xfrm>
                    <a:prstGeom prst="ellipse">
                      <a:avLst/>
                    </a:prstGeom>
                    <a:solidFill>
                      <a:srgbClr val="FFFF66"/>
                    </a:solidFill>
                    <a:ln w="9525">
                      <a:solidFill>
                        <a:srgbClr val="000000"/>
                      </a:solidFill>
                      <a:round/>
                      <a:headEnd/>
                      <a:tailEnd/>
                    </a:ln>
                  </p:spPr>
                  <p:txBody>
                    <a:bodyPr/>
                    <a:lstStyle/>
                    <a:p>
                      <a:r>
                        <a:rPr lang="en-US" sz="1200"/>
                        <a:t>(i,1)</a:t>
                      </a:r>
                      <a:endParaRPr lang="en-US"/>
                    </a:p>
                  </p:txBody>
                </p:sp>
                <p:sp>
                  <p:nvSpPr>
                    <p:cNvPr id="63549" name="Oval 43"/>
                    <p:cNvSpPr>
                      <a:spLocks noChangeArrowheads="1"/>
                    </p:cNvSpPr>
                    <p:nvPr/>
                  </p:nvSpPr>
                  <p:spPr bwMode="auto">
                    <a:xfrm>
                      <a:off x="6360" y="9203"/>
                      <a:ext cx="1260" cy="720"/>
                    </a:xfrm>
                    <a:prstGeom prst="ellipse">
                      <a:avLst/>
                    </a:prstGeom>
                    <a:solidFill>
                      <a:srgbClr val="FFFF66"/>
                    </a:solidFill>
                    <a:ln w="9525">
                      <a:solidFill>
                        <a:srgbClr val="000000"/>
                      </a:solidFill>
                      <a:round/>
                      <a:headEnd/>
                      <a:tailEnd/>
                    </a:ln>
                  </p:spPr>
                  <p:txBody>
                    <a:bodyPr/>
                    <a:lstStyle/>
                    <a:p>
                      <a:r>
                        <a:rPr lang="en-US" sz="1200"/>
                        <a:t>(i,2)</a:t>
                      </a:r>
                      <a:endParaRPr lang="en-US"/>
                    </a:p>
                  </p:txBody>
                </p:sp>
                <p:sp>
                  <p:nvSpPr>
                    <p:cNvPr id="63550" name="Oval 44"/>
                    <p:cNvSpPr>
                      <a:spLocks noChangeArrowheads="1"/>
                    </p:cNvSpPr>
                    <p:nvPr/>
                  </p:nvSpPr>
                  <p:spPr bwMode="auto">
                    <a:xfrm>
                      <a:off x="9900" y="9203"/>
                      <a:ext cx="1620" cy="720"/>
                    </a:xfrm>
                    <a:prstGeom prst="ellipse">
                      <a:avLst/>
                    </a:prstGeom>
                    <a:solidFill>
                      <a:srgbClr val="FFFF66"/>
                    </a:solidFill>
                    <a:ln w="9525">
                      <a:solidFill>
                        <a:srgbClr val="000000"/>
                      </a:solidFill>
                      <a:round/>
                      <a:headEnd/>
                      <a:tailEnd/>
                    </a:ln>
                  </p:spPr>
                  <p:txBody>
                    <a:bodyPr/>
                    <a:lstStyle/>
                    <a:p>
                      <a:r>
                        <a:rPr lang="en-US" sz="1000"/>
                        <a:t>(i,CW</a:t>
                      </a:r>
                      <a:r>
                        <a:rPr lang="en-US" sz="1000" baseline="-25000"/>
                        <a:t>i</a:t>
                      </a:r>
                      <a:r>
                        <a:rPr lang="en-US" sz="1000"/>
                        <a:t>-2)</a:t>
                      </a:r>
                      <a:endParaRPr lang="en-US"/>
                    </a:p>
                  </p:txBody>
                </p:sp>
                <p:sp>
                  <p:nvSpPr>
                    <p:cNvPr id="63551" name="Oval 45"/>
                    <p:cNvSpPr>
                      <a:spLocks noChangeArrowheads="1"/>
                    </p:cNvSpPr>
                    <p:nvPr/>
                  </p:nvSpPr>
                  <p:spPr bwMode="auto">
                    <a:xfrm>
                      <a:off x="12510" y="9203"/>
                      <a:ext cx="1620" cy="720"/>
                    </a:xfrm>
                    <a:prstGeom prst="ellipse">
                      <a:avLst/>
                    </a:prstGeom>
                    <a:solidFill>
                      <a:srgbClr val="FFFF66"/>
                    </a:solidFill>
                    <a:ln w="9525">
                      <a:solidFill>
                        <a:srgbClr val="000000"/>
                      </a:solidFill>
                      <a:round/>
                      <a:headEnd/>
                      <a:tailEnd/>
                    </a:ln>
                  </p:spPr>
                  <p:txBody>
                    <a:bodyPr/>
                    <a:lstStyle/>
                    <a:p>
                      <a:r>
                        <a:rPr lang="en-US" sz="1000"/>
                        <a:t>(i,CW</a:t>
                      </a:r>
                      <a:r>
                        <a:rPr lang="en-US" sz="1000" baseline="-25000"/>
                        <a:t>i</a:t>
                      </a:r>
                      <a:r>
                        <a:rPr lang="en-US" sz="1000"/>
                        <a:t>-1)</a:t>
                      </a:r>
                      <a:endParaRPr lang="en-US"/>
                    </a:p>
                  </p:txBody>
                </p:sp>
                <p:sp>
                  <p:nvSpPr>
                    <p:cNvPr id="63552" name="Line 46"/>
                    <p:cNvSpPr>
                      <a:spLocks noChangeShapeType="1"/>
                    </p:cNvSpPr>
                    <p:nvPr/>
                  </p:nvSpPr>
                  <p:spPr bwMode="auto">
                    <a:xfrm flipH="1">
                      <a:off x="3240" y="9563"/>
                      <a:ext cx="900" cy="0"/>
                    </a:xfrm>
                    <a:prstGeom prst="line">
                      <a:avLst/>
                    </a:prstGeom>
                    <a:noFill/>
                    <a:ln w="9525">
                      <a:solidFill>
                        <a:srgbClr val="000000"/>
                      </a:solidFill>
                      <a:round/>
                      <a:headEnd/>
                      <a:tailEnd type="triangle" w="med" len="med"/>
                    </a:ln>
                  </p:spPr>
                  <p:txBody>
                    <a:bodyPr/>
                    <a:lstStyle/>
                    <a:p>
                      <a:endParaRPr lang="en-US"/>
                    </a:p>
                  </p:txBody>
                </p:sp>
                <p:sp>
                  <p:nvSpPr>
                    <p:cNvPr id="63553" name="Line 47"/>
                    <p:cNvSpPr>
                      <a:spLocks noChangeShapeType="1"/>
                    </p:cNvSpPr>
                    <p:nvPr/>
                  </p:nvSpPr>
                  <p:spPr bwMode="auto">
                    <a:xfrm flipH="1">
                      <a:off x="5385" y="9563"/>
                      <a:ext cx="900" cy="0"/>
                    </a:xfrm>
                    <a:prstGeom prst="line">
                      <a:avLst/>
                    </a:prstGeom>
                    <a:noFill/>
                    <a:ln w="9525">
                      <a:solidFill>
                        <a:srgbClr val="000000"/>
                      </a:solidFill>
                      <a:round/>
                      <a:headEnd/>
                      <a:tailEnd type="triangle" w="med" len="med"/>
                    </a:ln>
                  </p:spPr>
                  <p:txBody>
                    <a:bodyPr/>
                    <a:lstStyle/>
                    <a:p>
                      <a:endParaRPr lang="en-US"/>
                    </a:p>
                  </p:txBody>
                </p:sp>
                <p:sp>
                  <p:nvSpPr>
                    <p:cNvPr id="63554" name="Line 48"/>
                    <p:cNvSpPr>
                      <a:spLocks noChangeShapeType="1"/>
                    </p:cNvSpPr>
                    <p:nvPr/>
                  </p:nvSpPr>
                  <p:spPr bwMode="auto">
                    <a:xfrm flipH="1">
                      <a:off x="9000" y="9563"/>
                      <a:ext cx="900" cy="0"/>
                    </a:xfrm>
                    <a:prstGeom prst="line">
                      <a:avLst/>
                    </a:prstGeom>
                    <a:noFill/>
                    <a:ln w="9525">
                      <a:solidFill>
                        <a:srgbClr val="000000"/>
                      </a:solidFill>
                      <a:round/>
                      <a:headEnd/>
                      <a:tailEnd type="triangle" w="med" len="med"/>
                    </a:ln>
                  </p:spPr>
                  <p:txBody>
                    <a:bodyPr/>
                    <a:lstStyle/>
                    <a:p>
                      <a:endParaRPr lang="en-US"/>
                    </a:p>
                  </p:txBody>
                </p:sp>
                <p:sp>
                  <p:nvSpPr>
                    <p:cNvPr id="63555" name="Line 49"/>
                    <p:cNvSpPr>
                      <a:spLocks noChangeShapeType="1"/>
                    </p:cNvSpPr>
                    <p:nvPr/>
                  </p:nvSpPr>
                  <p:spPr bwMode="auto">
                    <a:xfrm flipH="1">
                      <a:off x="11520" y="9563"/>
                      <a:ext cx="900" cy="0"/>
                    </a:xfrm>
                    <a:prstGeom prst="line">
                      <a:avLst/>
                    </a:prstGeom>
                    <a:noFill/>
                    <a:ln w="9525">
                      <a:solidFill>
                        <a:srgbClr val="000000"/>
                      </a:solidFill>
                      <a:round/>
                      <a:headEnd/>
                      <a:tailEnd type="triangle" w="med" len="med"/>
                    </a:ln>
                  </p:spPr>
                  <p:txBody>
                    <a:bodyPr/>
                    <a:lstStyle/>
                    <a:p>
                      <a:endParaRPr lang="en-US"/>
                    </a:p>
                  </p:txBody>
                </p:sp>
                <p:sp>
                  <p:nvSpPr>
                    <p:cNvPr id="63556" name="Oval 50"/>
                    <p:cNvSpPr>
                      <a:spLocks noChangeArrowheads="1"/>
                    </p:cNvSpPr>
                    <p:nvPr/>
                  </p:nvSpPr>
                  <p:spPr bwMode="auto">
                    <a:xfrm>
                      <a:off x="2430" y="7943"/>
                      <a:ext cx="180" cy="180"/>
                    </a:xfrm>
                    <a:prstGeom prst="ellipse">
                      <a:avLst/>
                    </a:prstGeom>
                    <a:solidFill>
                      <a:srgbClr val="333333"/>
                    </a:solidFill>
                    <a:ln w="9525">
                      <a:solidFill>
                        <a:srgbClr val="000000"/>
                      </a:solidFill>
                      <a:round/>
                      <a:headEnd/>
                      <a:tailEnd/>
                    </a:ln>
                  </p:spPr>
                  <p:txBody>
                    <a:bodyPr/>
                    <a:lstStyle/>
                    <a:p>
                      <a:endParaRPr lang="en-US"/>
                    </a:p>
                  </p:txBody>
                </p:sp>
                <p:sp>
                  <p:nvSpPr>
                    <p:cNvPr id="63557" name="Line 51"/>
                    <p:cNvSpPr>
                      <a:spLocks noChangeShapeType="1"/>
                    </p:cNvSpPr>
                    <p:nvPr/>
                  </p:nvSpPr>
                  <p:spPr bwMode="auto">
                    <a:xfrm>
                      <a:off x="2520" y="8123"/>
                      <a:ext cx="0" cy="1080"/>
                    </a:xfrm>
                    <a:prstGeom prst="line">
                      <a:avLst/>
                    </a:prstGeom>
                    <a:noFill/>
                    <a:ln w="9525">
                      <a:solidFill>
                        <a:srgbClr val="000000"/>
                      </a:solidFill>
                      <a:round/>
                      <a:headEnd/>
                      <a:tailEnd type="triangle" w="med" len="med"/>
                    </a:ln>
                  </p:spPr>
                  <p:txBody>
                    <a:bodyPr/>
                    <a:lstStyle/>
                    <a:p>
                      <a:endParaRPr lang="en-US"/>
                    </a:p>
                  </p:txBody>
                </p:sp>
                <p:sp>
                  <p:nvSpPr>
                    <p:cNvPr id="63558" name="Line 52"/>
                    <p:cNvSpPr>
                      <a:spLocks noChangeShapeType="1"/>
                    </p:cNvSpPr>
                    <p:nvPr/>
                  </p:nvSpPr>
                  <p:spPr bwMode="auto">
                    <a:xfrm>
                      <a:off x="2520" y="8123"/>
                      <a:ext cx="1800" cy="1080"/>
                    </a:xfrm>
                    <a:prstGeom prst="line">
                      <a:avLst/>
                    </a:prstGeom>
                    <a:noFill/>
                    <a:ln w="9525">
                      <a:solidFill>
                        <a:srgbClr val="000000"/>
                      </a:solidFill>
                      <a:round/>
                      <a:headEnd/>
                      <a:tailEnd type="triangle" w="med" len="med"/>
                    </a:ln>
                  </p:spPr>
                  <p:txBody>
                    <a:bodyPr/>
                    <a:lstStyle/>
                    <a:p>
                      <a:endParaRPr lang="en-US"/>
                    </a:p>
                  </p:txBody>
                </p:sp>
                <p:sp>
                  <p:nvSpPr>
                    <p:cNvPr id="63559" name="Line 53"/>
                    <p:cNvSpPr>
                      <a:spLocks noChangeShapeType="1"/>
                    </p:cNvSpPr>
                    <p:nvPr/>
                  </p:nvSpPr>
                  <p:spPr bwMode="auto">
                    <a:xfrm>
                      <a:off x="2520" y="8123"/>
                      <a:ext cx="3960" cy="1080"/>
                    </a:xfrm>
                    <a:prstGeom prst="line">
                      <a:avLst/>
                    </a:prstGeom>
                    <a:noFill/>
                    <a:ln w="9525">
                      <a:solidFill>
                        <a:srgbClr val="000000"/>
                      </a:solidFill>
                      <a:round/>
                      <a:headEnd/>
                      <a:tailEnd type="triangle" w="med" len="med"/>
                    </a:ln>
                  </p:spPr>
                  <p:txBody>
                    <a:bodyPr/>
                    <a:lstStyle/>
                    <a:p>
                      <a:endParaRPr lang="en-US"/>
                    </a:p>
                  </p:txBody>
                </p:sp>
                <p:sp>
                  <p:nvSpPr>
                    <p:cNvPr id="63560" name="Line 54"/>
                    <p:cNvSpPr>
                      <a:spLocks noChangeShapeType="1"/>
                    </p:cNvSpPr>
                    <p:nvPr/>
                  </p:nvSpPr>
                  <p:spPr bwMode="auto">
                    <a:xfrm>
                      <a:off x="2520" y="8123"/>
                      <a:ext cx="7560" cy="1080"/>
                    </a:xfrm>
                    <a:prstGeom prst="line">
                      <a:avLst/>
                    </a:prstGeom>
                    <a:noFill/>
                    <a:ln w="9525">
                      <a:solidFill>
                        <a:srgbClr val="000000"/>
                      </a:solidFill>
                      <a:round/>
                      <a:headEnd/>
                      <a:tailEnd type="triangle" w="med" len="med"/>
                    </a:ln>
                  </p:spPr>
                  <p:txBody>
                    <a:bodyPr/>
                    <a:lstStyle/>
                    <a:p>
                      <a:endParaRPr lang="en-US"/>
                    </a:p>
                  </p:txBody>
                </p:sp>
                <p:sp>
                  <p:nvSpPr>
                    <p:cNvPr id="63561" name="Line 55"/>
                    <p:cNvSpPr>
                      <a:spLocks noChangeShapeType="1"/>
                    </p:cNvSpPr>
                    <p:nvPr/>
                  </p:nvSpPr>
                  <p:spPr bwMode="auto">
                    <a:xfrm>
                      <a:off x="2520" y="8123"/>
                      <a:ext cx="10260" cy="1080"/>
                    </a:xfrm>
                    <a:prstGeom prst="line">
                      <a:avLst/>
                    </a:prstGeom>
                    <a:noFill/>
                    <a:ln w="9525">
                      <a:solidFill>
                        <a:srgbClr val="000000"/>
                      </a:solidFill>
                      <a:round/>
                      <a:headEnd/>
                      <a:tailEnd type="triangle" w="med" len="med"/>
                    </a:ln>
                  </p:spPr>
                  <p:txBody>
                    <a:bodyPr/>
                    <a:lstStyle/>
                    <a:p>
                      <a:endParaRPr lang="en-US"/>
                    </a:p>
                  </p:txBody>
                </p:sp>
                <p:sp>
                  <p:nvSpPr>
                    <p:cNvPr id="63562" name="Text Box 56"/>
                    <p:cNvSpPr txBox="1">
                      <a:spLocks noChangeArrowheads="1"/>
                    </p:cNvSpPr>
                    <p:nvPr/>
                  </p:nvSpPr>
                  <p:spPr bwMode="auto">
                    <a:xfrm>
                      <a:off x="7740" y="9383"/>
                      <a:ext cx="1080" cy="540"/>
                    </a:xfrm>
                    <a:prstGeom prst="rect">
                      <a:avLst/>
                    </a:prstGeom>
                    <a:solidFill>
                      <a:srgbClr val="FFFFFF">
                        <a:alpha val="0"/>
                      </a:srgbClr>
                    </a:solidFill>
                    <a:ln w="9525">
                      <a:noFill/>
                      <a:miter lim="800000"/>
                      <a:headEnd/>
                      <a:tailEnd/>
                    </a:ln>
                  </p:spPr>
                  <p:txBody>
                    <a:bodyPr/>
                    <a:lstStyle/>
                    <a:p>
                      <a:r>
                        <a:rPr lang="en-US" sz="1200"/>
                        <a:t>………</a:t>
                      </a:r>
                      <a:endParaRPr lang="en-US"/>
                    </a:p>
                  </p:txBody>
                </p:sp>
                <p:sp>
                  <p:nvSpPr>
                    <p:cNvPr id="63563" name="Text Box 57"/>
                    <p:cNvSpPr txBox="1">
                      <a:spLocks noChangeArrowheads="1"/>
                    </p:cNvSpPr>
                    <p:nvPr/>
                  </p:nvSpPr>
                  <p:spPr bwMode="auto">
                    <a:xfrm>
                      <a:off x="3420" y="9203"/>
                      <a:ext cx="540" cy="360"/>
                    </a:xfrm>
                    <a:prstGeom prst="rect">
                      <a:avLst/>
                    </a:prstGeom>
                    <a:solidFill>
                      <a:srgbClr val="FFFFFF">
                        <a:alpha val="0"/>
                      </a:srgbClr>
                    </a:solidFill>
                    <a:ln w="9525">
                      <a:noFill/>
                      <a:miter lim="800000"/>
                      <a:headEnd/>
                      <a:tailEnd/>
                    </a:ln>
                  </p:spPr>
                  <p:txBody>
                    <a:bodyPr/>
                    <a:lstStyle/>
                    <a:p>
                      <a:r>
                        <a:rPr lang="en-US" sz="1200"/>
                        <a:t>1</a:t>
                      </a:r>
                      <a:endParaRPr lang="en-US"/>
                    </a:p>
                  </p:txBody>
                </p:sp>
                <p:sp>
                  <p:nvSpPr>
                    <p:cNvPr id="63564" name="Text Box 58"/>
                    <p:cNvSpPr txBox="1">
                      <a:spLocks noChangeArrowheads="1"/>
                    </p:cNvSpPr>
                    <p:nvPr/>
                  </p:nvSpPr>
                  <p:spPr bwMode="auto">
                    <a:xfrm>
                      <a:off x="5760" y="9203"/>
                      <a:ext cx="540" cy="360"/>
                    </a:xfrm>
                    <a:prstGeom prst="rect">
                      <a:avLst/>
                    </a:prstGeom>
                    <a:solidFill>
                      <a:srgbClr val="FFFFFF">
                        <a:alpha val="0"/>
                      </a:srgbClr>
                    </a:solidFill>
                    <a:ln w="9525">
                      <a:noFill/>
                      <a:miter lim="800000"/>
                      <a:headEnd/>
                      <a:tailEnd/>
                    </a:ln>
                  </p:spPr>
                  <p:txBody>
                    <a:bodyPr/>
                    <a:lstStyle/>
                    <a:p>
                      <a:r>
                        <a:rPr lang="en-US" sz="1200"/>
                        <a:t>1</a:t>
                      </a:r>
                      <a:endParaRPr lang="en-US"/>
                    </a:p>
                  </p:txBody>
                </p:sp>
                <p:sp>
                  <p:nvSpPr>
                    <p:cNvPr id="63565" name="Text Box 59"/>
                    <p:cNvSpPr txBox="1">
                      <a:spLocks noChangeArrowheads="1"/>
                    </p:cNvSpPr>
                    <p:nvPr/>
                  </p:nvSpPr>
                  <p:spPr bwMode="auto">
                    <a:xfrm>
                      <a:off x="9180" y="9203"/>
                      <a:ext cx="540" cy="360"/>
                    </a:xfrm>
                    <a:prstGeom prst="rect">
                      <a:avLst/>
                    </a:prstGeom>
                    <a:solidFill>
                      <a:srgbClr val="FFFFFF">
                        <a:alpha val="0"/>
                      </a:srgbClr>
                    </a:solidFill>
                    <a:ln w="9525">
                      <a:noFill/>
                      <a:miter lim="800000"/>
                      <a:headEnd/>
                      <a:tailEnd/>
                    </a:ln>
                  </p:spPr>
                  <p:txBody>
                    <a:bodyPr/>
                    <a:lstStyle/>
                    <a:p>
                      <a:r>
                        <a:rPr lang="en-US" sz="1200"/>
                        <a:t>1</a:t>
                      </a:r>
                      <a:endParaRPr lang="en-US"/>
                    </a:p>
                  </p:txBody>
                </p:sp>
                <p:sp>
                  <p:nvSpPr>
                    <p:cNvPr id="63566" name="Text Box 60"/>
                    <p:cNvSpPr txBox="1">
                      <a:spLocks noChangeArrowheads="1"/>
                    </p:cNvSpPr>
                    <p:nvPr/>
                  </p:nvSpPr>
                  <p:spPr bwMode="auto">
                    <a:xfrm>
                      <a:off x="11880" y="9203"/>
                      <a:ext cx="540" cy="360"/>
                    </a:xfrm>
                    <a:prstGeom prst="rect">
                      <a:avLst/>
                    </a:prstGeom>
                    <a:solidFill>
                      <a:srgbClr val="FFFFFF">
                        <a:alpha val="0"/>
                      </a:srgbClr>
                    </a:solidFill>
                    <a:ln w="9525">
                      <a:noFill/>
                      <a:miter lim="800000"/>
                      <a:headEnd/>
                      <a:tailEnd/>
                    </a:ln>
                  </p:spPr>
                  <p:txBody>
                    <a:bodyPr/>
                    <a:lstStyle/>
                    <a:p>
                      <a:r>
                        <a:rPr lang="en-US" sz="1200"/>
                        <a:t>1</a:t>
                      </a:r>
                      <a:endParaRPr lang="en-US"/>
                    </a:p>
                  </p:txBody>
                </p:sp>
                <p:sp>
                  <p:nvSpPr>
                    <p:cNvPr id="63567" name="Text Box 61"/>
                    <p:cNvSpPr txBox="1">
                      <a:spLocks noChangeArrowheads="1"/>
                    </p:cNvSpPr>
                    <p:nvPr/>
                  </p:nvSpPr>
                  <p:spPr bwMode="auto">
                    <a:xfrm>
                      <a:off x="4680" y="8483"/>
                      <a:ext cx="1080" cy="540"/>
                    </a:xfrm>
                    <a:prstGeom prst="rect">
                      <a:avLst/>
                    </a:prstGeom>
                    <a:solidFill>
                      <a:srgbClr val="FFFFFF">
                        <a:alpha val="0"/>
                      </a:srgbClr>
                    </a:solidFill>
                    <a:ln w="9525">
                      <a:noFill/>
                      <a:miter lim="800000"/>
                      <a:headEnd/>
                      <a:tailEnd/>
                    </a:ln>
                  </p:spPr>
                  <p:txBody>
                    <a:bodyPr/>
                    <a:lstStyle/>
                    <a:p>
                      <a:r>
                        <a:rPr lang="en-US" sz="1200"/>
                        <a:t>p/CW</a:t>
                      </a:r>
                      <a:r>
                        <a:rPr lang="en-US" sz="1200" baseline="-25000"/>
                        <a:t>i</a:t>
                      </a:r>
                      <a:endParaRPr lang="en-US"/>
                    </a:p>
                  </p:txBody>
                </p:sp>
                <p:sp>
                  <p:nvSpPr>
                    <p:cNvPr id="63568" name="Oval 62"/>
                    <p:cNvSpPr>
                      <a:spLocks noChangeArrowheads="1"/>
                    </p:cNvSpPr>
                    <p:nvPr/>
                  </p:nvSpPr>
                  <p:spPr bwMode="auto">
                    <a:xfrm>
                      <a:off x="1845" y="7223"/>
                      <a:ext cx="1440" cy="720"/>
                    </a:xfrm>
                    <a:prstGeom prst="ellipse">
                      <a:avLst/>
                    </a:prstGeom>
                    <a:solidFill>
                      <a:srgbClr val="FFFF66"/>
                    </a:solidFill>
                    <a:ln w="9525">
                      <a:solidFill>
                        <a:srgbClr val="000000"/>
                      </a:solidFill>
                      <a:round/>
                      <a:headEnd/>
                      <a:tailEnd/>
                    </a:ln>
                  </p:spPr>
                  <p:txBody>
                    <a:bodyPr/>
                    <a:lstStyle/>
                    <a:p>
                      <a:r>
                        <a:rPr lang="en-US" sz="1200"/>
                        <a:t>(i-1, 0)</a:t>
                      </a:r>
                      <a:endParaRPr lang="en-US"/>
                    </a:p>
                  </p:txBody>
                </p:sp>
                <p:sp>
                  <p:nvSpPr>
                    <p:cNvPr id="63569" name="Oval 63"/>
                    <p:cNvSpPr>
                      <a:spLocks noChangeArrowheads="1"/>
                    </p:cNvSpPr>
                    <p:nvPr/>
                  </p:nvSpPr>
                  <p:spPr bwMode="auto">
                    <a:xfrm>
                      <a:off x="2475" y="9923"/>
                      <a:ext cx="180" cy="180"/>
                    </a:xfrm>
                    <a:prstGeom prst="ellipse">
                      <a:avLst/>
                    </a:prstGeom>
                    <a:solidFill>
                      <a:srgbClr val="333333"/>
                    </a:solidFill>
                    <a:ln w="9525">
                      <a:solidFill>
                        <a:srgbClr val="000000"/>
                      </a:solidFill>
                      <a:round/>
                      <a:headEnd/>
                      <a:tailEnd/>
                    </a:ln>
                  </p:spPr>
                  <p:txBody>
                    <a:bodyPr/>
                    <a:lstStyle/>
                    <a:p>
                      <a:endParaRPr lang="en-US"/>
                    </a:p>
                  </p:txBody>
                </p:sp>
                <p:sp>
                  <p:nvSpPr>
                    <p:cNvPr id="63570" name="Oval 64"/>
                    <p:cNvSpPr>
                      <a:spLocks noChangeArrowheads="1"/>
                    </p:cNvSpPr>
                    <p:nvPr/>
                  </p:nvSpPr>
                  <p:spPr bwMode="auto">
                    <a:xfrm>
                      <a:off x="2490" y="9923"/>
                      <a:ext cx="180" cy="180"/>
                    </a:xfrm>
                    <a:prstGeom prst="ellipse">
                      <a:avLst/>
                    </a:prstGeom>
                    <a:solidFill>
                      <a:srgbClr val="333333"/>
                    </a:solidFill>
                    <a:ln w="9525">
                      <a:solidFill>
                        <a:srgbClr val="000000"/>
                      </a:solidFill>
                      <a:round/>
                      <a:headEnd/>
                      <a:tailEnd/>
                    </a:ln>
                  </p:spPr>
                  <p:txBody>
                    <a:bodyPr/>
                    <a:lstStyle/>
                    <a:p>
                      <a:endParaRPr lang="en-US"/>
                    </a:p>
                  </p:txBody>
                </p:sp>
                <p:sp>
                  <p:nvSpPr>
                    <p:cNvPr id="63571" name="Line 65"/>
                    <p:cNvSpPr>
                      <a:spLocks noChangeShapeType="1"/>
                    </p:cNvSpPr>
                    <p:nvPr/>
                  </p:nvSpPr>
                  <p:spPr bwMode="auto">
                    <a:xfrm>
                      <a:off x="2580" y="10103"/>
                      <a:ext cx="0" cy="1080"/>
                    </a:xfrm>
                    <a:prstGeom prst="line">
                      <a:avLst/>
                    </a:prstGeom>
                    <a:noFill/>
                    <a:ln w="9525">
                      <a:solidFill>
                        <a:srgbClr val="000000"/>
                      </a:solidFill>
                      <a:round/>
                      <a:headEnd/>
                      <a:tailEnd type="triangle" w="med" len="med"/>
                    </a:ln>
                  </p:spPr>
                  <p:txBody>
                    <a:bodyPr/>
                    <a:lstStyle/>
                    <a:p>
                      <a:endParaRPr lang="en-US"/>
                    </a:p>
                  </p:txBody>
                </p:sp>
                <p:sp>
                  <p:nvSpPr>
                    <p:cNvPr id="63572" name="Line 66"/>
                    <p:cNvSpPr>
                      <a:spLocks noChangeShapeType="1"/>
                    </p:cNvSpPr>
                    <p:nvPr/>
                  </p:nvSpPr>
                  <p:spPr bwMode="auto">
                    <a:xfrm>
                      <a:off x="2580" y="10103"/>
                      <a:ext cx="1800" cy="1080"/>
                    </a:xfrm>
                    <a:prstGeom prst="line">
                      <a:avLst/>
                    </a:prstGeom>
                    <a:noFill/>
                    <a:ln w="9525">
                      <a:solidFill>
                        <a:srgbClr val="000000"/>
                      </a:solidFill>
                      <a:round/>
                      <a:headEnd/>
                      <a:tailEnd type="triangle" w="med" len="med"/>
                    </a:ln>
                  </p:spPr>
                  <p:txBody>
                    <a:bodyPr/>
                    <a:lstStyle/>
                    <a:p>
                      <a:endParaRPr lang="en-US"/>
                    </a:p>
                  </p:txBody>
                </p:sp>
                <p:sp>
                  <p:nvSpPr>
                    <p:cNvPr id="63573" name="Line 67"/>
                    <p:cNvSpPr>
                      <a:spLocks noChangeShapeType="1"/>
                    </p:cNvSpPr>
                    <p:nvPr/>
                  </p:nvSpPr>
                  <p:spPr bwMode="auto">
                    <a:xfrm>
                      <a:off x="2580" y="10103"/>
                      <a:ext cx="3960" cy="1080"/>
                    </a:xfrm>
                    <a:prstGeom prst="line">
                      <a:avLst/>
                    </a:prstGeom>
                    <a:noFill/>
                    <a:ln w="9525">
                      <a:solidFill>
                        <a:srgbClr val="000000"/>
                      </a:solidFill>
                      <a:round/>
                      <a:headEnd/>
                      <a:tailEnd type="triangle" w="med" len="med"/>
                    </a:ln>
                  </p:spPr>
                  <p:txBody>
                    <a:bodyPr/>
                    <a:lstStyle/>
                    <a:p>
                      <a:endParaRPr lang="en-US"/>
                    </a:p>
                  </p:txBody>
                </p:sp>
                <p:sp>
                  <p:nvSpPr>
                    <p:cNvPr id="63574" name="Line 68"/>
                    <p:cNvSpPr>
                      <a:spLocks noChangeShapeType="1"/>
                    </p:cNvSpPr>
                    <p:nvPr/>
                  </p:nvSpPr>
                  <p:spPr bwMode="auto">
                    <a:xfrm>
                      <a:off x="2580" y="10103"/>
                      <a:ext cx="7560" cy="1080"/>
                    </a:xfrm>
                    <a:prstGeom prst="line">
                      <a:avLst/>
                    </a:prstGeom>
                    <a:noFill/>
                    <a:ln w="9525">
                      <a:solidFill>
                        <a:srgbClr val="000000"/>
                      </a:solidFill>
                      <a:round/>
                      <a:headEnd/>
                      <a:tailEnd type="triangle" w="med" len="med"/>
                    </a:ln>
                  </p:spPr>
                  <p:txBody>
                    <a:bodyPr/>
                    <a:lstStyle/>
                    <a:p>
                      <a:endParaRPr lang="en-US"/>
                    </a:p>
                  </p:txBody>
                </p:sp>
                <p:sp>
                  <p:nvSpPr>
                    <p:cNvPr id="63575" name="Line 69"/>
                    <p:cNvSpPr>
                      <a:spLocks noChangeShapeType="1"/>
                    </p:cNvSpPr>
                    <p:nvPr/>
                  </p:nvSpPr>
                  <p:spPr bwMode="auto">
                    <a:xfrm>
                      <a:off x="2580" y="10103"/>
                      <a:ext cx="10260" cy="1080"/>
                    </a:xfrm>
                    <a:prstGeom prst="line">
                      <a:avLst/>
                    </a:prstGeom>
                    <a:noFill/>
                    <a:ln w="9525">
                      <a:solidFill>
                        <a:srgbClr val="000000"/>
                      </a:solidFill>
                      <a:round/>
                      <a:headEnd/>
                      <a:tailEnd type="triangle" w="med" len="med"/>
                    </a:ln>
                  </p:spPr>
                  <p:txBody>
                    <a:bodyPr/>
                    <a:lstStyle/>
                    <a:p>
                      <a:endParaRPr lang="en-US"/>
                    </a:p>
                  </p:txBody>
                </p:sp>
                <p:sp>
                  <p:nvSpPr>
                    <p:cNvPr id="63576" name="Text Box 70"/>
                    <p:cNvSpPr txBox="1">
                      <a:spLocks noChangeArrowheads="1"/>
                    </p:cNvSpPr>
                    <p:nvPr/>
                  </p:nvSpPr>
                  <p:spPr bwMode="auto">
                    <a:xfrm>
                      <a:off x="4740" y="10463"/>
                      <a:ext cx="1080" cy="540"/>
                    </a:xfrm>
                    <a:prstGeom prst="rect">
                      <a:avLst/>
                    </a:prstGeom>
                    <a:solidFill>
                      <a:srgbClr val="FFFFFF">
                        <a:alpha val="0"/>
                      </a:srgbClr>
                    </a:solidFill>
                    <a:ln w="9525">
                      <a:noFill/>
                      <a:miter lim="800000"/>
                      <a:headEnd/>
                      <a:tailEnd/>
                    </a:ln>
                  </p:spPr>
                  <p:txBody>
                    <a:bodyPr/>
                    <a:lstStyle/>
                    <a:p>
                      <a:r>
                        <a:rPr lang="en-US" sz="1200"/>
                        <a:t>p/CW</a:t>
                      </a:r>
                      <a:r>
                        <a:rPr lang="en-US" sz="1200" baseline="-25000"/>
                        <a:t>i+1</a:t>
                      </a:r>
                      <a:endParaRPr lang="en-US"/>
                    </a:p>
                  </p:txBody>
                </p:sp>
              </p:grpSp>
              <p:grpSp>
                <p:nvGrpSpPr>
                  <p:cNvPr id="63513" name="Group 71"/>
                  <p:cNvGrpSpPr>
                    <a:grpSpLocks/>
                  </p:cNvGrpSpPr>
                  <p:nvPr/>
                </p:nvGrpSpPr>
                <p:grpSpPr bwMode="auto">
                  <a:xfrm>
                    <a:off x="1260" y="1188"/>
                    <a:ext cx="12150" cy="3239"/>
                    <a:chOff x="1890" y="3804"/>
                    <a:chExt cx="12150" cy="3239"/>
                  </a:xfrm>
                </p:grpSpPr>
                <p:grpSp>
                  <p:nvGrpSpPr>
                    <p:cNvPr id="63518" name="Group 72"/>
                    <p:cNvGrpSpPr>
                      <a:grpSpLocks/>
                    </p:cNvGrpSpPr>
                    <p:nvPr/>
                  </p:nvGrpSpPr>
                  <p:grpSpPr bwMode="auto">
                    <a:xfrm>
                      <a:off x="1890" y="3804"/>
                      <a:ext cx="12150" cy="1980"/>
                      <a:chOff x="2160" y="360"/>
                      <a:chExt cx="12150" cy="1980"/>
                    </a:xfrm>
                  </p:grpSpPr>
                  <p:sp>
                    <p:nvSpPr>
                      <p:cNvPr id="63526" name="Oval 73"/>
                      <p:cNvSpPr>
                        <a:spLocks noChangeArrowheads="1"/>
                      </p:cNvSpPr>
                      <p:nvPr/>
                    </p:nvSpPr>
                    <p:spPr bwMode="auto">
                      <a:xfrm>
                        <a:off x="2160" y="1620"/>
                        <a:ext cx="1260" cy="720"/>
                      </a:xfrm>
                      <a:prstGeom prst="ellipse">
                        <a:avLst/>
                      </a:prstGeom>
                      <a:solidFill>
                        <a:srgbClr val="FFFF66"/>
                      </a:solidFill>
                      <a:ln w="9525">
                        <a:solidFill>
                          <a:srgbClr val="000000"/>
                        </a:solidFill>
                        <a:round/>
                        <a:headEnd/>
                        <a:tailEnd/>
                      </a:ln>
                    </p:spPr>
                    <p:txBody>
                      <a:bodyPr/>
                      <a:lstStyle/>
                      <a:p>
                        <a:r>
                          <a:rPr lang="en-US" sz="1200"/>
                          <a:t>(0,0)</a:t>
                        </a:r>
                        <a:endParaRPr lang="en-US"/>
                      </a:p>
                    </p:txBody>
                  </p:sp>
                  <p:sp>
                    <p:nvSpPr>
                      <p:cNvPr id="63527" name="Oval 74"/>
                      <p:cNvSpPr>
                        <a:spLocks noChangeArrowheads="1"/>
                      </p:cNvSpPr>
                      <p:nvPr/>
                    </p:nvSpPr>
                    <p:spPr bwMode="auto">
                      <a:xfrm>
                        <a:off x="4320" y="1620"/>
                        <a:ext cx="1260" cy="720"/>
                      </a:xfrm>
                      <a:prstGeom prst="ellipse">
                        <a:avLst/>
                      </a:prstGeom>
                      <a:solidFill>
                        <a:srgbClr val="66FF33"/>
                      </a:solidFill>
                      <a:ln w="9525">
                        <a:solidFill>
                          <a:srgbClr val="000000"/>
                        </a:solidFill>
                        <a:round/>
                        <a:headEnd/>
                        <a:tailEnd/>
                      </a:ln>
                    </p:spPr>
                    <p:txBody>
                      <a:bodyPr/>
                      <a:lstStyle/>
                      <a:p>
                        <a:r>
                          <a:rPr lang="en-US" sz="1200"/>
                          <a:t>(0,1)</a:t>
                        </a:r>
                        <a:endParaRPr lang="en-US"/>
                      </a:p>
                    </p:txBody>
                  </p:sp>
                  <p:sp>
                    <p:nvSpPr>
                      <p:cNvPr id="63528" name="Oval 75"/>
                      <p:cNvSpPr>
                        <a:spLocks noChangeArrowheads="1"/>
                      </p:cNvSpPr>
                      <p:nvPr/>
                    </p:nvSpPr>
                    <p:spPr bwMode="auto">
                      <a:xfrm>
                        <a:off x="6540" y="1620"/>
                        <a:ext cx="1260" cy="720"/>
                      </a:xfrm>
                      <a:prstGeom prst="ellipse">
                        <a:avLst/>
                      </a:prstGeom>
                      <a:solidFill>
                        <a:srgbClr val="66FF33"/>
                      </a:solidFill>
                      <a:ln w="9525">
                        <a:solidFill>
                          <a:srgbClr val="000000"/>
                        </a:solidFill>
                        <a:round/>
                        <a:headEnd/>
                        <a:tailEnd/>
                      </a:ln>
                    </p:spPr>
                    <p:txBody>
                      <a:bodyPr/>
                      <a:lstStyle/>
                      <a:p>
                        <a:r>
                          <a:rPr lang="en-US" sz="1200"/>
                          <a:t>(0,2)</a:t>
                        </a:r>
                        <a:endParaRPr lang="en-US"/>
                      </a:p>
                    </p:txBody>
                  </p:sp>
                  <p:sp>
                    <p:nvSpPr>
                      <p:cNvPr id="63529" name="Oval 76"/>
                      <p:cNvSpPr>
                        <a:spLocks noChangeArrowheads="1"/>
                      </p:cNvSpPr>
                      <p:nvPr/>
                    </p:nvSpPr>
                    <p:spPr bwMode="auto">
                      <a:xfrm>
                        <a:off x="10080" y="1620"/>
                        <a:ext cx="1620" cy="720"/>
                      </a:xfrm>
                      <a:prstGeom prst="ellipse">
                        <a:avLst/>
                      </a:prstGeom>
                      <a:solidFill>
                        <a:srgbClr val="66FF33"/>
                      </a:solidFill>
                      <a:ln w="9525">
                        <a:solidFill>
                          <a:srgbClr val="000000"/>
                        </a:solidFill>
                        <a:round/>
                        <a:headEnd/>
                        <a:tailEnd/>
                      </a:ln>
                    </p:spPr>
                    <p:txBody>
                      <a:bodyPr/>
                      <a:lstStyle/>
                      <a:p>
                        <a:r>
                          <a:rPr lang="en-US" sz="1000"/>
                          <a:t>(0,CW</a:t>
                        </a:r>
                        <a:r>
                          <a:rPr lang="en-US" sz="1000" baseline="-25000"/>
                          <a:t>0</a:t>
                        </a:r>
                        <a:r>
                          <a:rPr lang="en-US" sz="1000"/>
                          <a:t>-2)</a:t>
                        </a:r>
                        <a:endParaRPr lang="en-US"/>
                      </a:p>
                    </p:txBody>
                  </p:sp>
                  <p:sp>
                    <p:nvSpPr>
                      <p:cNvPr id="63530" name="Oval 77"/>
                      <p:cNvSpPr>
                        <a:spLocks noChangeArrowheads="1"/>
                      </p:cNvSpPr>
                      <p:nvPr/>
                    </p:nvSpPr>
                    <p:spPr bwMode="auto">
                      <a:xfrm>
                        <a:off x="12690" y="1620"/>
                        <a:ext cx="1620" cy="720"/>
                      </a:xfrm>
                      <a:prstGeom prst="ellipse">
                        <a:avLst/>
                      </a:prstGeom>
                      <a:solidFill>
                        <a:srgbClr val="66FF33"/>
                      </a:solidFill>
                      <a:ln w="9525">
                        <a:solidFill>
                          <a:srgbClr val="000000"/>
                        </a:solidFill>
                        <a:round/>
                        <a:headEnd/>
                        <a:tailEnd/>
                      </a:ln>
                    </p:spPr>
                    <p:txBody>
                      <a:bodyPr/>
                      <a:lstStyle/>
                      <a:p>
                        <a:r>
                          <a:rPr lang="en-US" sz="1000"/>
                          <a:t>(0,CW</a:t>
                        </a:r>
                        <a:r>
                          <a:rPr lang="en-US" sz="1000" baseline="-25000"/>
                          <a:t>0</a:t>
                        </a:r>
                        <a:r>
                          <a:rPr lang="en-US" sz="1000"/>
                          <a:t>-1)</a:t>
                        </a:r>
                        <a:endParaRPr lang="en-US"/>
                      </a:p>
                    </p:txBody>
                  </p:sp>
                  <p:sp>
                    <p:nvSpPr>
                      <p:cNvPr id="63531" name="Line 78"/>
                      <p:cNvSpPr>
                        <a:spLocks noChangeShapeType="1"/>
                      </p:cNvSpPr>
                      <p:nvPr/>
                    </p:nvSpPr>
                    <p:spPr bwMode="auto">
                      <a:xfrm flipH="1">
                        <a:off x="3420" y="1980"/>
                        <a:ext cx="900" cy="0"/>
                      </a:xfrm>
                      <a:prstGeom prst="line">
                        <a:avLst/>
                      </a:prstGeom>
                      <a:noFill/>
                      <a:ln w="9525">
                        <a:solidFill>
                          <a:srgbClr val="000000"/>
                        </a:solidFill>
                        <a:round/>
                        <a:headEnd/>
                        <a:tailEnd type="triangle" w="med" len="med"/>
                      </a:ln>
                    </p:spPr>
                    <p:txBody>
                      <a:bodyPr/>
                      <a:lstStyle/>
                      <a:p>
                        <a:endParaRPr lang="en-US"/>
                      </a:p>
                    </p:txBody>
                  </p:sp>
                  <p:sp>
                    <p:nvSpPr>
                      <p:cNvPr id="63532" name="Line 79"/>
                      <p:cNvSpPr>
                        <a:spLocks noChangeShapeType="1"/>
                      </p:cNvSpPr>
                      <p:nvPr/>
                    </p:nvSpPr>
                    <p:spPr bwMode="auto">
                      <a:xfrm flipH="1">
                        <a:off x="5565" y="1980"/>
                        <a:ext cx="900" cy="0"/>
                      </a:xfrm>
                      <a:prstGeom prst="line">
                        <a:avLst/>
                      </a:prstGeom>
                      <a:noFill/>
                      <a:ln w="9525">
                        <a:solidFill>
                          <a:srgbClr val="000000"/>
                        </a:solidFill>
                        <a:round/>
                        <a:headEnd/>
                        <a:tailEnd type="triangle" w="med" len="med"/>
                      </a:ln>
                    </p:spPr>
                    <p:txBody>
                      <a:bodyPr/>
                      <a:lstStyle/>
                      <a:p>
                        <a:endParaRPr lang="en-US"/>
                      </a:p>
                    </p:txBody>
                  </p:sp>
                  <p:sp>
                    <p:nvSpPr>
                      <p:cNvPr id="63533" name="Line 80"/>
                      <p:cNvSpPr>
                        <a:spLocks noChangeShapeType="1"/>
                      </p:cNvSpPr>
                      <p:nvPr/>
                    </p:nvSpPr>
                    <p:spPr bwMode="auto">
                      <a:xfrm flipH="1">
                        <a:off x="9180" y="1980"/>
                        <a:ext cx="900" cy="0"/>
                      </a:xfrm>
                      <a:prstGeom prst="line">
                        <a:avLst/>
                      </a:prstGeom>
                      <a:noFill/>
                      <a:ln w="9525">
                        <a:solidFill>
                          <a:srgbClr val="000000"/>
                        </a:solidFill>
                        <a:round/>
                        <a:headEnd/>
                        <a:tailEnd type="triangle" w="med" len="med"/>
                      </a:ln>
                    </p:spPr>
                    <p:txBody>
                      <a:bodyPr/>
                      <a:lstStyle/>
                      <a:p>
                        <a:endParaRPr lang="en-US"/>
                      </a:p>
                    </p:txBody>
                  </p:sp>
                  <p:sp>
                    <p:nvSpPr>
                      <p:cNvPr id="63534" name="Line 81"/>
                      <p:cNvSpPr>
                        <a:spLocks noChangeShapeType="1"/>
                      </p:cNvSpPr>
                      <p:nvPr/>
                    </p:nvSpPr>
                    <p:spPr bwMode="auto">
                      <a:xfrm flipH="1">
                        <a:off x="11700" y="1980"/>
                        <a:ext cx="900" cy="0"/>
                      </a:xfrm>
                      <a:prstGeom prst="line">
                        <a:avLst/>
                      </a:prstGeom>
                      <a:noFill/>
                      <a:ln w="9525">
                        <a:solidFill>
                          <a:srgbClr val="000000"/>
                        </a:solidFill>
                        <a:round/>
                        <a:headEnd/>
                        <a:tailEnd type="triangle" w="med" len="med"/>
                      </a:ln>
                    </p:spPr>
                    <p:txBody>
                      <a:bodyPr/>
                      <a:lstStyle/>
                      <a:p>
                        <a:endParaRPr lang="en-US"/>
                      </a:p>
                    </p:txBody>
                  </p:sp>
                  <p:sp>
                    <p:nvSpPr>
                      <p:cNvPr id="63535" name="Oval 82"/>
                      <p:cNvSpPr>
                        <a:spLocks noChangeArrowheads="1"/>
                      </p:cNvSpPr>
                      <p:nvPr/>
                    </p:nvSpPr>
                    <p:spPr bwMode="auto">
                      <a:xfrm>
                        <a:off x="2610" y="360"/>
                        <a:ext cx="180" cy="180"/>
                      </a:xfrm>
                      <a:prstGeom prst="ellipse">
                        <a:avLst/>
                      </a:prstGeom>
                      <a:solidFill>
                        <a:srgbClr val="333333"/>
                      </a:solidFill>
                      <a:ln w="9525">
                        <a:solidFill>
                          <a:srgbClr val="000000"/>
                        </a:solidFill>
                        <a:round/>
                        <a:headEnd/>
                        <a:tailEnd/>
                      </a:ln>
                    </p:spPr>
                    <p:txBody>
                      <a:bodyPr/>
                      <a:lstStyle/>
                      <a:p>
                        <a:endParaRPr lang="en-US"/>
                      </a:p>
                    </p:txBody>
                  </p:sp>
                  <p:sp>
                    <p:nvSpPr>
                      <p:cNvPr id="63536" name="Line 83"/>
                      <p:cNvSpPr>
                        <a:spLocks noChangeShapeType="1"/>
                      </p:cNvSpPr>
                      <p:nvPr/>
                    </p:nvSpPr>
                    <p:spPr bwMode="auto">
                      <a:xfrm>
                        <a:off x="2700" y="540"/>
                        <a:ext cx="0" cy="1080"/>
                      </a:xfrm>
                      <a:prstGeom prst="line">
                        <a:avLst/>
                      </a:prstGeom>
                      <a:noFill/>
                      <a:ln w="9525">
                        <a:solidFill>
                          <a:srgbClr val="000000"/>
                        </a:solidFill>
                        <a:round/>
                        <a:headEnd/>
                        <a:tailEnd type="triangle" w="med" len="med"/>
                      </a:ln>
                    </p:spPr>
                    <p:txBody>
                      <a:bodyPr/>
                      <a:lstStyle/>
                      <a:p>
                        <a:endParaRPr lang="en-US"/>
                      </a:p>
                    </p:txBody>
                  </p:sp>
                  <p:sp>
                    <p:nvSpPr>
                      <p:cNvPr id="63537" name="Line 84"/>
                      <p:cNvSpPr>
                        <a:spLocks noChangeShapeType="1"/>
                      </p:cNvSpPr>
                      <p:nvPr/>
                    </p:nvSpPr>
                    <p:spPr bwMode="auto">
                      <a:xfrm>
                        <a:off x="2700" y="540"/>
                        <a:ext cx="1800" cy="1080"/>
                      </a:xfrm>
                      <a:prstGeom prst="line">
                        <a:avLst/>
                      </a:prstGeom>
                      <a:noFill/>
                      <a:ln w="9525">
                        <a:solidFill>
                          <a:srgbClr val="000000"/>
                        </a:solidFill>
                        <a:round/>
                        <a:headEnd/>
                        <a:tailEnd type="triangle" w="med" len="med"/>
                      </a:ln>
                    </p:spPr>
                    <p:txBody>
                      <a:bodyPr/>
                      <a:lstStyle/>
                      <a:p>
                        <a:endParaRPr lang="en-US"/>
                      </a:p>
                    </p:txBody>
                  </p:sp>
                  <p:sp>
                    <p:nvSpPr>
                      <p:cNvPr id="63538" name="Line 85"/>
                      <p:cNvSpPr>
                        <a:spLocks noChangeShapeType="1"/>
                      </p:cNvSpPr>
                      <p:nvPr/>
                    </p:nvSpPr>
                    <p:spPr bwMode="auto">
                      <a:xfrm>
                        <a:off x="2700" y="540"/>
                        <a:ext cx="3960" cy="1080"/>
                      </a:xfrm>
                      <a:prstGeom prst="line">
                        <a:avLst/>
                      </a:prstGeom>
                      <a:noFill/>
                      <a:ln w="9525">
                        <a:solidFill>
                          <a:srgbClr val="000000"/>
                        </a:solidFill>
                        <a:round/>
                        <a:headEnd/>
                        <a:tailEnd type="triangle" w="med" len="med"/>
                      </a:ln>
                    </p:spPr>
                    <p:txBody>
                      <a:bodyPr/>
                      <a:lstStyle/>
                      <a:p>
                        <a:endParaRPr lang="en-US"/>
                      </a:p>
                    </p:txBody>
                  </p:sp>
                  <p:sp>
                    <p:nvSpPr>
                      <p:cNvPr id="63539" name="Line 86"/>
                      <p:cNvSpPr>
                        <a:spLocks noChangeShapeType="1"/>
                      </p:cNvSpPr>
                      <p:nvPr/>
                    </p:nvSpPr>
                    <p:spPr bwMode="auto">
                      <a:xfrm>
                        <a:off x="2700" y="540"/>
                        <a:ext cx="7560" cy="1080"/>
                      </a:xfrm>
                      <a:prstGeom prst="line">
                        <a:avLst/>
                      </a:prstGeom>
                      <a:noFill/>
                      <a:ln w="9525">
                        <a:solidFill>
                          <a:srgbClr val="000000"/>
                        </a:solidFill>
                        <a:round/>
                        <a:headEnd/>
                        <a:tailEnd type="triangle" w="med" len="med"/>
                      </a:ln>
                    </p:spPr>
                    <p:txBody>
                      <a:bodyPr/>
                      <a:lstStyle/>
                      <a:p>
                        <a:endParaRPr lang="en-US"/>
                      </a:p>
                    </p:txBody>
                  </p:sp>
                  <p:sp>
                    <p:nvSpPr>
                      <p:cNvPr id="63540" name="Line 87"/>
                      <p:cNvSpPr>
                        <a:spLocks noChangeShapeType="1"/>
                      </p:cNvSpPr>
                      <p:nvPr/>
                    </p:nvSpPr>
                    <p:spPr bwMode="auto">
                      <a:xfrm>
                        <a:off x="2700" y="540"/>
                        <a:ext cx="10260" cy="1080"/>
                      </a:xfrm>
                      <a:prstGeom prst="line">
                        <a:avLst/>
                      </a:prstGeom>
                      <a:noFill/>
                      <a:ln w="9525">
                        <a:solidFill>
                          <a:srgbClr val="000000"/>
                        </a:solidFill>
                        <a:round/>
                        <a:headEnd/>
                        <a:tailEnd type="triangle" w="med" len="med"/>
                      </a:ln>
                    </p:spPr>
                    <p:txBody>
                      <a:bodyPr/>
                      <a:lstStyle/>
                      <a:p>
                        <a:endParaRPr lang="en-US"/>
                      </a:p>
                    </p:txBody>
                  </p:sp>
                  <p:sp>
                    <p:nvSpPr>
                      <p:cNvPr id="63541" name="Text Box 88"/>
                      <p:cNvSpPr txBox="1">
                        <a:spLocks noChangeArrowheads="1"/>
                      </p:cNvSpPr>
                      <p:nvPr/>
                    </p:nvSpPr>
                    <p:spPr bwMode="auto">
                      <a:xfrm>
                        <a:off x="7920" y="1800"/>
                        <a:ext cx="1080" cy="540"/>
                      </a:xfrm>
                      <a:prstGeom prst="rect">
                        <a:avLst/>
                      </a:prstGeom>
                      <a:solidFill>
                        <a:srgbClr val="FFFFFF">
                          <a:alpha val="0"/>
                        </a:srgbClr>
                      </a:solidFill>
                      <a:ln w="9525">
                        <a:noFill/>
                        <a:miter lim="800000"/>
                        <a:headEnd/>
                        <a:tailEnd/>
                      </a:ln>
                    </p:spPr>
                    <p:txBody>
                      <a:bodyPr/>
                      <a:lstStyle/>
                      <a:p>
                        <a:r>
                          <a:rPr lang="en-US" sz="1200"/>
                          <a:t>………</a:t>
                        </a:r>
                        <a:endParaRPr lang="en-US"/>
                      </a:p>
                    </p:txBody>
                  </p:sp>
                  <p:sp>
                    <p:nvSpPr>
                      <p:cNvPr id="63542" name="Text Box 89"/>
                      <p:cNvSpPr txBox="1">
                        <a:spLocks noChangeArrowheads="1"/>
                      </p:cNvSpPr>
                      <p:nvPr/>
                    </p:nvSpPr>
                    <p:spPr bwMode="auto">
                      <a:xfrm>
                        <a:off x="3600" y="1620"/>
                        <a:ext cx="540" cy="360"/>
                      </a:xfrm>
                      <a:prstGeom prst="rect">
                        <a:avLst/>
                      </a:prstGeom>
                      <a:solidFill>
                        <a:srgbClr val="FFFFFF">
                          <a:alpha val="0"/>
                        </a:srgbClr>
                      </a:solidFill>
                      <a:ln w="9525">
                        <a:noFill/>
                        <a:miter lim="800000"/>
                        <a:headEnd/>
                        <a:tailEnd/>
                      </a:ln>
                    </p:spPr>
                    <p:txBody>
                      <a:bodyPr/>
                      <a:lstStyle/>
                      <a:p>
                        <a:r>
                          <a:rPr lang="en-US" sz="1200"/>
                          <a:t>1</a:t>
                        </a:r>
                        <a:endParaRPr lang="en-US"/>
                      </a:p>
                    </p:txBody>
                  </p:sp>
                  <p:sp>
                    <p:nvSpPr>
                      <p:cNvPr id="63543" name="Text Box 90"/>
                      <p:cNvSpPr txBox="1">
                        <a:spLocks noChangeArrowheads="1"/>
                      </p:cNvSpPr>
                      <p:nvPr/>
                    </p:nvSpPr>
                    <p:spPr bwMode="auto">
                      <a:xfrm>
                        <a:off x="5940" y="1620"/>
                        <a:ext cx="540" cy="360"/>
                      </a:xfrm>
                      <a:prstGeom prst="rect">
                        <a:avLst/>
                      </a:prstGeom>
                      <a:solidFill>
                        <a:srgbClr val="FFFFFF">
                          <a:alpha val="0"/>
                        </a:srgbClr>
                      </a:solidFill>
                      <a:ln w="9525">
                        <a:noFill/>
                        <a:miter lim="800000"/>
                        <a:headEnd/>
                        <a:tailEnd/>
                      </a:ln>
                    </p:spPr>
                    <p:txBody>
                      <a:bodyPr/>
                      <a:lstStyle/>
                      <a:p>
                        <a:r>
                          <a:rPr lang="en-US" sz="1200"/>
                          <a:t>1</a:t>
                        </a:r>
                        <a:endParaRPr lang="en-US"/>
                      </a:p>
                    </p:txBody>
                  </p:sp>
                  <p:sp>
                    <p:nvSpPr>
                      <p:cNvPr id="63544" name="Text Box 91"/>
                      <p:cNvSpPr txBox="1">
                        <a:spLocks noChangeArrowheads="1"/>
                      </p:cNvSpPr>
                      <p:nvPr/>
                    </p:nvSpPr>
                    <p:spPr bwMode="auto">
                      <a:xfrm>
                        <a:off x="9360" y="1620"/>
                        <a:ext cx="540" cy="360"/>
                      </a:xfrm>
                      <a:prstGeom prst="rect">
                        <a:avLst/>
                      </a:prstGeom>
                      <a:solidFill>
                        <a:srgbClr val="FFFFFF">
                          <a:alpha val="0"/>
                        </a:srgbClr>
                      </a:solidFill>
                      <a:ln w="9525">
                        <a:noFill/>
                        <a:miter lim="800000"/>
                        <a:headEnd/>
                        <a:tailEnd/>
                      </a:ln>
                    </p:spPr>
                    <p:txBody>
                      <a:bodyPr/>
                      <a:lstStyle/>
                      <a:p>
                        <a:r>
                          <a:rPr lang="en-US" sz="1200"/>
                          <a:t>1</a:t>
                        </a:r>
                        <a:endParaRPr lang="en-US"/>
                      </a:p>
                    </p:txBody>
                  </p:sp>
                  <p:sp>
                    <p:nvSpPr>
                      <p:cNvPr id="63545" name="Text Box 92"/>
                      <p:cNvSpPr txBox="1">
                        <a:spLocks noChangeArrowheads="1"/>
                      </p:cNvSpPr>
                      <p:nvPr/>
                    </p:nvSpPr>
                    <p:spPr bwMode="auto">
                      <a:xfrm>
                        <a:off x="12060" y="1620"/>
                        <a:ext cx="540" cy="360"/>
                      </a:xfrm>
                      <a:prstGeom prst="rect">
                        <a:avLst/>
                      </a:prstGeom>
                      <a:solidFill>
                        <a:srgbClr val="FFFFFF">
                          <a:alpha val="0"/>
                        </a:srgbClr>
                      </a:solidFill>
                      <a:ln w="9525">
                        <a:noFill/>
                        <a:miter lim="800000"/>
                        <a:headEnd/>
                        <a:tailEnd/>
                      </a:ln>
                    </p:spPr>
                    <p:txBody>
                      <a:bodyPr/>
                      <a:lstStyle/>
                      <a:p>
                        <a:r>
                          <a:rPr lang="en-US" sz="1200"/>
                          <a:t>1</a:t>
                        </a:r>
                        <a:endParaRPr lang="en-US"/>
                      </a:p>
                    </p:txBody>
                  </p:sp>
                  <p:sp>
                    <p:nvSpPr>
                      <p:cNvPr id="63546" name="Text Box 93"/>
                      <p:cNvSpPr txBox="1">
                        <a:spLocks noChangeArrowheads="1"/>
                      </p:cNvSpPr>
                      <p:nvPr/>
                    </p:nvSpPr>
                    <p:spPr bwMode="auto">
                      <a:xfrm>
                        <a:off x="4860" y="900"/>
                        <a:ext cx="1080" cy="540"/>
                      </a:xfrm>
                      <a:prstGeom prst="rect">
                        <a:avLst/>
                      </a:prstGeom>
                      <a:solidFill>
                        <a:srgbClr val="FFFFFF">
                          <a:alpha val="0"/>
                        </a:srgbClr>
                      </a:solidFill>
                      <a:ln w="9525">
                        <a:noFill/>
                        <a:miter lim="800000"/>
                        <a:headEnd/>
                        <a:tailEnd/>
                      </a:ln>
                    </p:spPr>
                    <p:txBody>
                      <a:bodyPr/>
                      <a:lstStyle/>
                      <a:p>
                        <a:r>
                          <a:rPr lang="en-US" sz="1200"/>
                          <a:t>1/CW</a:t>
                        </a:r>
                        <a:r>
                          <a:rPr lang="en-US" sz="1200" baseline="-25000"/>
                          <a:t>0</a:t>
                        </a:r>
                        <a:endParaRPr lang="en-US"/>
                      </a:p>
                    </p:txBody>
                  </p:sp>
                </p:grpSp>
                <p:sp>
                  <p:nvSpPr>
                    <p:cNvPr id="63519" name="Oval 94"/>
                    <p:cNvSpPr>
                      <a:spLocks noChangeArrowheads="1"/>
                    </p:cNvSpPr>
                    <p:nvPr/>
                  </p:nvSpPr>
                  <p:spPr bwMode="auto">
                    <a:xfrm>
                      <a:off x="2355" y="5783"/>
                      <a:ext cx="180" cy="180"/>
                    </a:xfrm>
                    <a:prstGeom prst="ellipse">
                      <a:avLst/>
                    </a:prstGeom>
                    <a:solidFill>
                      <a:srgbClr val="333333"/>
                    </a:solidFill>
                    <a:ln w="9525">
                      <a:solidFill>
                        <a:srgbClr val="000000"/>
                      </a:solidFill>
                      <a:round/>
                      <a:headEnd/>
                      <a:tailEnd/>
                    </a:ln>
                  </p:spPr>
                  <p:txBody>
                    <a:bodyPr/>
                    <a:lstStyle/>
                    <a:p>
                      <a:endParaRPr lang="en-US"/>
                    </a:p>
                  </p:txBody>
                </p:sp>
                <p:sp>
                  <p:nvSpPr>
                    <p:cNvPr id="63520" name="Line 95"/>
                    <p:cNvSpPr>
                      <a:spLocks noChangeShapeType="1"/>
                    </p:cNvSpPr>
                    <p:nvPr/>
                  </p:nvSpPr>
                  <p:spPr bwMode="auto">
                    <a:xfrm>
                      <a:off x="2445" y="5963"/>
                      <a:ext cx="0" cy="1080"/>
                    </a:xfrm>
                    <a:prstGeom prst="line">
                      <a:avLst/>
                    </a:prstGeom>
                    <a:noFill/>
                    <a:ln w="9525">
                      <a:solidFill>
                        <a:srgbClr val="000000"/>
                      </a:solidFill>
                      <a:round/>
                      <a:headEnd/>
                      <a:tailEnd type="triangle" w="med" len="med"/>
                    </a:ln>
                  </p:spPr>
                  <p:txBody>
                    <a:bodyPr/>
                    <a:lstStyle/>
                    <a:p>
                      <a:endParaRPr lang="en-US"/>
                    </a:p>
                  </p:txBody>
                </p:sp>
                <p:sp>
                  <p:nvSpPr>
                    <p:cNvPr id="63521" name="Line 96"/>
                    <p:cNvSpPr>
                      <a:spLocks noChangeShapeType="1"/>
                    </p:cNvSpPr>
                    <p:nvPr/>
                  </p:nvSpPr>
                  <p:spPr bwMode="auto">
                    <a:xfrm>
                      <a:off x="2445" y="5963"/>
                      <a:ext cx="1800" cy="1080"/>
                    </a:xfrm>
                    <a:prstGeom prst="line">
                      <a:avLst/>
                    </a:prstGeom>
                    <a:noFill/>
                    <a:ln w="9525">
                      <a:solidFill>
                        <a:srgbClr val="000000"/>
                      </a:solidFill>
                      <a:round/>
                      <a:headEnd/>
                      <a:tailEnd type="triangle" w="med" len="med"/>
                    </a:ln>
                  </p:spPr>
                  <p:txBody>
                    <a:bodyPr/>
                    <a:lstStyle/>
                    <a:p>
                      <a:endParaRPr lang="en-US"/>
                    </a:p>
                  </p:txBody>
                </p:sp>
                <p:sp>
                  <p:nvSpPr>
                    <p:cNvPr id="63522" name="Line 97"/>
                    <p:cNvSpPr>
                      <a:spLocks noChangeShapeType="1"/>
                    </p:cNvSpPr>
                    <p:nvPr/>
                  </p:nvSpPr>
                  <p:spPr bwMode="auto">
                    <a:xfrm>
                      <a:off x="2445" y="5963"/>
                      <a:ext cx="3960" cy="1080"/>
                    </a:xfrm>
                    <a:prstGeom prst="line">
                      <a:avLst/>
                    </a:prstGeom>
                    <a:noFill/>
                    <a:ln w="9525">
                      <a:solidFill>
                        <a:srgbClr val="000000"/>
                      </a:solidFill>
                      <a:round/>
                      <a:headEnd/>
                      <a:tailEnd type="triangle" w="med" len="med"/>
                    </a:ln>
                  </p:spPr>
                  <p:txBody>
                    <a:bodyPr/>
                    <a:lstStyle/>
                    <a:p>
                      <a:endParaRPr lang="en-US"/>
                    </a:p>
                  </p:txBody>
                </p:sp>
                <p:sp>
                  <p:nvSpPr>
                    <p:cNvPr id="63523" name="Line 98"/>
                    <p:cNvSpPr>
                      <a:spLocks noChangeShapeType="1"/>
                    </p:cNvSpPr>
                    <p:nvPr/>
                  </p:nvSpPr>
                  <p:spPr bwMode="auto">
                    <a:xfrm>
                      <a:off x="2445" y="5963"/>
                      <a:ext cx="7560" cy="1080"/>
                    </a:xfrm>
                    <a:prstGeom prst="line">
                      <a:avLst/>
                    </a:prstGeom>
                    <a:noFill/>
                    <a:ln w="9525">
                      <a:solidFill>
                        <a:srgbClr val="000000"/>
                      </a:solidFill>
                      <a:round/>
                      <a:headEnd/>
                      <a:tailEnd type="triangle" w="med" len="med"/>
                    </a:ln>
                  </p:spPr>
                  <p:txBody>
                    <a:bodyPr/>
                    <a:lstStyle/>
                    <a:p>
                      <a:endParaRPr lang="en-US"/>
                    </a:p>
                  </p:txBody>
                </p:sp>
                <p:sp>
                  <p:nvSpPr>
                    <p:cNvPr id="63524" name="Line 99"/>
                    <p:cNvSpPr>
                      <a:spLocks noChangeShapeType="1"/>
                    </p:cNvSpPr>
                    <p:nvPr/>
                  </p:nvSpPr>
                  <p:spPr bwMode="auto">
                    <a:xfrm>
                      <a:off x="2445" y="5963"/>
                      <a:ext cx="10260" cy="1080"/>
                    </a:xfrm>
                    <a:prstGeom prst="line">
                      <a:avLst/>
                    </a:prstGeom>
                    <a:noFill/>
                    <a:ln w="9525">
                      <a:solidFill>
                        <a:srgbClr val="000000"/>
                      </a:solidFill>
                      <a:round/>
                      <a:headEnd/>
                      <a:tailEnd type="triangle" w="med" len="med"/>
                    </a:ln>
                  </p:spPr>
                  <p:txBody>
                    <a:bodyPr/>
                    <a:lstStyle/>
                    <a:p>
                      <a:endParaRPr lang="en-US"/>
                    </a:p>
                  </p:txBody>
                </p:sp>
                <p:sp>
                  <p:nvSpPr>
                    <p:cNvPr id="63525" name="Text Box 100"/>
                    <p:cNvSpPr txBox="1">
                      <a:spLocks noChangeArrowheads="1"/>
                    </p:cNvSpPr>
                    <p:nvPr/>
                  </p:nvSpPr>
                  <p:spPr bwMode="auto">
                    <a:xfrm>
                      <a:off x="4605" y="6323"/>
                      <a:ext cx="1080" cy="540"/>
                    </a:xfrm>
                    <a:prstGeom prst="rect">
                      <a:avLst/>
                    </a:prstGeom>
                    <a:solidFill>
                      <a:srgbClr val="FFFFFF">
                        <a:alpha val="0"/>
                      </a:srgbClr>
                    </a:solidFill>
                    <a:ln w="9525">
                      <a:noFill/>
                      <a:miter lim="800000"/>
                      <a:headEnd/>
                      <a:tailEnd/>
                    </a:ln>
                  </p:spPr>
                  <p:txBody>
                    <a:bodyPr/>
                    <a:lstStyle/>
                    <a:p>
                      <a:r>
                        <a:rPr lang="en-US" sz="1200"/>
                        <a:t>p/CW</a:t>
                      </a:r>
                      <a:r>
                        <a:rPr lang="en-US" sz="1200" baseline="-25000"/>
                        <a:t>1</a:t>
                      </a:r>
                      <a:endParaRPr lang="en-US"/>
                    </a:p>
                  </p:txBody>
                </p:sp>
              </p:grpSp>
              <p:sp>
                <p:nvSpPr>
                  <p:cNvPr id="63514" name="Line 101"/>
                  <p:cNvSpPr>
                    <a:spLocks noChangeShapeType="1"/>
                  </p:cNvSpPr>
                  <p:nvPr/>
                </p:nvSpPr>
                <p:spPr bwMode="auto">
                  <a:xfrm flipH="1">
                    <a:off x="600" y="12140"/>
                    <a:ext cx="540" cy="0"/>
                  </a:xfrm>
                  <a:prstGeom prst="line">
                    <a:avLst/>
                  </a:prstGeom>
                  <a:noFill/>
                  <a:ln w="9525">
                    <a:solidFill>
                      <a:srgbClr val="000000"/>
                    </a:solidFill>
                    <a:round/>
                    <a:headEnd/>
                    <a:tailEnd type="triangle" w="med" len="med"/>
                  </a:ln>
                </p:spPr>
                <p:txBody>
                  <a:bodyPr/>
                  <a:lstStyle/>
                  <a:p>
                    <a:endParaRPr lang="en-US"/>
                  </a:p>
                </p:txBody>
              </p:sp>
              <p:sp>
                <p:nvSpPr>
                  <p:cNvPr id="63515" name="Line 102"/>
                  <p:cNvSpPr>
                    <a:spLocks noChangeShapeType="1"/>
                  </p:cNvSpPr>
                  <p:nvPr/>
                </p:nvSpPr>
                <p:spPr bwMode="auto">
                  <a:xfrm flipH="1">
                    <a:off x="660" y="7640"/>
                    <a:ext cx="540" cy="0"/>
                  </a:xfrm>
                  <a:prstGeom prst="line">
                    <a:avLst/>
                  </a:prstGeom>
                  <a:noFill/>
                  <a:ln w="9525">
                    <a:solidFill>
                      <a:srgbClr val="000000"/>
                    </a:solidFill>
                    <a:round/>
                    <a:headEnd/>
                    <a:tailEnd type="triangle" w="med" len="med"/>
                  </a:ln>
                </p:spPr>
                <p:txBody>
                  <a:bodyPr/>
                  <a:lstStyle/>
                  <a:p>
                    <a:endParaRPr lang="en-US"/>
                  </a:p>
                </p:txBody>
              </p:sp>
              <p:sp>
                <p:nvSpPr>
                  <p:cNvPr id="63516" name="Line 103"/>
                  <p:cNvSpPr>
                    <a:spLocks noChangeShapeType="1"/>
                  </p:cNvSpPr>
                  <p:nvPr/>
                </p:nvSpPr>
                <p:spPr bwMode="auto">
                  <a:xfrm flipH="1">
                    <a:off x="700" y="2780"/>
                    <a:ext cx="540" cy="0"/>
                  </a:xfrm>
                  <a:prstGeom prst="line">
                    <a:avLst/>
                  </a:prstGeom>
                  <a:noFill/>
                  <a:ln w="9525">
                    <a:solidFill>
                      <a:srgbClr val="000000"/>
                    </a:solidFill>
                    <a:round/>
                    <a:headEnd/>
                    <a:tailEnd type="triangle" w="med" len="med"/>
                  </a:ln>
                </p:spPr>
                <p:txBody>
                  <a:bodyPr/>
                  <a:lstStyle/>
                  <a:p>
                    <a:endParaRPr lang="en-US"/>
                  </a:p>
                </p:txBody>
              </p:sp>
              <p:sp>
                <p:nvSpPr>
                  <p:cNvPr id="63517" name="Line 104"/>
                  <p:cNvSpPr>
                    <a:spLocks noChangeShapeType="1"/>
                  </p:cNvSpPr>
                  <p:nvPr/>
                </p:nvSpPr>
                <p:spPr bwMode="auto">
                  <a:xfrm flipV="1">
                    <a:off x="580" y="1320"/>
                    <a:ext cx="0" cy="10800"/>
                  </a:xfrm>
                  <a:prstGeom prst="line">
                    <a:avLst/>
                  </a:prstGeom>
                  <a:noFill/>
                  <a:ln w="9525">
                    <a:solidFill>
                      <a:srgbClr val="000000"/>
                    </a:solidFill>
                    <a:round/>
                    <a:headEnd/>
                    <a:tailEnd/>
                  </a:ln>
                </p:spPr>
                <p:txBody>
                  <a:bodyPr/>
                  <a:lstStyle/>
                  <a:p>
                    <a:endParaRPr lang="en-US"/>
                  </a:p>
                </p:txBody>
              </p:sp>
            </p:grpSp>
            <p:sp>
              <p:nvSpPr>
                <p:cNvPr id="63503" name="Line 105"/>
                <p:cNvSpPr>
                  <a:spLocks noChangeShapeType="1"/>
                </p:cNvSpPr>
                <p:nvPr/>
              </p:nvSpPr>
              <p:spPr bwMode="auto">
                <a:xfrm>
                  <a:off x="540" y="1260"/>
                  <a:ext cx="1080" cy="0"/>
                </a:xfrm>
                <a:prstGeom prst="line">
                  <a:avLst/>
                </a:prstGeom>
                <a:noFill/>
                <a:ln w="9525">
                  <a:solidFill>
                    <a:srgbClr val="000000"/>
                  </a:solidFill>
                  <a:round/>
                  <a:headEnd/>
                  <a:tailEnd type="triangle" w="med" len="med"/>
                </a:ln>
              </p:spPr>
              <p:txBody>
                <a:bodyPr/>
                <a:lstStyle/>
                <a:p>
                  <a:endParaRPr lang="en-US"/>
                </a:p>
              </p:txBody>
            </p:sp>
          </p:grpSp>
          <p:sp>
            <p:nvSpPr>
              <p:cNvPr id="63497" name="Freeform 106"/>
              <p:cNvSpPr>
                <a:spLocks/>
              </p:cNvSpPr>
              <p:nvPr/>
            </p:nvSpPr>
            <p:spPr bwMode="auto">
              <a:xfrm>
                <a:off x="1180" y="12500"/>
                <a:ext cx="780" cy="1260"/>
              </a:xfrm>
              <a:custGeom>
                <a:avLst/>
                <a:gdLst>
                  <a:gd name="T0" fmla="*/ 420 w 780"/>
                  <a:gd name="T1" fmla="*/ 0 h 1260"/>
                  <a:gd name="T2" fmla="*/ 60 w 780"/>
                  <a:gd name="T3" fmla="*/ 540 h 1260"/>
                  <a:gd name="T4" fmla="*/ 780 w 780"/>
                  <a:gd name="T5" fmla="*/ 1260 h 1260"/>
                  <a:gd name="T6" fmla="*/ 0 60000 65536"/>
                  <a:gd name="T7" fmla="*/ 0 60000 65536"/>
                  <a:gd name="T8" fmla="*/ 0 60000 65536"/>
                  <a:gd name="T9" fmla="*/ 0 w 780"/>
                  <a:gd name="T10" fmla="*/ 0 h 1260"/>
                  <a:gd name="T11" fmla="*/ 780 w 780"/>
                  <a:gd name="T12" fmla="*/ 1260 h 1260"/>
                </a:gdLst>
                <a:ahLst/>
                <a:cxnLst>
                  <a:cxn ang="T6">
                    <a:pos x="T0" y="T1"/>
                  </a:cxn>
                  <a:cxn ang="T7">
                    <a:pos x="T2" y="T3"/>
                  </a:cxn>
                  <a:cxn ang="T8">
                    <a:pos x="T4" y="T5"/>
                  </a:cxn>
                </a:cxnLst>
                <a:rect l="T9" t="T10" r="T11" b="T12"/>
                <a:pathLst>
                  <a:path w="780" h="1260">
                    <a:moveTo>
                      <a:pt x="420" y="0"/>
                    </a:moveTo>
                    <a:cubicBezTo>
                      <a:pt x="210" y="165"/>
                      <a:pt x="0" y="330"/>
                      <a:pt x="60" y="540"/>
                    </a:cubicBezTo>
                    <a:cubicBezTo>
                      <a:pt x="120" y="750"/>
                      <a:pt x="450" y="1005"/>
                      <a:pt x="780" y="1260"/>
                    </a:cubicBezTo>
                  </a:path>
                </a:pathLst>
              </a:custGeom>
              <a:noFill/>
              <a:ln w="9525">
                <a:solidFill>
                  <a:srgbClr val="000000"/>
                </a:solidFill>
                <a:round/>
                <a:headEnd/>
                <a:tailEnd type="triangle" w="med" len="med"/>
              </a:ln>
            </p:spPr>
            <p:txBody>
              <a:bodyPr/>
              <a:lstStyle/>
              <a:p>
                <a:endParaRPr lang="en-US"/>
              </a:p>
            </p:txBody>
          </p:sp>
          <p:sp>
            <p:nvSpPr>
              <p:cNvPr id="63498" name="Text Box 107"/>
              <p:cNvSpPr txBox="1">
                <a:spLocks noChangeArrowheads="1"/>
              </p:cNvSpPr>
              <p:nvPr/>
            </p:nvSpPr>
            <p:spPr bwMode="auto">
              <a:xfrm>
                <a:off x="1260" y="12780"/>
                <a:ext cx="540" cy="540"/>
              </a:xfrm>
              <a:prstGeom prst="rect">
                <a:avLst/>
              </a:prstGeom>
              <a:solidFill>
                <a:srgbClr val="FFFFFF">
                  <a:alpha val="0"/>
                </a:srgbClr>
              </a:solidFill>
              <a:ln w="9525">
                <a:noFill/>
                <a:miter lim="800000"/>
                <a:headEnd/>
                <a:tailEnd/>
              </a:ln>
            </p:spPr>
            <p:txBody>
              <a:bodyPr/>
              <a:lstStyle/>
              <a:p>
                <a:r>
                  <a:rPr lang="en-US" sz="1200"/>
                  <a:t>p</a:t>
                </a:r>
                <a:endParaRPr lang="en-US"/>
              </a:p>
            </p:txBody>
          </p:sp>
          <p:sp>
            <p:nvSpPr>
              <p:cNvPr id="63499" name="Text Box 108"/>
              <p:cNvSpPr txBox="1">
                <a:spLocks noChangeArrowheads="1"/>
              </p:cNvSpPr>
              <p:nvPr/>
            </p:nvSpPr>
            <p:spPr bwMode="auto">
              <a:xfrm>
                <a:off x="720" y="1260"/>
                <a:ext cx="1080" cy="540"/>
              </a:xfrm>
              <a:prstGeom prst="rect">
                <a:avLst/>
              </a:prstGeom>
              <a:solidFill>
                <a:srgbClr val="FFFFFF">
                  <a:alpha val="0"/>
                </a:srgbClr>
              </a:solidFill>
              <a:ln w="9525">
                <a:noFill/>
                <a:miter lim="800000"/>
                <a:headEnd/>
                <a:tailEnd/>
              </a:ln>
            </p:spPr>
            <p:txBody>
              <a:bodyPr/>
              <a:lstStyle/>
              <a:p>
                <a:r>
                  <a:rPr lang="en-US" sz="1200"/>
                  <a:t>1-p</a:t>
                </a:r>
                <a:endParaRPr lang="en-US"/>
              </a:p>
            </p:txBody>
          </p:sp>
        </p:grpSp>
        <p:sp>
          <p:nvSpPr>
            <p:cNvPr id="63494" name="Text Box 109"/>
            <p:cNvSpPr txBox="1">
              <a:spLocks noChangeArrowheads="1"/>
            </p:cNvSpPr>
            <p:nvPr/>
          </p:nvSpPr>
          <p:spPr bwMode="auto">
            <a:xfrm>
              <a:off x="720" y="1104"/>
              <a:ext cx="4224" cy="288"/>
            </a:xfrm>
            <a:prstGeom prst="rect">
              <a:avLst/>
            </a:prstGeom>
            <a:noFill/>
            <a:ln w="9525">
              <a:noFill/>
              <a:miter lim="800000"/>
              <a:headEnd/>
              <a:tailEnd/>
            </a:ln>
          </p:spPr>
          <p:txBody>
            <a:bodyPr>
              <a:spAutoFit/>
            </a:bodyPr>
            <a:lstStyle/>
            <a:p>
              <a:pPr>
                <a:spcBef>
                  <a:spcPct val="50000"/>
                </a:spcBef>
              </a:pPr>
              <a:r>
                <a:rPr lang="en-US"/>
                <a:t>……………………………………………………….</a:t>
              </a:r>
            </a:p>
          </p:txBody>
        </p:sp>
        <p:sp>
          <p:nvSpPr>
            <p:cNvPr id="63495" name="Text Box 110"/>
            <p:cNvSpPr txBox="1">
              <a:spLocks noChangeArrowheads="1"/>
            </p:cNvSpPr>
            <p:nvPr/>
          </p:nvSpPr>
          <p:spPr bwMode="auto">
            <a:xfrm>
              <a:off x="960" y="2640"/>
              <a:ext cx="4224" cy="288"/>
            </a:xfrm>
            <a:prstGeom prst="rect">
              <a:avLst/>
            </a:prstGeom>
            <a:noFill/>
            <a:ln w="9525">
              <a:noFill/>
              <a:miter lim="800000"/>
              <a:headEnd/>
              <a:tailEnd/>
            </a:ln>
          </p:spPr>
          <p:txBody>
            <a:bodyPr>
              <a:spAutoFit/>
            </a:bodyPr>
            <a:lstStyle/>
            <a:p>
              <a:pPr>
                <a:spcBef>
                  <a:spcPct val="50000"/>
                </a:spcBef>
              </a:pPr>
              <a:r>
                <a:rPr lang="en-US"/>
                <a:t>……………………………………………………….</a:t>
              </a:r>
            </a:p>
          </p:txBody>
        </p:sp>
      </p:grpSp>
      <p:sp>
        <p:nvSpPr>
          <p:cNvPr id="63492" name="Text Box 112"/>
          <p:cNvSpPr txBox="1">
            <a:spLocks noChangeArrowheads="1"/>
          </p:cNvSpPr>
          <p:nvPr/>
        </p:nvSpPr>
        <p:spPr bwMode="auto">
          <a:xfrm>
            <a:off x="0" y="6488113"/>
            <a:ext cx="9144000" cy="369887"/>
          </a:xfrm>
          <a:prstGeom prst="rect">
            <a:avLst/>
          </a:prstGeom>
          <a:solidFill>
            <a:srgbClr val="FFCC99"/>
          </a:solidFill>
          <a:ln w="9525">
            <a:noFill/>
            <a:miter lim="800000"/>
            <a:headEnd/>
            <a:tailEnd/>
          </a:ln>
        </p:spPr>
        <p:txBody>
          <a:bodyPr>
            <a:spAutoFit/>
          </a:bodyPr>
          <a:lstStyle/>
          <a:p>
            <a:pPr>
              <a:spcBef>
                <a:spcPct val="50000"/>
              </a:spcBef>
            </a:pPr>
            <a:r>
              <a:rPr lang="en-US" sz="1800"/>
              <a:t>Two-dimensional Markov chain where </a:t>
            </a:r>
            <a:r>
              <a:rPr lang="en-US" sz="1800">
                <a:solidFill>
                  <a:schemeClr val="accent2"/>
                </a:solidFill>
              </a:rPr>
              <a:t>CW</a:t>
            </a:r>
            <a:r>
              <a:rPr lang="en-US" sz="1800"/>
              <a:t> stands for </a:t>
            </a:r>
            <a:r>
              <a:rPr lang="en-US" sz="1800">
                <a:solidFill>
                  <a:schemeClr val="accent2"/>
                </a:solidFill>
              </a:rPr>
              <a:t>contention window</a:t>
            </a:r>
            <a:r>
              <a:rPr lang="en-US" sz="1800"/>
              <a:t>.  CW</a:t>
            </a:r>
            <a:r>
              <a:rPr lang="en-US" sz="1800" baseline="-25000"/>
              <a:t>i  </a:t>
            </a:r>
            <a:r>
              <a:rPr lang="en-US" sz="1800"/>
              <a:t>= 2</a:t>
            </a:r>
            <a:r>
              <a:rPr lang="en-US" sz="1800" baseline="30000"/>
              <a:t>i</a:t>
            </a:r>
            <a:r>
              <a:rPr lang="en-US" sz="1800"/>
              <a:t>(CW</a:t>
            </a:r>
            <a:r>
              <a:rPr lang="en-US" sz="1800" baseline="-25000"/>
              <a:t>min</a:t>
            </a:r>
            <a:r>
              <a:rPr lang="en-US" sz="1800"/>
              <a:t>+1)</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5"/>
          <p:cNvSpPr>
            <a:spLocks noGrp="1"/>
          </p:cNvSpPr>
          <p:nvPr>
            <p:ph type="sldNum" sz="quarter" idx="12"/>
          </p:nvPr>
        </p:nvSpPr>
        <p:spPr>
          <a:noFill/>
        </p:spPr>
        <p:txBody>
          <a:bodyPr/>
          <a:lstStyle/>
          <a:p>
            <a:fld id="{80173C61-FDC0-41DA-9B61-AFA8F25F8A6C}" type="slidenum">
              <a:rPr lang="en-US" smtClean="0"/>
              <a:pPr/>
              <a:t>84</a:t>
            </a:fld>
            <a:endParaRPr lang="en-US"/>
          </a:p>
        </p:txBody>
      </p:sp>
      <p:sp>
        <p:nvSpPr>
          <p:cNvPr id="64515" name="Text Box 4"/>
          <p:cNvSpPr txBox="1">
            <a:spLocks noChangeArrowheads="1"/>
          </p:cNvSpPr>
          <p:nvPr/>
        </p:nvSpPr>
        <p:spPr bwMode="auto">
          <a:xfrm>
            <a:off x="762000" y="762000"/>
            <a:ext cx="6934200" cy="1066800"/>
          </a:xfrm>
          <a:prstGeom prst="rect">
            <a:avLst/>
          </a:prstGeom>
          <a:solidFill>
            <a:srgbClr val="66FF33"/>
          </a:solidFill>
          <a:ln w="9525">
            <a:noFill/>
            <a:miter lim="800000"/>
            <a:headEnd/>
            <a:tailEnd/>
          </a:ln>
        </p:spPr>
        <p:txBody>
          <a:bodyPr>
            <a:spAutoFit/>
          </a:bodyPr>
          <a:lstStyle/>
          <a:p>
            <a:pPr algn="ctr">
              <a:spcBef>
                <a:spcPct val="50000"/>
              </a:spcBef>
            </a:pPr>
            <a:r>
              <a:rPr lang="en-US" sz="3200"/>
              <a:t>Carrier Sense Multiple Access/ Collision Detection (CSMA/CD)</a:t>
            </a:r>
          </a:p>
        </p:txBody>
      </p:sp>
      <p:sp>
        <p:nvSpPr>
          <p:cNvPr id="171013" name="Text Box 5"/>
          <p:cNvSpPr txBox="1">
            <a:spLocks noChangeArrowheads="1"/>
          </p:cNvSpPr>
          <p:nvPr/>
        </p:nvSpPr>
        <p:spPr bwMode="auto">
          <a:xfrm>
            <a:off x="228600" y="2438400"/>
            <a:ext cx="8686800" cy="1917700"/>
          </a:xfrm>
          <a:prstGeom prst="rect">
            <a:avLst/>
          </a:prstGeom>
          <a:solidFill>
            <a:srgbClr val="FFFF66"/>
          </a:solidFill>
          <a:ln w="9525">
            <a:noFill/>
            <a:miter lim="800000"/>
            <a:headEnd/>
            <a:tailEnd/>
          </a:ln>
        </p:spPr>
        <p:txBody>
          <a:bodyPr>
            <a:spAutoFit/>
          </a:bodyPr>
          <a:lstStyle/>
          <a:p>
            <a:pPr algn="justLow">
              <a:spcBef>
                <a:spcPct val="50000"/>
              </a:spcBef>
              <a:buFont typeface="Wingdings" pitchFamily="2" charset="2"/>
              <a:buChar char="Ø"/>
            </a:pPr>
            <a:r>
              <a:rPr lang="en-US"/>
              <a:t>A collision detection mechanism compares the amount of energy on the media after a packet is transmitted. If the value is greater than the the energy used by the transmitting device, then a collision has occurred. If there is no difference the two measured values, then a collision has not occurred.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71013">
                                            <p:txEl>
                                              <p:pRg st="0" end="0"/>
                                            </p:txEl>
                                          </p:spTgt>
                                        </p:tgtEl>
                                        <p:attrNameLst>
                                          <p:attrName>style.visibility</p:attrName>
                                        </p:attrNameLst>
                                      </p:cBhvr>
                                      <p:to>
                                        <p:strVal val="visible"/>
                                      </p:to>
                                    </p:set>
                                    <p:animEffect transition="in" filter="diamond(in)">
                                      <p:cBhvr>
                                        <p:cTn id="7" dur="2000"/>
                                        <p:tgtEl>
                                          <p:spTgt spid="1710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p:cNvSpPr>
            <a:spLocks noGrp="1"/>
          </p:cNvSpPr>
          <p:nvPr>
            <p:ph type="sldNum" sz="quarter" idx="12"/>
          </p:nvPr>
        </p:nvSpPr>
        <p:spPr>
          <a:noFill/>
        </p:spPr>
        <p:txBody>
          <a:bodyPr/>
          <a:lstStyle/>
          <a:p>
            <a:fld id="{1B3089A5-2400-482D-ABB0-B11C8E9CF7DB}" type="slidenum">
              <a:rPr lang="en-US" smtClean="0"/>
              <a:pPr/>
              <a:t>85</a:t>
            </a:fld>
            <a:endParaRPr lang="en-US"/>
          </a:p>
        </p:txBody>
      </p:sp>
      <p:sp>
        <p:nvSpPr>
          <p:cNvPr id="28675" name="Text Box 2"/>
          <p:cNvSpPr txBox="1">
            <a:spLocks noChangeArrowheads="1"/>
          </p:cNvSpPr>
          <p:nvPr/>
        </p:nvSpPr>
        <p:spPr bwMode="auto">
          <a:xfrm>
            <a:off x="0" y="1066800"/>
            <a:ext cx="8839200" cy="1569660"/>
          </a:xfrm>
          <a:prstGeom prst="rect">
            <a:avLst/>
          </a:prstGeom>
          <a:solidFill>
            <a:srgbClr val="FFFFCC"/>
          </a:solidFill>
          <a:ln w="9525">
            <a:noFill/>
            <a:miter lim="800000"/>
            <a:headEnd/>
            <a:tailEnd/>
          </a:ln>
        </p:spPr>
        <p:txBody>
          <a:bodyPr wrap="square">
            <a:spAutoFit/>
          </a:bodyPr>
          <a:lstStyle/>
          <a:p>
            <a:pPr algn="justLow">
              <a:spcBef>
                <a:spcPct val="50000"/>
              </a:spcBef>
            </a:pPr>
            <a:r>
              <a:rPr lang="en-US" dirty="0"/>
              <a:t>Home RF is used to interconnect the various home electronic devices such as, desktops, laptops,</a:t>
            </a:r>
            <a:r>
              <a:rPr lang="en-GB" dirty="0"/>
              <a:t> telephone, notebooks, cameras, and printers</a:t>
            </a:r>
            <a:r>
              <a:rPr lang="en-US" dirty="0"/>
              <a:t>. Home RF supports data rates of about 2Mbps and has range of about 50m. </a:t>
            </a:r>
          </a:p>
        </p:txBody>
      </p:sp>
      <p:sp>
        <p:nvSpPr>
          <p:cNvPr id="28676" name="Text Box 3"/>
          <p:cNvSpPr txBox="1">
            <a:spLocks noChangeArrowheads="1"/>
          </p:cNvSpPr>
          <p:nvPr/>
        </p:nvSpPr>
        <p:spPr bwMode="auto">
          <a:xfrm>
            <a:off x="2362200" y="304800"/>
            <a:ext cx="4343400" cy="579438"/>
          </a:xfrm>
          <a:prstGeom prst="rect">
            <a:avLst/>
          </a:prstGeom>
          <a:solidFill>
            <a:srgbClr val="66CCFF"/>
          </a:solidFill>
          <a:ln w="9525">
            <a:noFill/>
            <a:miter lim="800000"/>
            <a:headEnd/>
            <a:tailEnd/>
          </a:ln>
        </p:spPr>
        <p:txBody>
          <a:bodyPr>
            <a:spAutoFit/>
          </a:bodyPr>
          <a:lstStyle/>
          <a:p>
            <a:pPr>
              <a:spcBef>
                <a:spcPct val="50000"/>
              </a:spcBef>
            </a:pPr>
            <a:r>
              <a:rPr lang="en-US" sz="3200"/>
              <a:t>Home RF and Bluetooth</a:t>
            </a:r>
          </a:p>
        </p:txBody>
      </p:sp>
      <p:sp>
        <p:nvSpPr>
          <p:cNvPr id="28677" name="Text Box 5"/>
          <p:cNvSpPr txBox="1">
            <a:spLocks noChangeArrowheads="1"/>
          </p:cNvSpPr>
          <p:nvPr/>
        </p:nvSpPr>
        <p:spPr bwMode="auto">
          <a:xfrm>
            <a:off x="304800" y="5257800"/>
            <a:ext cx="8610600" cy="1311275"/>
          </a:xfrm>
          <a:prstGeom prst="rect">
            <a:avLst/>
          </a:prstGeom>
          <a:solidFill>
            <a:srgbClr val="FFCCCC"/>
          </a:solidFill>
          <a:ln w="9525">
            <a:noFill/>
            <a:miter lim="800000"/>
            <a:headEnd/>
            <a:tailEnd/>
          </a:ln>
        </p:spPr>
        <p:txBody>
          <a:bodyPr>
            <a:spAutoFit/>
          </a:bodyPr>
          <a:lstStyle/>
          <a:p>
            <a:pPr algn="just"/>
            <a:r>
              <a:rPr lang="en-US" sz="2000" dirty="0"/>
              <a:t>The basic Bluetooth network configuration, called a </a:t>
            </a:r>
            <a:r>
              <a:rPr lang="en-US" sz="2000" i="1" dirty="0" err="1"/>
              <a:t>piconet</a:t>
            </a:r>
            <a:r>
              <a:rPr lang="en-US" sz="2000" dirty="0"/>
              <a:t>, consists of a master device and up to seven slave devices, as in Fig. above. Any communication is between the master and a slave; the slaves do not communicate directly with each other. A Bluetooth device has a built-in short range radio transmitter.</a:t>
            </a:r>
          </a:p>
        </p:txBody>
      </p:sp>
      <p:pic>
        <p:nvPicPr>
          <p:cNvPr id="28678" name="Picture 4" descr="4-35"/>
          <p:cNvPicPr>
            <a:picLocks noChangeAspect="1" noChangeArrowheads="1"/>
          </p:cNvPicPr>
          <p:nvPr/>
        </p:nvPicPr>
        <p:blipFill>
          <a:blip r:embed="rId2"/>
          <a:srcRect/>
          <a:stretch>
            <a:fillRect/>
          </a:stretch>
        </p:blipFill>
        <p:spPr bwMode="auto">
          <a:xfrm>
            <a:off x="2057400" y="2667000"/>
            <a:ext cx="4800600" cy="2433638"/>
          </a:xfrm>
          <a:prstGeom prst="rect">
            <a:avLst/>
          </a:prstGeom>
          <a:noFill/>
          <a:ln w="9525">
            <a:noFill/>
            <a:miter lim="800000"/>
            <a:headEnd/>
            <a:tailEnd/>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3"/>
          <p:cNvSpPr>
            <a:spLocks noGrp="1"/>
          </p:cNvSpPr>
          <p:nvPr>
            <p:ph type="sldNum" sz="quarter" idx="12"/>
          </p:nvPr>
        </p:nvSpPr>
        <p:spPr>
          <a:noFill/>
        </p:spPr>
        <p:txBody>
          <a:bodyPr/>
          <a:lstStyle/>
          <a:p>
            <a:fld id="{6B2A17A3-A379-467F-9D9C-9D4B52D5AE95}" type="slidenum">
              <a:rPr lang="en-US" smtClean="0"/>
              <a:pPr/>
              <a:t>86</a:t>
            </a:fld>
            <a:endParaRPr lang="en-US"/>
          </a:p>
        </p:txBody>
      </p:sp>
      <p:sp>
        <p:nvSpPr>
          <p:cNvPr id="29699" name="TextBox 4"/>
          <p:cNvSpPr txBox="1">
            <a:spLocks noChangeArrowheads="1"/>
          </p:cNvSpPr>
          <p:nvPr/>
        </p:nvSpPr>
        <p:spPr bwMode="auto">
          <a:xfrm>
            <a:off x="0" y="3276600"/>
            <a:ext cx="9144000" cy="2308324"/>
          </a:xfrm>
          <a:prstGeom prst="rect">
            <a:avLst/>
          </a:prstGeom>
          <a:solidFill>
            <a:srgbClr val="FFCCCC"/>
          </a:solidFill>
          <a:ln w="9525">
            <a:noFill/>
            <a:miter lim="800000"/>
            <a:headEnd/>
            <a:tailEnd/>
          </a:ln>
        </p:spPr>
        <p:txBody>
          <a:bodyPr wrap="square">
            <a:spAutoFit/>
          </a:bodyPr>
          <a:lstStyle/>
          <a:p>
            <a:pPr algn="just">
              <a:buFont typeface="Wingdings" pitchFamily="2" charset="2"/>
              <a:buChar char="ü"/>
            </a:pPr>
            <a:r>
              <a:rPr lang="en-GB" dirty="0"/>
              <a:t>All the secondary/slave stations synchronize their clocks and hopping sequence with the primary.  Bluetooth uses frequency-hopping spread spectrum (FHSS) in the physical layer to avoid interference  from other devices or network. </a:t>
            </a:r>
          </a:p>
          <a:p>
            <a:pPr algn="just">
              <a:buFont typeface="Wingdings" pitchFamily="2" charset="2"/>
              <a:buChar char="ü"/>
            </a:pPr>
            <a:endParaRPr lang="en-GB" dirty="0"/>
          </a:p>
          <a:p>
            <a:pPr algn="just">
              <a:buFont typeface="Wingdings" pitchFamily="2" charset="2"/>
              <a:buChar char="ü"/>
            </a:pPr>
            <a:r>
              <a:rPr lang="en-GB" dirty="0"/>
              <a:t>Bluetooth defines two types of networks called: </a:t>
            </a:r>
            <a:r>
              <a:rPr lang="en-GB" dirty="0" err="1"/>
              <a:t>piconet</a:t>
            </a:r>
            <a:r>
              <a:rPr lang="en-GB" dirty="0"/>
              <a:t> and </a:t>
            </a:r>
            <a:r>
              <a:rPr lang="en-GB" dirty="0" err="1"/>
              <a:t>scatternet</a:t>
            </a:r>
            <a:r>
              <a:rPr lang="en-GB" dirty="0"/>
              <a:t>.</a:t>
            </a:r>
          </a:p>
        </p:txBody>
      </p:sp>
      <p:pic>
        <p:nvPicPr>
          <p:cNvPr id="29700" name="Picture 4" descr="4-35"/>
          <p:cNvPicPr>
            <a:picLocks noChangeAspect="1" noChangeArrowheads="1"/>
          </p:cNvPicPr>
          <p:nvPr/>
        </p:nvPicPr>
        <p:blipFill>
          <a:blip r:embed="rId2"/>
          <a:srcRect/>
          <a:stretch>
            <a:fillRect/>
          </a:stretch>
        </p:blipFill>
        <p:spPr bwMode="auto">
          <a:xfrm>
            <a:off x="1447800" y="152400"/>
            <a:ext cx="5562600" cy="2820988"/>
          </a:xfrm>
          <a:prstGeom prst="rect">
            <a:avLst/>
          </a:prstGeom>
          <a:noFill/>
          <a:ln w="9525">
            <a:noFill/>
            <a:miter lim="800000"/>
            <a:headEnd/>
            <a:tailEnd/>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3"/>
          <p:cNvSpPr>
            <a:spLocks noGrp="1"/>
          </p:cNvSpPr>
          <p:nvPr>
            <p:ph type="sldNum" sz="quarter" idx="12"/>
          </p:nvPr>
        </p:nvSpPr>
        <p:spPr>
          <a:noFill/>
        </p:spPr>
        <p:txBody>
          <a:bodyPr/>
          <a:lstStyle/>
          <a:p>
            <a:fld id="{2E7A3FD2-CBA6-4B07-B8F9-A9B4B34DE9E0}" type="slidenum">
              <a:rPr lang="en-US" smtClean="0"/>
              <a:pPr/>
              <a:t>87</a:t>
            </a:fld>
            <a:endParaRPr lang="en-US"/>
          </a:p>
        </p:txBody>
      </p:sp>
      <p:sp>
        <p:nvSpPr>
          <p:cNvPr id="30723" name="TextBox 4"/>
          <p:cNvSpPr txBox="1">
            <a:spLocks noChangeArrowheads="1"/>
          </p:cNvSpPr>
          <p:nvPr/>
        </p:nvSpPr>
        <p:spPr bwMode="auto">
          <a:xfrm>
            <a:off x="0" y="3505200"/>
            <a:ext cx="9144000" cy="2554288"/>
          </a:xfrm>
          <a:prstGeom prst="rect">
            <a:avLst/>
          </a:prstGeom>
          <a:solidFill>
            <a:srgbClr val="FFCCCC"/>
          </a:solidFill>
          <a:ln w="9525">
            <a:noFill/>
            <a:miter lim="800000"/>
            <a:headEnd/>
            <a:tailEnd/>
          </a:ln>
        </p:spPr>
        <p:txBody>
          <a:bodyPr>
            <a:spAutoFit/>
          </a:bodyPr>
          <a:lstStyle/>
          <a:p>
            <a:pPr algn="just">
              <a:buFont typeface="Wingdings" pitchFamily="2" charset="2"/>
              <a:buChar char="ü"/>
            </a:pPr>
            <a:r>
              <a:rPr lang="en-GB" sz="2000"/>
              <a:t>Piconets can be combined to form scatternet where a secondary user of one piconet acts as bridge to another piconet. The bridge secondary/slave acts as a primary in receiving  packets from the original primary of first piconet then deliver the packet to secondaries of the second piconet.</a:t>
            </a:r>
          </a:p>
          <a:p>
            <a:pPr algn="just">
              <a:buFont typeface="Wingdings" pitchFamily="2" charset="2"/>
              <a:buChar char="ü"/>
            </a:pPr>
            <a:endParaRPr lang="en-GB" sz="2000"/>
          </a:p>
          <a:p>
            <a:pPr algn="just">
              <a:buFont typeface="Wingdings" pitchFamily="2" charset="2"/>
              <a:buChar char="ü"/>
            </a:pPr>
            <a:r>
              <a:rPr lang="en-GB" sz="2000"/>
              <a:t>Although a piconet can have maximum 7 secondaries , additional seconaries can be in parked state.  A seconadry in parked state is synchronized with the primary, but can not take part in communication until it is removed from parked state to the active state.</a:t>
            </a:r>
          </a:p>
        </p:txBody>
      </p:sp>
      <p:pic>
        <p:nvPicPr>
          <p:cNvPr id="30724" name="Picture 4" descr="4-35"/>
          <p:cNvPicPr>
            <a:picLocks noChangeAspect="1" noChangeArrowheads="1"/>
          </p:cNvPicPr>
          <p:nvPr/>
        </p:nvPicPr>
        <p:blipFill>
          <a:blip r:embed="rId2"/>
          <a:srcRect/>
          <a:stretch>
            <a:fillRect/>
          </a:stretch>
        </p:blipFill>
        <p:spPr bwMode="auto">
          <a:xfrm>
            <a:off x="1447800" y="152400"/>
            <a:ext cx="6162675" cy="3124200"/>
          </a:xfrm>
          <a:prstGeom prst="rect">
            <a:avLst/>
          </a:prstGeom>
          <a:noFill/>
          <a:ln w="9525">
            <a:noFill/>
            <a:miter lim="800000"/>
            <a:headEnd/>
            <a:tailEnd/>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3"/>
          <p:cNvSpPr>
            <a:spLocks noGrp="1"/>
          </p:cNvSpPr>
          <p:nvPr>
            <p:ph type="sldNum" sz="quarter" idx="12"/>
          </p:nvPr>
        </p:nvSpPr>
        <p:spPr>
          <a:noFill/>
        </p:spPr>
        <p:txBody>
          <a:bodyPr/>
          <a:lstStyle/>
          <a:p>
            <a:fld id="{D8A91EB6-AFCD-4F6B-BD61-1A532705350B}" type="slidenum">
              <a:rPr lang="en-US" smtClean="0"/>
              <a:pPr/>
              <a:t>88</a:t>
            </a:fld>
            <a:endParaRPr lang="en-US"/>
          </a:p>
        </p:txBody>
      </p:sp>
      <p:sp>
        <p:nvSpPr>
          <p:cNvPr id="5" name="TextBox 4"/>
          <p:cNvSpPr txBox="1"/>
          <p:nvPr/>
        </p:nvSpPr>
        <p:spPr>
          <a:xfrm>
            <a:off x="152400" y="457200"/>
            <a:ext cx="6553200" cy="461963"/>
          </a:xfrm>
          <a:prstGeom prst="rect">
            <a:avLst/>
          </a:prstGeom>
          <a:noFill/>
        </p:spPr>
        <p:txBody>
          <a:bodyPr>
            <a:spAutoFit/>
          </a:bodyPr>
          <a:lstStyle/>
          <a:p>
            <a:pPr>
              <a:buFont typeface="Wingdings" pitchFamily="2" charset="2"/>
              <a:buChar char="ü"/>
              <a:defRPr/>
            </a:pPr>
            <a:r>
              <a:rPr lang="en-GB" dirty="0">
                <a:solidFill>
                  <a:srgbClr val="000000"/>
                </a:solidFill>
                <a:latin typeface="+mn-lt"/>
              </a:rPr>
              <a:t>No central network structure: “Ad-hoc” network.</a:t>
            </a:r>
            <a:endParaRPr lang="en-US" dirty="0">
              <a:latin typeface="+mn-lt"/>
            </a:endParaRPr>
          </a:p>
        </p:txBody>
      </p:sp>
      <p:pic>
        <p:nvPicPr>
          <p:cNvPr id="31748" name="Picture 8"/>
          <p:cNvPicPr>
            <a:picLocks noChangeAspect="1" noChangeArrowheads="1"/>
          </p:cNvPicPr>
          <p:nvPr/>
        </p:nvPicPr>
        <p:blipFill>
          <a:blip r:embed="rId2"/>
          <a:srcRect/>
          <a:stretch>
            <a:fillRect/>
          </a:stretch>
        </p:blipFill>
        <p:spPr bwMode="auto">
          <a:xfrm>
            <a:off x="228600" y="1371600"/>
            <a:ext cx="8610600" cy="4495800"/>
          </a:xfrm>
          <a:prstGeom prst="rect">
            <a:avLst/>
          </a:prstGeom>
          <a:noFill/>
          <a:ln w="9525">
            <a:noFill/>
            <a:round/>
            <a:headEnd/>
            <a:tailEnd/>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3"/>
          <p:cNvSpPr>
            <a:spLocks noGrp="1"/>
          </p:cNvSpPr>
          <p:nvPr>
            <p:ph type="sldNum" sz="quarter" idx="12"/>
          </p:nvPr>
        </p:nvSpPr>
        <p:spPr>
          <a:noFill/>
        </p:spPr>
        <p:txBody>
          <a:bodyPr/>
          <a:lstStyle/>
          <a:p>
            <a:fld id="{AE5AC2B1-454B-4BFA-93FF-9D14492942D9}" type="slidenum">
              <a:rPr lang="en-US" smtClean="0"/>
              <a:pPr/>
              <a:t>89</a:t>
            </a:fld>
            <a:endParaRPr lang="en-US"/>
          </a:p>
        </p:txBody>
      </p:sp>
      <p:sp>
        <p:nvSpPr>
          <p:cNvPr id="32771" name="TextBox 4"/>
          <p:cNvSpPr txBox="1">
            <a:spLocks noChangeArrowheads="1"/>
          </p:cNvSpPr>
          <p:nvPr/>
        </p:nvSpPr>
        <p:spPr bwMode="auto">
          <a:xfrm>
            <a:off x="228600" y="457200"/>
            <a:ext cx="8534400" cy="5262563"/>
          </a:xfrm>
          <a:prstGeom prst="rect">
            <a:avLst/>
          </a:prstGeom>
          <a:noFill/>
          <a:ln w="9525">
            <a:noFill/>
            <a:miter lim="800000"/>
            <a:headEnd/>
            <a:tailEnd/>
          </a:ln>
        </p:spPr>
        <p:txBody>
          <a:bodyPr>
            <a:spAutoFit/>
          </a:bodyPr>
          <a:lstStyle/>
          <a:p>
            <a:pPr algn="just"/>
            <a:r>
              <a:rPr lang="en-GB"/>
              <a:t>Two types of links can be created between primary and secondary:</a:t>
            </a:r>
          </a:p>
          <a:p>
            <a:pPr algn="just"/>
            <a:endParaRPr lang="en-GB"/>
          </a:p>
          <a:p>
            <a:pPr algn="just">
              <a:buFont typeface="Wingdings" pitchFamily="2" charset="2"/>
              <a:buChar char="ü"/>
            </a:pPr>
            <a:r>
              <a:rPr lang="en-GB"/>
              <a:t>A </a:t>
            </a:r>
            <a:r>
              <a:rPr lang="en-GB" b="1">
                <a:solidFill>
                  <a:srgbClr val="FF0000"/>
                </a:solidFill>
              </a:rPr>
              <a:t>synchronous connection-oriented (SCO)</a:t>
            </a:r>
            <a:r>
              <a:rPr lang="en-GB"/>
              <a:t> link is used when avoiding latency (delay in data delivery) is more important than integrity (error free delivery) for example real time audio. In this case physical link is created primary and secondary by reserving specific slots at regular intervals. The basic unit of connection is  two slots, one for each direction. If a packet is damaged it is never retransmitted. </a:t>
            </a:r>
          </a:p>
          <a:p>
            <a:pPr algn="just">
              <a:buFont typeface="Wingdings" pitchFamily="2" charset="2"/>
              <a:buChar char="ü"/>
            </a:pPr>
            <a:endParaRPr lang="en-GB"/>
          </a:p>
          <a:p>
            <a:pPr algn="just">
              <a:buFont typeface="Wingdings" pitchFamily="2" charset="2"/>
              <a:buChar char="ü"/>
            </a:pPr>
            <a:r>
              <a:rPr lang="en-GB"/>
              <a:t>An </a:t>
            </a:r>
            <a:r>
              <a:rPr lang="en-GB" b="1">
                <a:solidFill>
                  <a:srgbClr val="FF0000"/>
                </a:solidFill>
              </a:rPr>
              <a:t>asynchronous connectionless link (ACL) </a:t>
            </a:r>
            <a:r>
              <a:rPr lang="en-GB"/>
              <a:t>is used when data integrity is more important than avoiding latency. In this type link if payload encapsulated in the frame is lost/ corrupted, it is retransmitted. </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3"/>
          <p:cNvSpPr>
            <a:spLocks noGrp="1"/>
          </p:cNvSpPr>
          <p:nvPr>
            <p:ph type="sldNum" sz="quarter" idx="12"/>
          </p:nvPr>
        </p:nvSpPr>
        <p:spPr>
          <a:noFill/>
        </p:spPr>
        <p:txBody>
          <a:bodyPr/>
          <a:lstStyle/>
          <a:p>
            <a:fld id="{6C515D0C-DDB1-4FD5-8CD8-9379B98E29F0}" type="slidenum">
              <a:rPr lang="en-US" smtClean="0"/>
              <a:pPr/>
              <a:t>90</a:t>
            </a:fld>
            <a:endParaRPr lang="en-US"/>
          </a:p>
        </p:txBody>
      </p:sp>
      <p:grpSp>
        <p:nvGrpSpPr>
          <p:cNvPr id="2" name="Group 8"/>
          <p:cNvGrpSpPr>
            <a:grpSpLocks/>
          </p:cNvGrpSpPr>
          <p:nvPr/>
        </p:nvGrpSpPr>
        <p:grpSpPr bwMode="auto">
          <a:xfrm>
            <a:off x="1447800" y="609600"/>
            <a:ext cx="5257800" cy="3048000"/>
            <a:chOff x="1524000" y="1524000"/>
            <a:chExt cx="5257800" cy="3048000"/>
          </a:xfrm>
        </p:grpSpPr>
        <p:sp>
          <p:nvSpPr>
            <p:cNvPr id="5" name="Rectangle 4"/>
            <p:cNvSpPr/>
            <p:nvPr/>
          </p:nvSpPr>
          <p:spPr>
            <a:xfrm>
              <a:off x="1524000" y="3810000"/>
              <a:ext cx="5257800" cy="76200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dirty="0">
                  <a:solidFill>
                    <a:schemeClr val="tx1"/>
                  </a:solidFill>
                </a:rPr>
                <a:t>Radio Layer</a:t>
              </a:r>
            </a:p>
          </p:txBody>
        </p:sp>
        <p:sp>
          <p:nvSpPr>
            <p:cNvPr id="6" name="Rectangle 5"/>
            <p:cNvSpPr/>
            <p:nvPr/>
          </p:nvSpPr>
          <p:spPr>
            <a:xfrm>
              <a:off x="1524000" y="3048000"/>
              <a:ext cx="5257800" cy="76200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dirty="0">
                  <a:solidFill>
                    <a:schemeClr val="tx1"/>
                  </a:solidFill>
                </a:rPr>
                <a:t>Baseband layer</a:t>
              </a:r>
            </a:p>
          </p:txBody>
        </p:sp>
        <p:sp>
          <p:nvSpPr>
            <p:cNvPr id="7" name="Rectangle 6"/>
            <p:cNvSpPr/>
            <p:nvPr/>
          </p:nvSpPr>
          <p:spPr>
            <a:xfrm>
              <a:off x="1524000" y="2286000"/>
              <a:ext cx="5257800" cy="76200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dirty="0">
                  <a:solidFill>
                    <a:schemeClr val="tx1"/>
                  </a:solidFill>
                </a:rPr>
                <a:t>L2CAL layer</a:t>
              </a:r>
            </a:p>
          </p:txBody>
        </p:sp>
        <p:sp>
          <p:nvSpPr>
            <p:cNvPr id="8" name="Rectangle 7"/>
            <p:cNvSpPr/>
            <p:nvPr/>
          </p:nvSpPr>
          <p:spPr>
            <a:xfrm>
              <a:off x="1524000" y="1524000"/>
              <a:ext cx="5257800" cy="76200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dirty="0">
                  <a:solidFill>
                    <a:schemeClr val="tx1"/>
                  </a:solidFill>
                </a:rPr>
                <a:t>Application Layer</a:t>
              </a:r>
            </a:p>
          </p:txBody>
        </p:sp>
      </p:grpSp>
      <p:sp>
        <p:nvSpPr>
          <p:cNvPr id="33796" name="TextBox 9"/>
          <p:cNvSpPr txBox="1">
            <a:spLocks noChangeArrowheads="1"/>
          </p:cNvSpPr>
          <p:nvPr/>
        </p:nvSpPr>
        <p:spPr bwMode="auto">
          <a:xfrm>
            <a:off x="0" y="0"/>
            <a:ext cx="2971800" cy="461963"/>
          </a:xfrm>
          <a:prstGeom prst="rect">
            <a:avLst/>
          </a:prstGeom>
          <a:solidFill>
            <a:srgbClr val="FFC000"/>
          </a:solidFill>
          <a:ln w="9525">
            <a:noFill/>
            <a:miter lim="800000"/>
            <a:headEnd/>
            <a:tailEnd/>
          </a:ln>
        </p:spPr>
        <p:txBody>
          <a:bodyPr>
            <a:spAutoFit/>
          </a:bodyPr>
          <a:lstStyle/>
          <a:p>
            <a:r>
              <a:rPr lang="en-GB"/>
              <a:t>Layers of Bluetooth</a:t>
            </a:r>
          </a:p>
        </p:txBody>
      </p:sp>
      <p:sp>
        <p:nvSpPr>
          <p:cNvPr id="33797" name="TextBox 10"/>
          <p:cNvSpPr txBox="1">
            <a:spLocks noChangeArrowheads="1"/>
          </p:cNvSpPr>
          <p:nvPr/>
        </p:nvSpPr>
        <p:spPr bwMode="auto">
          <a:xfrm>
            <a:off x="0" y="3962400"/>
            <a:ext cx="9144000" cy="2308225"/>
          </a:xfrm>
          <a:prstGeom prst="rect">
            <a:avLst/>
          </a:prstGeom>
          <a:noFill/>
          <a:ln w="9525">
            <a:noFill/>
            <a:miter lim="800000"/>
            <a:headEnd/>
            <a:tailEnd/>
          </a:ln>
        </p:spPr>
        <p:txBody>
          <a:bodyPr>
            <a:spAutoFit/>
          </a:bodyPr>
          <a:lstStyle/>
          <a:p>
            <a:pPr algn="just">
              <a:buFont typeface="Wingdings" pitchFamily="2" charset="2"/>
              <a:buChar char="ü"/>
            </a:pPr>
            <a:r>
              <a:rPr lang="en-GB"/>
              <a:t>Radio layer is like physical layer of Internet. Uses FHSS, GFSK modulation.</a:t>
            </a:r>
          </a:p>
          <a:p>
            <a:pPr algn="just">
              <a:buFont typeface="Wingdings" pitchFamily="2" charset="2"/>
              <a:buChar char="ü"/>
            </a:pPr>
            <a:r>
              <a:rPr lang="en-GB"/>
              <a:t>Baseband layer is like MAC sublayer uses TDMA slot as the physical channel. </a:t>
            </a:r>
          </a:p>
          <a:p>
            <a:pPr algn="just">
              <a:buFont typeface="Wingdings" pitchFamily="2" charset="2"/>
              <a:buChar char="ü"/>
            </a:pPr>
            <a:r>
              <a:rPr lang="en-GB"/>
              <a:t>Logical Link Control and Adaption Protocol (L2CAP) is like LLC sublayer. </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0" y="2590800"/>
            <a:ext cx="3429000" cy="1447800"/>
          </a:xfrm>
          <a:solidFill>
            <a:srgbClr val="FFC000"/>
          </a:solidFill>
        </p:spPr>
        <p:txBody>
          <a:bodyPr/>
          <a:lstStyle/>
          <a:p>
            <a:r>
              <a:rPr lang="en-US" dirty="0"/>
              <a:t>CT-1</a:t>
            </a:r>
            <a:br>
              <a:rPr lang="en-US" dirty="0"/>
            </a:br>
            <a:r>
              <a:rPr lang="en-US" dirty="0"/>
              <a:t>16/2/2018</a:t>
            </a:r>
          </a:p>
        </p:txBody>
      </p:sp>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91</a:t>
            </a:fld>
            <a:endParaRPr lang="en-US"/>
          </a:p>
        </p:txBody>
      </p:sp>
    </p:spTree>
    <p:extLst>
      <p:ext uri="{BB962C8B-B14F-4D97-AF65-F5344CB8AC3E}">
        <p14:creationId xmlns:p14="http://schemas.microsoft.com/office/powerpoint/2010/main" val="426640386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58" y="0"/>
            <a:ext cx="8989142" cy="2308324"/>
          </a:xfrm>
          <a:prstGeom prst="rect">
            <a:avLst/>
          </a:prstGeom>
          <a:noFill/>
        </p:spPr>
        <p:txBody>
          <a:bodyPr wrap="square" rtlCol="0">
            <a:spAutoFit/>
          </a:bodyPr>
          <a:lstStyle/>
          <a:p>
            <a:pPr lvl="0" algn="just"/>
            <a:r>
              <a:rPr lang="en-US" sz="1800" dirty="0">
                <a:cs typeface="Times New Roman" panose="02020603050405020304" pitchFamily="18" charset="0"/>
              </a:rPr>
              <a:t>1. Let us assume bandwidth of each arrival of A</a:t>
            </a:r>
            <a:r>
              <a:rPr lang="en-US" sz="1800" baseline="-25000" dirty="0">
                <a:cs typeface="Times New Roman" panose="02020603050405020304" pitchFamily="18" charset="0"/>
              </a:rPr>
              <a:t>1 </a:t>
            </a:r>
            <a:r>
              <a:rPr lang="en-US" sz="1800" dirty="0">
                <a:cs typeface="Times New Roman" panose="02020603050405020304" pitchFamily="18" charset="0"/>
              </a:rPr>
              <a:t>is 4 kbps and that of A</a:t>
            </a:r>
            <a:r>
              <a:rPr lang="en-US" sz="1800" baseline="-25000" dirty="0">
                <a:cs typeface="Times New Roman" panose="02020603050405020304" pitchFamily="18" charset="0"/>
              </a:rPr>
              <a:t>2 </a:t>
            </a:r>
            <a:r>
              <a:rPr lang="en-US" sz="1800" dirty="0">
                <a:cs typeface="Times New Roman" panose="02020603050405020304" pitchFamily="18" charset="0"/>
              </a:rPr>
              <a:t>is 5 kbps. Given A</a:t>
            </a:r>
            <a:r>
              <a:rPr lang="en-US" sz="1800" baseline="-25000" dirty="0">
                <a:cs typeface="Times New Roman" panose="02020603050405020304" pitchFamily="18" charset="0"/>
              </a:rPr>
              <a:t>1 </a:t>
            </a:r>
            <a:r>
              <a:rPr lang="en-US" sz="1800" dirty="0">
                <a:cs typeface="Times New Roman" panose="02020603050405020304" pitchFamily="18" charset="0"/>
              </a:rPr>
              <a:t>= 1 and A</a:t>
            </a:r>
            <a:r>
              <a:rPr lang="en-US" sz="1800" baseline="-25000" dirty="0">
                <a:cs typeface="Times New Roman" panose="02020603050405020304" pitchFamily="18" charset="0"/>
              </a:rPr>
              <a:t>2 </a:t>
            </a:r>
            <a:r>
              <a:rPr lang="en-US" sz="1800" dirty="0">
                <a:cs typeface="Times New Roman" panose="02020603050405020304" pitchFamily="18" charset="0"/>
              </a:rPr>
              <a:t>= 2 </a:t>
            </a:r>
            <a:r>
              <a:rPr lang="en-US" sz="1800" dirty="0" err="1">
                <a:cs typeface="Times New Roman" panose="02020603050405020304" pitchFamily="18" charset="0"/>
              </a:rPr>
              <a:t>Erls</a:t>
            </a:r>
            <a:r>
              <a:rPr lang="en-US" sz="1800" dirty="0">
                <a:cs typeface="Times New Roman" panose="02020603050405020304" pitchFamily="18" charset="0"/>
              </a:rPr>
              <a:t>. If total Bandwidth supported by the network is 12kbps, then probability state will be with the condition:  0</a:t>
            </a:r>
            <a:r>
              <a:rPr lang="en-US" sz="1800" i="1" dirty="0">
                <a:cs typeface="Times New Roman" panose="02020603050405020304" pitchFamily="18" charset="0"/>
              </a:rPr>
              <a:t> </a:t>
            </a:r>
            <a:r>
              <a:rPr lang="en-US" sz="1800" i="1" dirty="0">
                <a:cs typeface="Times New Roman" panose="02020603050405020304" pitchFamily="18" charset="0"/>
                <a:sym typeface="Symbol" panose="05050102010706020507" pitchFamily="18" charset="2"/>
              </a:rPr>
              <a:t></a:t>
            </a:r>
            <a:r>
              <a:rPr lang="en-US" sz="1800" i="1" dirty="0">
                <a:cs typeface="Times New Roman" panose="02020603050405020304" pitchFamily="18" charset="0"/>
              </a:rPr>
              <a:t>  D</a:t>
            </a:r>
            <a:r>
              <a:rPr lang="en-US" sz="1800" baseline="-25000" dirty="0">
                <a:cs typeface="Times New Roman" panose="02020603050405020304" pitchFamily="18" charset="0"/>
              </a:rPr>
              <a:t>1</a:t>
            </a:r>
            <a:r>
              <a:rPr lang="en-US" sz="1800" i="1" dirty="0">
                <a:cs typeface="Times New Roman" panose="02020603050405020304" pitchFamily="18" charset="0"/>
              </a:rPr>
              <a:t>x</a:t>
            </a:r>
            <a:r>
              <a:rPr lang="en-US" sz="1800" baseline="-25000" dirty="0">
                <a:cs typeface="Times New Roman" panose="02020603050405020304" pitchFamily="18" charset="0"/>
              </a:rPr>
              <a:t>1</a:t>
            </a:r>
            <a:r>
              <a:rPr lang="en-US" sz="1800" i="1" dirty="0">
                <a:cs typeface="Times New Roman" panose="02020603050405020304" pitchFamily="18" charset="0"/>
              </a:rPr>
              <a:t>+D</a:t>
            </a:r>
            <a:r>
              <a:rPr lang="en-US" sz="1800" baseline="-25000" dirty="0">
                <a:cs typeface="Times New Roman" panose="02020603050405020304" pitchFamily="18" charset="0"/>
              </a:rPr>
              <a:t>2</a:t>
            </a:r>
            <a:r>
              <a:rPr lang="en-US" sz="1800" i="1" dirty="0">
                <a:cs typeface="Times New Roman" panose="02020603050405020304" pitchFamily="18" charset="0"/>
              </a:rPr>
              <a:t>x</a:t>
            </a:r>
            <a:r>
              <a:rPr lang="en-US" sz="1800" baseline="-25000" dirty="0">
                <a:cs typeface="Times New Roman" panose="02020603050405020304" pitchFamily="18" charset="0"/>
              </a:rPr>
              <a:t>2</a:t>
            </a:r>
            <a:r>
              <a:rPr lang="en-US" sz="1800" i="1" dirty="0">
                <a:cs typeface="Times New Roman" panose="02020603050405020304" pitchFamily="18" charset="0"/>
              </a:rPr>
              <a:t> </a:t>
            </a:r>
            <a:r>
              <a:rPr lang="en-US" sz="1800" i="1" dirty="0">
                <a:cs typeface="Times New Roman" panose="02020603050405020304" pitchFamily="18" charset="0"/>
                <a:sym typeface="Symbol" panose="05050102010706020507" pitchFamily="18" charset="2"/>
              </a:rPr>
              <a:t></a:t>
            </a:r>
            <a:r>
              <a:rPr lang="en-US" sz="1800" i="1" dirty="0">
                <a:cs typeface="Times New Roman" panose="02020603050405020304" pitchFamily="18" charset="0"/>
              </a:rPr>
              <a:t>  </a:t>
            </a:r>
            <a:r>
              <a:rPr lang="en-US" sz="1800" dirty="0">
                <a:cs typeface="Times New Roman" panose="02020603050405020304" pitchFamily="18" charset="0"/>
              </a:rPr>
              <a:t>9. Determine </a:t>
            </a:r>
            <a:r>
              <a:rPr lang="en-US" sz="1800" dirty="0" err="1">
                <a:cs typeface="Times New Roman" panose="02020603050405020304" pitchFamily="18" charset="0"/>
              </a:rPr>
              <a:t>QoS</a:t>
            </a:r>
            <a:r>
              <a:rPr lang="en-US" sz="1800" dirty="0">
                <a:cs typeface="Times New Roman" panose="02020603050405020304" pitchFamily="18" charset="0"/>
              </a:rPr>
              <a:t> of each traffic.</a:t>
            </a:r>
          </a:p>
          <a:p>
            <a:pPr lvl="0" algn="just"/>
            <a:endParaRPr lang="en-US" sz="1800" dirty="0">
              <a:cs typeface="Times New Roman" panose="02020603050405020304" pitchFamily="18" charset="0"/>
            </a:endParaRPr>
          </a:p>
          <a:p>
            <a:pPr algn="just"/>
            <a:r>
              <a:rPr lang="en-US" sz="1800" dirty="0">
                <a:cs typeface="Times New Roman" panose="02020603050405020304" pitchFamily="18" charset="0"/>
              </a:rPr>
              <a:t>2. A city has a population of  4×10</a:t>
            </a:r>
            <a:r>
              <a:rPr lang="en-US" sz="1800" baseline="30000" dirty="0">
                <a:cs typeface="Times New Roman" panose="02020603050405020304" pitchFamily="18" charset="0"/>
              </a:rPr>
              <a:t>6</a:t>
            </a:r>
            <a:r>
              <a:rPr lang="en-US" sz="1800" dirty="0">
                <a:cs typeface="Times New Roman" panose="02020603050405020304" pitchFamily="18" charset="0"/>
              </a:rPr>
              <a:t>. A mobile cellular service provider has 600 cells with 12 channels each to serve the people. On an average each user generates 1 call/hour with duration of 1.5 minutes. Determine market penetration of the service provider. Given the </a:t>
            </a:r>
            <a:r>
              <a:rPr lang="en-US" sz="1800" dirty="0" err="1">
                <a:cs typeface="Times New Roman" panose="02020603050405020304" pitchFamily="18" charset="0"/>
              </a:rPr>
              <a:t>GoS</a:t>
            </a:r>
            <a:r>
              <a:rPr lang="en-US" sz="1800" dirty="0">
                <a:cs typeface="Times New Roman" panose="02020603050405020304" pitchFamily="18" charset="0"/>
              </a:rPr>
              <a:t> (grade of service) of the network is 3%.</a:t>
            </a:r>
          </a:p>
        </p:txBody>
      </p:sp>
      <p:pic>
        <p:nvPicPr>
          <p:cNvPr id="5" name="Picture 4"/>
          <p:cNvPicPr/>
          <p:nvPr/>
        </p:nvPicPr>
        <p:blipFill>
          <a:blip r:embed="rId2"/>
          <a:srcRect/>
          <a:stretch>
            <a:fillRect/>
          </a:stretch>
        </p:blipFill>
        <p:spPr bwMode="auto">
          <a:xfrm>
            <a:off x="838200" y="2293576"/>
            <a:ext cx="7086600" cy="4335824"/>
          </a:xfrm>
          <a:prstGeom prst="rect">
            <a:avLst/>
          </a:prstGeom>
          <a:noFill/>
          <a:ln w="9525">
            <a:noFill/>
            <a:miter lim="800000"/>
            <a:headEnd/>
            <a:tailEnd/>
          </a:ln>
          <a:effectLst/>
        </p:spPr>
      </p:pic>
    </p:spTree>
    <p:extLst>
      <p:ext uri="{BB962C8B-B14F-4D97-AF65-F5344CB8AC3E}">
        <p14:creationId xmlns:p14="http://schemas.microsoft.com/office/powerpoint/2010/main" val="364168071"/>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2370</TotalTime>
  <Words>5983</Words>
  <Application>Microsoft Office PowerPoint</Application>
  <PresentationFormat>On-screen Show (4:3)</PresentationFormat>
  <Paragraphs>1058</Paragraphs>
  <Slides>92</Slides>
  <Notes>3</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2</vt:i4>
      </vt:variant>
      <vt:variant>
        <vt:lpstr>Slide Titles</vt:lpstr>
      </vt:variant>
      <vt:variant>
        <vt:i4>92</vt:i4>
      </vt:variant>
    </vt:vector>
  </HeadingPairs>
  <TitlesOfParts>
    <vt:vector size="105" baseType="lpstr">
      <vt:lpstr>宋体</vt:lpstr>
      <vt:lpstr>Arial</vt:lpstr>
      <vt:lpstr>Calibri</vt:lpstr>
      <vt:lpstr>Cambria Math</vt:lpstr>
      <vt:lpstr>MS Mincho</vt:lpstr>
      <vt:lpstr>PMingLiU</vt:lpstr>
      <vt:lpstr>PMingLiU</vt:lpstr>
      <vt:lpstr>Symbol</vt:lpstr>
      <vt:lpstr>Times New Roman</vt:lpstr>
      <vt:lpstr>Wingdings</vt:lpstr>
      <vt:lpstr>Default Design</vt:lpstr>
      <vt:lpstr>Equation</vt:lpstr>
      <vt:lpstr>Bitmap Image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CSMA/CD Operation</vt:lpstr>
      <vt:lpstr>PowerPoint Presentation</vt:lpstr>
      <vt:lpstr>The problem we mentioned here is called Hidden Terminal Problem</vt:lpstr>
      <vt:lpstr>PowerPoint Presentation</vt:lpstr>
      <vt:lpstr>Handoff Region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IEEE 802 Activities</vt:lpstr>
      <vt:lpstr>IEEE 802 Activities</vt:lpstr>
      <vt:lpstr>PowerPoint Presentation</vt:lpstr>
      <vt:lpstr>PowerPoint Presentation</vt:lpstr>
      <vt:lpstr>PowerPoint Presentation</vt:lpstr>
      <vt:lpstr>PowerPoint Presentation</vt:lpstr>
      <vt:lpstr>PowerPoint Presentation</vt:lpstr>
      <vt:lpstr>The 802.11 Protocol Stack</vt:lpstr>
      <vt:lpstr>IEEE 802 v OSI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CT-1 16/2/2018</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ASUS</cp:lastModifiedBy>
  <cp:revision>495</cp:revision>
  <dcterms:created xsi:type="dcterms:W3CDTF">1601-01-01T00:00:00Z</dcterms:created>
  <dcterms:modified xsi:type="dcterms:W3CDTF">2021-02-14T09:18:24Z</dcterms:modified>
</cp:coreProperties>
</file>